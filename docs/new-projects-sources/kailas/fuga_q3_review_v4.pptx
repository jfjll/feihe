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3"/>
    <p:sldId id="260" r:id="rId4"/>
    <p:sldId id="292" r:id="rId5"/>
    <p:sldId id="257" r:id="rId6"/>
    <p:sldId id="259" r:id="rId7"/>
    <p:sldId id="258" r:id="rId8"/>
    <p:sldId id="263" r:id="rId9"/>
    <p:sldId id="264" r:id="rId10"/>
    <p:sldId id="284" r:id="rId12"/>
    <p:sldId id="267" r:id="rId13"/>
    <p:sldId id="268" r:id="rId14"/>
    <p:sldId id="280" r:id="rId15"/>
    <p:sldId id="269" r:id="rId16"/>
    <p:sldId id="271" r:id="rId17"/>
    <p:sldId id="272" r:id="rId18"/>
    <p:sldId id="273" r:id="rId19"/>
    <p:sldId id="302" r:id="rId20"/>
    <p:sldId id="303" r:id="rId21"/>
    <p:sldId id="304" r:id="rId22"/>
    <p:sldId id="305" r:id="rId23"/>
    <p:sldId id="306" r:id="rId2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0" userDrawn="1">
          <p15:clr>
            <a:srgbClr val="A4A3A4"/>
          </p15:clr>
        </p15:guide>
        <p15:guide id="2" pos="2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b04996" initials="b" lastIdx="0" clrIdx="0"/>
  <p:cmAuthor id="2" name="锡 米" initials="锡米" lastIdx="0" clrIdx="1"/>
  <p:cmAuthor id="3" name="于会东(运营管理部)" initials="于会东(运营管理部)" lastIdx="0" clrIdx="2"/>
  <p:cmAuthor id="4" name="Mia Vida Villanueva" initials="MVV" lastIdx="0" clrIdx="3"/>
  <p:cmAuthor id="5" name="宋院林_FnuiMvqa" initials="authorId_6442" lastIdx="0" clrIdx="4"/>
  <p:cmAuthor id="6" name="欧阳兰" initials="欧" lastIdx="0" clrIdx="5"/>
  <p:cmAuthor id="7" name="陈伟_aQvqYNre" initials="authorId_93" lastIdx="0" clrIdx="6"/>
  <p:cmAuthor id="8" name="86132" initials="8" lastIdx="0" clrIdx="7"/>
  <p:cmAuthor id="9" name="C园园" initials="C" lastIdx="0" clrIdx="8"/>
  <p:cmAuthor id="10" name="Author" initials="A" lastIdx="0" clrIdx="9"/>
  <p:cmAuthor id="11" name="徐天阔" initials="徐" lastIdx="0" clrIdx="10"/>
  <p:cmAuthor id="12" name="Administrator" initials="A" lastIdx="0" clrIdx="11"/>
  <p:cmAuthor id="13" name="小延魔法师" initials="小" lastIdx="0" clrIdx="12"/>
  <p:cmAuthor id="14" name="宋洁然" initials="宋" lastIdx="0" clrIdx="13"/>
  <p:cmAuthor id="15" name="刘沅伸" initials="刘" lastIdx="0" clrIdx="14"/>
  <p:cmAuthor id="16" name="liu andy" initials="la" lastIdx="0" clrIdx="15"/>
  <p:cmAuthor id="17" name="~~~" initials="~" lastIdx="0" clrIdx="16"/>
  <p:cmAuthor id="18" name="ming qiu" initials="m" lastIdx="0" clrIdx="17"/>
  <p:cmAuthor id="19" name="Tenten" initials="T" lastIdx="0" clrIdx="18"/>
  <p:cmAuthor id="20" name="PC" initials="P" lastIdx="0" clrIdx="19"/>
  <p:cmAuthor id="21" name="。" initials="。" lastIdx="0" clrIdx="20"/>
  <p:cmAuthor id="22" name="1206988966@qq.com" initials="1" lastIdx="0" clrIdx="21"/>
  <p:cmAuthor id="23" name="曾蓓/贝贝" initials="曾" lastIdx="0" clrIdx="22"/>
  <p:cmAuthor id="24" name="姜伟光" initials="姜" lastIdx="0" clrIdx="23"/>
  <p:cmAuthor id="25" name="." initials="." lastIdx="0" clrIdx="24"/>
  <p:cmAuthor id="26" name="1005" initials="1" lastIdx="0" clrIdx="25"/>
  <p:cmAuthor id="27" name="陈微_7NRv7Z3M" initials="authorId_1900200297" lastIdx="0" clrIdx="26"/>
  <p:cmAuthor id="28" name="liliangx" initials="l" lastIdx="0" clrIdx="27"/>
  <p:cmAuthor id="29" name="万人敬仰，举世无双" initials="万" lastIdx="0" clrIdx="28"/>
  <p:cmAuthor id="30" name="admin" initials="a" lastIdx="0" clrIdx="29"/>
  <p:cmAuthor id="31" name="张建飞" initials="张" lastIdx="0" clrIdx="30"/>
  <p:cmAuthor id="32" name="xiaji" initials="x" lastIdx="0" clrIdx="31"/>
  <p:cmAuthor id="33" name="王晓燕" initials="王" lastIdx="0" clrIdx="32"/>
  <p:cmAuthor id="34" name="董耀辉" initials="董" lastIdx="0" clrIdx="33"/>
  <p:cmAuthor id="35" name="zhouhuimin001@outlook.com" initials="z" lastIdx="0" clrIdx="34"/>
  <p:cmAuthor id="36" name="lyla xie" initials="LX" lastIdx="0" clrIdx="35"/>
  <p:cmAuthor id="37" name="cellhill@office365.ws" initials="c" lastIdx="0" clrIdx="36"/>
  <p:cmAuthor id="38" name="walker lazy" initials="wl" lastIdx="0" clrIdx="37"/>
  <p:cmAuthor id="39" name="宋 坤" initials="宋" lastIdx="0" clrIdx="38"/>
  <p:cmAuthor id="40" name="周明" initials="周" lastIdx="0" clrIdx="39"/>
  <p:cmAuthor id="41" name="唐佩瑶" initials="唐" lastIdx="0" clrIdx="40"/>
  <p:cmAuthor id="42" name="未知用户3" initials="未知用户3" lastIdx="0" clrIdx="41"/>
  <p:cmAuthor id="43" name="王鹏" initials="王" lastIdx="0" clrIdx="42"/>
  <p:cmAuthor id="44" name="未知用户4" initials="未知用户4" lastIdx="0" clrIdx="43"/>
  <p:cmAuthor id="45" name="刘琳_Q73mJnIf" initials="authorId_605772061" lastIdx="0" clrIdx="44"/>
  <p:cmAuthor id="46" name="未知用户5" initials="未知用户5" lastIdx="0" clrIdx="45"/>
  <p:cmAuthor id="47" name="纪晓玲(财务管理部)" initials="MSOffice" lastIdx="0" clrIdx="46"/>
  <p:cmAuthor id="48" name="未知用户6" initials="未知用户6" lastIdx="0" clrIdx="47"/>
  <p:cmAuthor id="49" name="姚琳" initials="姚" lastIdx="0" clrIdx="48"/>
  <p:cmAuthor id="50" name="未知用户7" initials="未知用户7" lastIdx="0" clrIdx="49"/>
  <p:cmAuthor id="51" name="吴 发强" initials="吴" lastIdx="0" clrIdx="50"/>
  <p:cmAuthor id="52" name="1073389736@qq.com" initials="1" lastIdx="0" clrIdx="51"/>
  <p:cmAuthor id="53" name="黄晓平" initials="黄" lastIdx="0" clrIdx="52"/>
  <p:cmAuthor id="54" name="Yaguang Ma" initials="Y" lastIdx="0" clrIdx="53"/>
  <p:cmAuthor id="55" name="蔡江林" initials="蔡" lastIdx="0" clrIdx="54"/>
  <p:cmAuthor id="56" name="元鹏 王" initials="元" lastIdx="0" clrIdx="55"/>
  <p:cmAuthor id="57" name="用户652746980136" initials="用" lastIdx="0" clrIdx="56"/>
  <p:cmAuthor id="58" name="孙三山" initials="孙" lastIdx="0" clrIdx="57"/>
  <p:cmAuthor id="59" name="张培培" initials="张" lastIdx="0" clrIdx="58"/>
  <p:cmAuthor id="60" name="ts" initials="t" lastIdx="0" clrIdx="59"/>
  <p:cmAuthor id="61" name="王景红" initials="王" lastIdx="0" clrIdx="60"/>
  <p:cmAuthor id="62" name="赵成文" initials="赵" lastIdx="0" clrIdx="61"/>
  <p:cmAuthor id="63" name="fang." initials="f" lastIdx="0" clrIdx="62"/>
  <p:cmAuthor id="64" name="未知用户13" initials="未" lastIdx="0" clrIdx="63"/>
  <p:cmAuthor id="65" name="4S" initials="" lastIdx="0" clrIdx="64"/>
  <p:cmAuthor id="66" name="Han Jiang" initials="H" lastIdx="0" clrIdx="65"/>
  <p:cmAuthor id="67" name="岳扬" initials="岳扬" lastIdx="0" clrIdx="66"/>
  <p:cmAuthor id="68" name="xmy" initials="x" lastIdx="0" clrIdx="67"/>
  <p:cmAuthor id="69" name="0122617" initials="0" lastIdx="0" clrIdx="68"/>
  <p:cmAuthor id="70" name="wum20" initials="w" lastIdx="0" clrIdx="69"/>
  <p:cmAuthor id="71" name="亚奇 景" initials="亚景" lastIdx="0" clrIdx="70"/>
  <p:cmAuthor id="72" name="Guangxu Piao" initials="G" lastIdx="0" clrIdx="71"/>
  <p:cmAuthor id="73" name="gormanlee" initials="g" lastIdx="0" clrIdx="72"/>
  <p:cmAuthor id="74" name="武敏" initials="武" lastIdx="0" clrIdx="73"/>
  <p:cmAuthor id="75" name="82606" initials="8" lastIdx="0" clrIdx="74"/>
  <p:cmAuthor id="76" name="ZYSR-XY" initials="Z" lastIdx="0" clrIdx="75"/>
  <p:cmAuthor id="77" name="suyingying" initials="s" lastIdx="0" clrIdx="76"/>
  <p:cmAuthor id="78" name="刘颖" initials="刘" lastIdx="0" clrIdx="77"/>
  <p:cmAuthor id="79" name="MGL" initials="M" lastIdx="0" clrIdx="78"/>
  <p:cmAuthor id="80" name="Chen, Naikang A." initials="C" lastIdx="0" clrIdx="79"/>
  <p:cmAuthor id="81" name="帆 张" initials="帆张" lastIdx="0" clrIdx="80"/>
  <p:cmAuthor id="82" name="song song" initials="s" lastIdx="0" clrIdx="81"/>
  <p:cmAuthor id="83" name="密 李" initials="密" lastIdx="0" clrIdx="82"/>
  <p:cmAuthor id="84" name="曾阿婷" initials="曾" lastIdx="0" clrIdx="83"/>
  <p:cmAuthor id="85" name="毛香勤" initials="毛" lastIdx="0" clrIdx="84"/>
  <p:cmAuthor id="86" name="yubaoquan" initials="y" lastIdx="0" clrIdx="85"/>
  <p:cmAuthor id="87" name="THINKPAD" initials="T" lastIdx="0" clrIdx="86"/>
  <p:cmAuthor id="88" name="ting yue" initials="t" lastIdx="0" clrIdx="87"/>
  <p:cmAuthor id="89" name="涂 薇" initials="涂" lastIdx="0" clrIdx="88"/>
  <p:cmAuthor id="90" name="david bin" initials="d" lastIdx="0" clrIdx="89"/>
  <p:cmAuthor id="91" name="jgj" initials="j" lastIdx="0" clrIdx="90"/>
  <p:cmAuthor id="92" name="MLOONG" initials="M" lastIdx="0" clrIdx="91"/>
  <p:cmAuthor id="93" name="Sky123.Org" initials="S" lastIdx="0" clrIdx="92"/>
  <p:cmAuthor id="94" name="於宝泉" initials="於" lastIdx="0" clrIdx="93"/>
  <p:cmAuthor id="95" name="侯雪飞" initials="侯" lastIdx="0" clrIdx="94"/>
  <p:cmAuthor id="96" name=" " initials=" " lastIdx="0" clrIdx="95"/>
  <p:cmAuthor id="97" name="李杰" initials="李杰" lastIdx="0" clrIdx="96"/>
  <p:cmAuthor id="98" name="Liu Dong" initials="L" lastIdx="0" clrIdx="97"/>
  <p:cmAuthor id="99" name="十尧" initials="十" lastIdx="0" clrIdx="98"/>
  <p:cmAuthor id="100" name="Zhao Jing" initials="Z" lastIdx="0" clrIdx="99"/>
  <p:cmAuthor id="101" name="王雅婧" initials="authorId_459570611" lastIdx="0" clrIdx="100"/>
  <p:cmAuthor id="102" name="YANQING BAO" initials="Y" lastIdx="0" clrIdx="101"/>
  <p:cmAuthor id="103" name="Respite" initials="R" lastIdx="0" clrIdx="102"/>
  <p:cmAuthor id="104" name="Roet-Reinking, Nathalie" initials="R" lastIdx="0" clrIdx="103"/>
  <p:cmAuthor id="105" name="5243" initials="5" lastIdx="0" clrIdx="104"/>
  <p:cmAuthor id="106" name="张金龙" initials="张" lastIdx="0" clrIdx="105"/>
  <p:cmAuthor id="107" name="CHEN, Megan" initials="CM" lastIdx="0" clrIdx="106"/>
  <p:cmAuthor id="108" name="祝惠蓉" initials="祝" lastIdx="0" clrIdx="107"/>
  <p:cmAuthor id="109" name="Didi ZHAI" initials="DZ" lastIdx="0" clrIdx="108"/>
  <p:cmAuthor id="110" name="李霞" initials="李" lastIdx="0" clrIdx="109"/>
  <p:cmAuthor id="111" name="wu liyuan" initials="lw" lastIdx="0" clrIdx="110"/>
  <p:cmAuthor id="112" name="宋琛哲" initials="宋" lastIdx="0" clrIdx="111"/>
  <p:cmAuthor id="113" name="腾诚 金" initials="腾" lastIdx="0" clrIdx="112"/>
  <p:cmAuthor id="114" name="韩瑞颖" initials="r" lastIdx="0" clrIdx="113"/>
  <p:cmAuthor id="115" name="妙可蓝多郑素平" initials="妙" lastIdx="0" clrIdx="114"/>
  <p:cmAuthor id="116" name="刘天玉" initials="刘" lastIdx="0" clrIdx="115"/>
  <p:cmAuthor id="117" name="朋 王" initials="朋" lastIdx="0" clrIdx="116"/>
  <p:cmAuthor id="118" name="杨志宇" initials="王" lastIdx="0" clrIdx="117"/>
  <p:cmAuthor id="119" name="Mingxuan Han" initials="MH" lastIdx="0" clrIdx="118"/>
  <p:cmAuthor id="120" name="ghs" initials="g" lastIdx="0" clrIdx="119"/>
  <p:cmAuthor id="121" name="张茹(营销财务部)" initials="张茹(营销财务部)" lastIdx="0" clrIdx="120"/>
  <p:cmAuthor id="122" name="赵兰玉" initials="赵" lastIdx="0" clrIdx="121"/>
  <p:cmAuthor id="123" name="刘佳_ZZZnNZB7" initials="authorId_55422048" lastIdx="0" clrIdx="122"/>
  <p:cmAuthor id="124" name="Ma Rachel" initials="MR" lastIdx="0" clrIdx="123"/>
  <p:cmAuthor id="125" name="xuepengyu" initials="x" lastIdx="0" clrIdx="124"/>
  <p:cmAuthor id="126" name="Shi Xiao" initials="S" lastIdx="0" clrIdx="125"/>
  <p:cmAuthor id="127" name="kk" initials="k" lastIdx="0" clrIdx="126"/>
  <p:cmAuthor id="128" name="Huang, Xiaoxu X" initials="HXX" lastIdx="0" clrIdx="127"/>
  <p:cmAuthor id="129" name="康慧玲(产品研发三部)" initials="康慧玲(产品研发三部)" lastIdx="0" clrIdx="128"/>
  <p:cmAuthor id="130" name="WPS" initials="W" lastIdx="0" clrIdx="129"/>
  <p:cmAuthor id="131" name="Zhao, Vicky (SHN-UMW)" initials="ZV(" lastIdx="0" clrIdx="130"/>
  <p:cmAuthor id="132" name="Mo, Jackin J" initials="MJJ" lastIdx="0" clrIdx="131"/>
  <p:cmAuthor id="133" name="铉琳" initials="铉琳" lastIdx="0" clrIdx="132"/>
  <p:cmAuthor id="134" name="zhangshuangyong" initials="z" lastIdx="0" clrIdx="133"/>
  <p:cmAuthor id="135" name="澄珵 江" initials="澄珵" lastIdx="0" clrIdx="134"/>
  <p:cmAuthor id="136" name="王习习" initials="王" lastIdx="0" clrIdx="135"/>
  <p:cmAuthor id="137" name="yu q" initials="yq" lastIdx="0" clrIdx="136"/>
  <p:cmAuthor id="138" name="丹 滕" initials="丹滕" lastIdx="0" clrIdx="137"/>
  <p:cmAuthor id="139" name="洁 杨" initials="洁" lastIdx="0" clrIdx="138"/>
  <p:cmAuthor id="140" name="作者" initials="A" lastIdx="0" clrIdx="139"/>
  <p:cmAuthor id="141" name="天震 陆" initials="天陆" lastIdx="0" clrIdx="140"/>
  <p:cmAuthor id="142" name="pc" initials="p" lastIdx="0" clrIdx="141"/>
  <p:cmAuthor id="143" name="宋志强" initials="宋志强" lastIdx="0" clrIdx="142"/>
  <p:cmAuthor id="144" name="PPTer_Tang" initials="P" lastIdx="0" clrIdx="143"/>
  <p:cmAuthor id="145" name="萧然" initials="萧" lastIdx="0" clrIdx="144"/>
  <p:cmAuthor id="146" name="senluo" initials="s" lastIdx="0" clrIdx="145"/>
  <p:cmAuthor id="147" name="Hower JI" initials="HJ" lastIdx="0" clrIdx="146"/>
  <p:cmAuthor id="148" name="ZHU Lydia" initials="Z" lastIdx="0" clrIdx="147"/>
  <p:cmAuthor id="149" name="赵晨阳(品牌管理部)" initials="赵晨阳(品牌管理部)" lastIdx="0" clrIdx="148"/>
  <p:cmAuthor id="150" name="明明" initials="明明" lastIdx="0" clrIdx="149"/>
  <p:cmAuthor id="151" name="qiangyuemei" initials="q" lastIdx="0" clrIdx="150"/>
  <p:cmAuthor id="152" name="raoqingyi" initials="r" lastIdx="0" clrIdx="151"/>
  <p:cmAuthor id="153" name="Echo" initials="E" lastIdx="0" clrIdx="152"/>
  <p:cmAuthor id="154" name="刘 爽" initials="刘" lastIdx="0" clrIdx="153"/>
  <p:cmAuthor id="155" name="Zhang Lian" initials="ZL" lastIdx="0" clrIdx="154"/>
  <p:cmAuthor id="156" name="hasee" initials="h" lastIdx="0" clrIdx="155"/>
  <p:cmAuthor id="157" name="郭佳欣(花色奶品牌部)" initials="郭佳欣(花色奶品牌部)" lastIdx="0" clrIdx="156"/>
  <p:cmAuthor id="158" name="ZC-001" initials="Z" lastIdx="0" clrIdx="157"/>
  <p:cmAuthor id="159" name="张晨升" initials="张晨升" lastIdx="0" clrIdx="158"/>
  <p:cmAuthor id="160" name="志龙 姜" initials="志" lastIdx="0" clrIdx="159"/>
  <p:cmAuthor id="161" name="高建祥" initials="高建祥" lastIdx="0" clrIdx="160"/>
  <p:cmAuthor id="162" name="Lenovo" initials="L" lastIdx="0" clrIdx="161"/>
  <p:cmAuthor id="163" name="周晓琛" initials="周晓琛" lastIdx="0" clrIdx="162"/>
  <p:cmAuthor id="164" name="lenovo0" initials="l" lastIdx="0" clrIdx="163"/>
  <p:cmAuthor id="165" name="姜帆(产品研发中心)" initials="姜帆(产品研发中心)" lastIdx="0" clrIdx="164"/>
  <p:cmAuthor id="166" name="1" initials="1" lastIdx="0" clrIdx="165"/>
  <p:cmAuthor id="167" name="汪会萍" initials="汪会萍" lastIdx="0" clrIdx="166"/>
  <p:cmAuthor id="168" name="Ai Di" initials="AD" lastIdx="0" clrIdx="167"/>
  <p:cmAuthor id="169" name="刘佳(营销财务部)" initials="刘佳(营销财务部)" lastIdx="0" clrIdx="168"/>
  <p:cmAuthor id="170" name="未知用户141" initials="未" lastIdx="0" clrIdx="169"/>
  <p:cmAuthor id="171" name="i2mago" initials="i" lastIdx="0" clrIdx="170"/>
  <p:cmAuthor id="172" name="徐杰" initials="徐" lastIdx="0" clrIdx="171"/>
  <p:cmAuthor id="173" name="dongwc0205" initials="d" lastIdx="0" clrIdx="172"/>
  <p:cmAuthor id="174" name="微软用户" initials="微" lastIdx="0" clrIdx="173"/>
  <p:cmAuthor id="175" name="hp" initials="h" lastIdx="0" clrIdx="174"/>
  <p:cmAuthor id="176" name="Hi_ Young" initials="H" lastIdx="0" clrIdx="175"/>
  <p:cmAuthor id="177" name="王明明" initials="王" lastIdx="0" clrIdx="176"/>
  <p:cmAuthor id="178" name="zhenwb" initials="z" lastIdx="0" clrIdx="177"/>
  <p:cmAuthor id="179" name="小玉" initials="小" lastIdx="0" clrIdx="178"/>
  <p:cmAuthor id="180" name="Katie Bieshaar" initials="" lastIdx="0" clrIdx="179"/>
  <p:cmAuthor id="181" name="Microsoft Office 用户" initials="M" lastIdx="0" clrIdx="180"/>
  <p:cmAuthor id="182" name="王向羽" initials="王" lastIdx="0" clrIdx="181"/>
  <p:cmAuthor id="183" name="未知用户144" initials="未" lastIdx="0" clrIdx="182"/>
  <p:cmAuthor id="184" name="孙火火" initials="孙" lastIdx="0" clrIdx="183"/>
  <p:cmAuthor id="185" name="WHTP" initials="W" lastIdx="0" clrIdx="184"/>
  <p:cmAuthor id="186" name="00" initials="0" lastIdx="0" clrIdx="185"/>
  <p:cmAuthor id="187" name="86134" initials="8" lastIdx="0" clrIdx="186"/>
  <p:cmAuthor id="188" name="安贝贝" initials="安" lastIdx="0" clrIdx="187"/>
  <p:cmAuthor id="189" name="lenovo" initials="l" lastIdx="0" clrIdx="188"/>
  <p:cmAuthor id="190" name="w" initials="w" lastIdx="0" clrIdx="189"/>
  <p:cmAuthor id="191" name="张 莉莉" initials="张" lastIdx="0" clrIdx="190"/>
  <p:cmAuthor id="192" name="妙子" initials="妙子" lastIdx="0" clrIdx="191"/>
  <p:cmAuthor id="193" name="ADMIN" initials="A" lastIdx="0" clrIdx="192"/>
  <p:cmAuthor id="194" name="余潇迎" initials="余" lastIdx="0" clrIdx="193"/>
  <p:cmAuthor id="195" name="wangzhiqi" initials="w" lastIdx="0" clrIdx="194"/>
  <p:cmAuthor id="196" name="EDZ" initials="E" lastIdx="0" clrIdx="195"/>
  <p:cmAuthor id="197" name="陈 橙橙" initials="陈" lastIdx="0" clrIdx="196"/>
  <p:cmAuthor id="198" name="viola_yang" initials="v" lastIdx="0" clrIdx="197"/>
  <p:cmAuthor id="199" name="14572" initials="1" lastIdx="0" clrIdx="198"/>
  <p:cmAuthor id="200" name="Ying Li" initials="Y" lastIdx="0" clrIdx="199"/>
  <p:cmAuthor id="201" name="Gao Fengxin" initials="GF" lastIdx="0" clrIdx="200"/>
  <p:cmAuthor id="202" name="FrogPrince1121" initials="F" lastIdx="0" clrIdx="201"/>
  <p:cmAuthor id="203" name="高 凤新" initials="高" lastIdx="0" clrIdx="202"/>
  <p:cmAuthor id="204" name="未知用户12" initials="未" lastIdx="0" clrIdx="203"/>
  <p:cmAuthor id="205" name="m1592" initials="m" lastIdx="0" clrIdx="204"/>
  <p:cmAuthor id="206" name="jiansheng li" initials="j" lastIdx="0" clrIdx="205"/>
  <p:cmAuthor id="207" name="党 臻" initials="党" lastIdx="0" clrIdx="206"/>
  <p:cmAuthor id="208" name="李增增" initials="李" lastIdx="0" clrIdx="207"/>
  <p:cmAuthor id="209" name="刘风香" initials="刘" lastIdx="0" clrIdx="208"/>
  <p:cmAuthor id="210" name="video" initials="v" lastIdx="0" clrIdx="209"/>
  <p:cmAuthor id="211" name="朱雪松" initials="朱" lastIdx="0" clrIdx="210"/>
  <p:cmAuthor id="212" name="郭禹希" initials="郭" lastIdx="0" clrIdx="211"/>
  <p:cmAuthor id="213" name="YZB" initials="Y" lastIdx="0" clrIdx="212"/>
  <p:cmAuthor id="214" name="yiwei zhu" initials="y" lastIdx="0" clrIdx="213"/>
  <p:cmAuthor id="215" name="吕震" initials="吕" lastIdx="0" clrIdx="214"/>
  <p:cmAuthor id="216" name="吴岩" initials="吴" lastIdx="0" clrIdx="215"/>
  <p:cmAuthor id="217" name="宋昆" initials="宋" lastIdx="0" clrIdx="216"/>
  <p:cmAuthor id="218" name="xiong" initials="x" lastIdx="0" clrIdx="217"/>
  <p:cmAuthor id="219" name="Liu, Leo (MBSHR cs)" initials="L" lastIdx="0" clrIdx="218"/>
  <p:cmAuthor id="220" name="Sandra" initials="S" lastIdx="0" clrIdx="219"/>
  <p:cmAuthor id="221" name="未知用户23" initials="未" lastIdx="0" clrIdx="220"/>
  <p:cmAuthor id="222" name="未知用户24" initials="未" lastIdx="0" clrIdx="221"/>
  <p:cmAuthor id="223" name="陈蕾" initials="陈" lastIdx="0" clrIdx="222"/>
  <p:cmAuthor id="224" name="吕志勇" initials="吕" lastIdx="0" clrIdx="223"/>
  <p:cmAuthor id="225" name="China" initials="C" lastIdx="0" clrIdx="224"/>
  <p:cmAuthor id="226" name="dell" initials="d" lastIdx="0" clrIdx="225"/>
  <p:cmAuthor id="227" name="丁芙蓉" initials="丁" lastIdx="0" clrIdx="226"/>
  <p:cmAuthor id="228" name="邹积逊" initials="邹" lastIdx="0" clrIdx="227"/>
  <p:cmAuthor id="229" name="杜娇龙" initials="杜" lastIdx="0" clrIdx="228"/>
  <p:cmAuthor id="230" name="黄 博鸿" initials="黄" lastIdx="0" clrIdx="229"/>
  <p:cmAuthor id="231" name="yangyanxia" initials="y" lastIdx="0" clrIdx="230"/>
  <p:cmAuthor id="232" name="刘春辉" initials="刘" lastIdx="0" clrIdx="231"/>
  <p:cmAuthor id="233" name="Bonan Qi" initials="B" lastIdx="0" clrIdx="232"/>
  <p:cmAuthor id="234" name="yaoxiaojun" initials="y" lastIdx="0" clrIdx="233"/>
  <p:cmAuthor id="235" name="仝德志" initials="仝" lastIdx="0" clrIdx="234"/>
  <p:cmAuthor id="236" name="wangcz2" initials="w" lastIdx="0" clrIdx="235"/>
  <p:cmAuthor id="237" name="tianan" initials="t" lastIdx="0" clrIdx="236"/>
  <p:cmAuthor id="238" name="Microsoft" initials="M" lastIdx="0" clrIdx="237"/>
  <p:cmAuthor id="239" name="吴军" initials="吴" lastIdx="0" clrIdx="238"/>
  <p:cmAuthor id="240" name="dingbo" initials="d" lastIdx="0" clrIdx="239"/>
  <p:cmAuthor id="241" name="李永欣" initials="李" lastIdx="0" clrIdx="240"/>
  <p:cmAuthor id="242" name="番茄花园" initials="番" lastIdx="0" clrIdx="241"/>
  <p:cmAuthor id="243" name="evil" initials="e" lastIdx="0" clrIdx="242"/>
  <p:cmAuthor id="244" name="许弘扬" initials="许" lastIdx="0" clrIdx="243"/>
  <p:cmAuthor id="245" name="赵琦" initials="赵" lastIdx="0" clrIdx="244"/>
  <p:cmAuthor id="246" name="未知用户8" initials="未" lastIdx="0" clrIdx="245"/>
  <p:cmAuthor id="247" name="未知用户9" initials="未" lastIdx="0" clrIdx="246"/>
  <p:cmAuthor id="248" name="USER" initials="U" lastIdx="0" clrIdx="247"/>
  <p:cmAuthor id="249" name="未知用户17" initials="未" lastIdx="0" clrIdx="248"/>
  <p:cmAuthor id="250" name="未知用户18" initials="未" lastIdx="0" clrIdx="249"/>
  <p:cmAuthor id="251" name="未知用户20" initials="未" lastIdx="0" clrIdx="250"/>
  <p:cmAuthor id="252" name="未知用户19" initials="未" lastIdx="0" clrIdx="251"/>
  <p:cmAuthor id="253" name="未知用户21" initials="未" lastIdx="0" clrIdx="252"/>
  <p:cmAuthor id="254" name="未知用户14" initials="未" lastIdx="0" clrIdx="253"/>
  <p:cmAuthor id="255" name="未知用户15" initials="未" lastIdx="0" clrIdx="254"/>
  <p:cmAuthor id="256" name="未知用户16" initials="未" lastIdx="0" clrIdx="255"/>
  <p:cmAuthor id="257" name="郝崇" initials="郝" lastIdx="0" clrIdx="256"/>
  <p:cmAuthor id="258" name="吴杰" initials="吴" lastIdx="0" clrIdx="257"/>
  <p:cmAuthor id="259" name="刘丽仙" initials="刘" lastIdx="0" clrIdx="258"/>
  <p:cmAuthor id="260" name="陶川" initials="陶" lastIdx="0" clrIdx="259"/>
  <p:cmAuthor id="261" name="lijin" initials="l" lastIdx="0" clrIdx="260"/>
  <p:cmAuthor id="262" name="gtmc" initials="g" lastIdx="0" clrIdx="261"/>
  <p:cmAuthor id="263" name="chunsong_hu" initials="c" lastIdx="0" clrIdx="262"/>
  <p:cmAuthor id="264" name="马静" initials="马" lastIdx="0" clrIdx="263"/>
  <p:cmAuthor id="265" name="卢 米薇" initials="卢" lastIdx="0" clrIdx="264"/>
  <p:cmAuthor id="266" name="未知用户25" initials="未" lastIdx="0" clrIdx="265"/>
  <p:cmAuthor id="267" name="未知用户26" initials="未" lastIdx="0" clrIdx="266"/>
  <p:cmAuthor id="268" name="未知用户27" initials="未" lastIdx="0" clrIdx="267"/>
  <p:cmAuthor id="269" name="未知用户28" initials="未" lastIdx="0" clrIdx="268"/>
  <p:cmAuthor id="270" name="未知用户29" initials="未" lastIdx="0" clrIdx="269"/>
  <p:cmAuthor id="271" name="未知用户30" initials="未" lastIdx="0" clrIdx="270"/>
  <p:cmAuthor id="272" name="yangkun" initials="y" lastIdx="0" clrIdx="271"/>
  <p:cmAuthor id="273" name="Lenovo User" initials="L" lastIdx="0" clrIdx="272"/>
  <p:cmAuthor id="274" name="hys2" initials="h" lastIdx="0" clrIdx="273"/>
  <p:cmAuthor id="275" name="朱绍春" initials="朱" lastIdx="0" clrIdx="274"/>
  <p:cmAuthor id="276" name="邹洋" initials="邹" lastIdx="0" clrIdx="275"/>
  <p:cmAuthor id="277" name="孟祥超" initials="孟" lastIdx="0" clrIdx="276"/>
  <p:cmAuthor id="278" name="贡鑫" initials="贡" lastIdx="0" clrIdx="277"/>
  <p:cmAuthor id="279" name="administrator1" initials="a" lastIdx="0" clrIdx="278"/>
  <p:cmAuthor id="280" name="杜雪梅" initials="杜" lastIdx="0" clrIdx="279"/>
  <p:cmAuthor id="281" name="包珊珊" initials="包" lastIdx="0" clrIdx="280"/>
  <p:cmAuthor id="282" name="叶滔" initials="叶" lastIdx="0" clrIdx="281"/>
  <p:cmAuthor id="283" name="LEO L" initials="L" lastIdx="0" clrIdx="282"/>
  <p:cmAuthor id="284" name="朱悦龙" initials="朱" lastIdx="0" clrIdx="283"/>
  <p:cmAuthor id="285" name="吴铁映" initials="吴" lastIdx="0" clrIdx="284"/>
  <p:cmAuthor id="286" name="poppy" initials="p" lastIdx="0" clrIdx="285"/>
  <p:cmAuthor id="287" name="Yuan Yuan" initials="Y" lastIdx="0" clrIdx="286"/>
  <p:cmAuthor id="288" name="ZQ" initials="Z" lastIdx="0" clrIdx="287"/>
  <p:cmAuthor id="289" name="HYZL05" initials="H" lastIdx="0" clrIdx="288"/>
  <p:cmAuthor id="290" name="陈尚文" initials="陈" lastIdx="0" clrIdx="289"/>
  <p:cmAuthor id="291" name="张宏伟" initials="张" lastIdx="0" clrIdx="290"/>
  <p:cmAuthor id="292" name="Yuan Hu" initials="Y" lastIdx="0" clrIdx="291"/>
  <p:cmAuthor id="293" name="张静" initials="张" lastIdx="0" clrIdx="292"/>
  <p:cmAuthor id="294" name="王志刚" initials="王" lastIdx="0" clrIdx="293"/>
  <p:cmAuthor id="295" name="李威" initials="李" lastIdx="0" clrIdx="294"/>
  <p:cmAuthor id="296" name="吕冰鑫" initials="吕" lastIdx="0" clrIdx="295"/>
  <p:cmAuthor id="297" name="马海燕" initials="马" lastIdx="0" clrIdx="296"/>
  <p:cmAuthor id="298" name="张艳芳" initials="张" lastIdx="0" clrIdx="297"/>
  <p:cmAuthor id="299" name="刘广艳" initials="刘" lastIdx="0" clrIdx="298"/>
  <p:cmAuthor id="300" name="杨静" initials="杨" lastIdx="0" clrIdx="299"/>
  <p:cmAuthor id="301" name="User" initials="U" lastIdx="0" clrIdx="300"/>
  <p:cmAuthor id="302" name="毕军(0212009)" initials="毕" lastIdx="0" clrIdx="301"/>
  <p:cmAuthor id="303" name="dadi" initials="d" lastIdx="0" clrIdx="302"/>
  <p:cmAuthor id="304" name="郑廷东" initials="郑" lastIdx="0" clrIdx="303"/>
  <p:cmAuthor id="305" name="张钦" initials="张" lastIdx="0" clrIdx="304"/>
  <p:cmAuthor id="306" name="涛娜" initials="涛" lastIdx="0" clrIdx="305"/>
  <p:cmAuthor id="307" name="jin jin" initials="j" lastIdx="0" clrIdx="306"/>
  <p:cmAuthor id="308" name="libin1204@163.com" initials="l" lastIdx="0" clrIdx="307"/>
  <p:cmAuthor id="309" name="王志虎" initials="王" lastIdx="0" clrIdx="308"/>
  <p:cmAuthor id="310" name="魏永生" initials="魏" lastIdx="0" clrIdx="309"/>
  <p:cmAuthor id="311" name="郭 里芬" initials="郭" lastIdx="0" clrIdx="310"/>
  <p:cmAuthor id="312" name="刘" initials="刘" lastIdx="0" clrIdx="311"/>
  <p:cmAuthor id="313" name="未知用户22" initials="未" lastIdx="0" clrIdx="312"/>
  <p:cmAuthor id="314" name="rq fan" initials="r" lastIdx="0" clrIdx="313"/>
  <p:cmAuthor id="315" name="侯 林" initials="侯" lastIdx="0" clrIdx="314"/>
  <p:cmAuthor id="316" name="孙大威" initials="孙" lastIdx="0" clrIdx="315"/>
  <p:cmAuthor id="317" name="郝志永" initials="郝" lastIdx="0" clrIdx="316"/>
  <p:cmAuthor id="318" name="李明" initials="李" lastIdx="0" clrIdx="317"/>
  <p:cmAuthor id="319" name="未知用户10" initials="未" lastIdx="0" clrIdx="318"/>
  <p:cmAuthor id="320" name="武春莲" initials="武春莲" lastIdx="0" clrIdx="319"/>
  <p:cmAuthor id="321" name="Lzy" initials="L" lastIdx="0" clrIdx="320"/>
  <p:cmAuthor id="322" name="周满红" initials="周" lastIdx="0" clrIdx="321"/>
  <p:cmAuthor id="323" name="张春贤" initials="张" lastIdx="0" clrIdx="322"/>
  <p:cmAuthor id="324" name="zyf" initials="z" lastIdx="0" clrIdx="323"/>
  <p:cmAuthor id="325" name="张双文" initials="张" lastIdx="0" clrIdx="324"/>
  <p:cmAuthor id="326" name="任勇" initials="任" lastIdx="0" clrIdx="325"/>
  <p:cmAuthor id="327" name="李天骄" initials="李" lastIdx="0" clrIdx="326"/>
  <p:cmAuthor id="328" name="王川雪" initials="王" lastIdx="0" clrIdx="327"/>
  <p:cmAuthor id="329" name="仵新荣" initials="仵" lastIdx="0" clrIdx="328"/>
  <p:cmAuthor id="330" name="樊革霞" initials="樊" lastIdx="0" clrIdx="329"/>
  <p:cmAuthor id="331" name="何已龙" initials="何" lastIdx="0" clrIdx="330"/>
  <p:cmAuthor id="332" name="陈桂枝" initials="陈" lastIdx="0" clrIdx="331"/>
  <p:cmAuthor id="333" name="刘艳龙" initials="刘" lastIdx="0" clrIdx="332"/>
  <p:cmAuthor id="334" name="席金煜" initials="席" lastIdx="0" clrIdx="333"/>
  <p:cmAuthor id="335" name="樊佳佳" initials="樊" lastIdx="0" clrIdx="334"/>
  <p:cmAuthor id="336" name="张雁" initials="张" lastIdx="0" clrIdx="335"/>
  <p:cmAuthor id="337" name="新萝卜家园" initials="新" lastIdx="0" clrIdx="336"/>
  <p:cmAuthor id="338" name="周开雷" initials="周" lastIdx="0" clrIdx="337"/>
  <p:cmAuthor id="339" name="lx" initials="l" lastIdx="0" clrIdx="338"/>
  <p:cmAuthor id="340" name="李振宇" initials="李" lastIdx="0" clrIdx="339"/>
  <p:cmAuthor id="341" name="刘传坤" initials="刘" lastIdx="0" clrIdx="340"/>
  <p:cmAuthor id="342" name="covslj" initials="c" lastIdx="0" clrIdx="341"/>
  <p:cmAuthor id="343" name="未知用户43" initials="未" lastIdx="0" clrIdx="342"/>
  <p:cmAuthor id="344" name="未知用户40" initials="未" lastIdx="0" clrIdx="343"/>
  <p:cmAuthor id="345" name="未知用户41" initials="未" lastIdx="0" clrIdx="344"/>
  <p:cmAuthor id="346" name="未知用户42" initials="未" lastIdx="0" clrIdx="345"/>
  <p:cmAuthor id="347" name="未知用户36" initials="未" lastIdx="0" clrIdx="346"/>
  <p:cmAuthor id="348" name="未知用户37" initials="未" lastIdx="0" clrIdx="347"/>
  <p:cmAuthor id="349" name="未知用户38" initials="未" lastIdx="0" clrIdx="348"/>
  <p:cmAuthor id="350" name="未知用户39" initials="未" lastIdx="0" clrIdx="349"/>
  <p:cmAuthor id="351" name="未知用户44" initials="未" lastIdx="0" clrIdx="350"/>
  <p:cmAuthor id="352" name="未知用户45" initials="未" lastIdx="0" clrIdx="351"/>
  <p:cmAuthor id="353" name="未知用户46" initials="未" lastIdx="0" clrIdx="352"/>
  <p:cmAuthor id="354" name="未知用户47" initials="未" lastIdx="0" clrIdx="353"/>
  <p:cmAuthor id="355" name="未知用户48" initials="未" lastIdx="0" clrIdx="354"/>
  <p:cmAuthor id="356" name="未知用户49" initials="未" lastIdx="0" clrIdx="355"/>
  <p:cmAuthor id="357" name="未知用户50" initials="未" lastIdx="0" clrIdx="356"/>
  <p:cmAuthor id="358" name="未知用户51" initials="未" lastIdx="0" clrIdx="357"/>
  <p:cmAuthor id="359" name="未知用户52" initials="未" lastIdx="0" clrIdx="358"/>
  <p:cmAuthor id="360" name="未知用户53" initials="未" lastIdx="0" clrIdx="359"/>
  <p:cmAuthor id="361" name="未知用户54" initials="未" lastIdx="0" clrIdx="360"/>
  <p:cmAuthor id="362" name="未知用户55" initials="未" lastIdx="0" clrIdx="361"/>
  <p:cmAuthor id="363" name="未知用户56" initials="未" lastIdx="0" clrIdx="362"/>
  <p:cmAuthor id="364" name="未知用户62" initials="未" lastIdx="0" clrIdx="363"/>
  <p:cmAuthor id="365" name="未知用户63" initials="未" lastIdx="0" clrIdx="364"/>
  <p:cmAuthor id="366" name="未知用户64" initials="未" lastIdx="0" clrIdx="365"/>
  <p:cmAuthor id="367" name="未知用户65" initials="未" lastIdx="0" clrIdx="366"/>
  <p:cmAuthor id="368" name="未知用户66" initials="未" lastIdx="0" clrIdx="367"/>
  <p:cmAuthor id="369" name="未知用户67" initials="未" lastIdx="0" clrIdx="368"/>
  <p:cmAuthor id="370" name="未知用户68" initials="未" lastIdx="0" clrIdx="369"/>
  <p:cmAuthor id="371" name="未知用户69" initials="未" lastIdx="0" clrIdx="370"/>
  <p:cmAuthor id="372" name="未知用户70" initials="未" lastIdx="0" clrIdx="371"/>
  <p:cmAuthor id="373" name="未知用户71" initials="未" lastIdx="0" clrIdx="372"/>
  <p:cmAuthor id="374" name="未知用户72" initials="未" lastIdx="0" clrIdx="373"/>
  <p:cmAuthor id="375" name="未知用户73" initials="未" lastIdx="0" clrIdx="374"/>
  <p:cmAuthor id="376" name="未知用户74" initials="未" lastIdx="0" clrIdx="375"/>
  <p:cmAuthor id="377" name="未知用户75" initials="未" lastIdx="0" clrIdx="376"/>
  <p:cmAuthor id="378" name="未知用户76" initials="未" lastIdx="0" clrIdx="377"/>
  <p:cmAuthor id="379" name="未知用户77" initials="未" lastIdx="0" clrIdx="378"/>
  <p:cmAuthor id="380" name="未知用户78" initials="未" lastIdx="0" clrIdx="379"/>
  <p:cmAuthor id="381" name="未知用户79" initials="未" lastIdx="0" clrIdx="380"/>
  <p:cmAuthor id="382" name="未知用户80" initials="未" lastIdx="0" clrIdx="381"/>
  <p:cmAuthor id="383" name="未知用户81" initials="未" lastIdx="0" clrIdx="382"/>
  <p:cmAuthor id="384" name="未知用户82" initials="未" lastIdx="0" clrIdx="383"/>
  <p:cmAuthor id="385" name="未知用户83" initials="未" lastIdx="0" clrIdx="384"/>
  <p:cmAuthor id="386" name="未知用户84" initials="未" lastIdx="0" clrIdx="385"/>
  <p:cmAuthor id="387" name="未知用户85" initials="未" lastIdx="0" clrIdx="386"/>
  <p:cmAuthor id="388" name="未知用户86" initials="未" lastIdx="0" clrIdx="387"/>
  <p:cmAuthor id="389" name="未知用户87" initials="未" lastIdx="0" clrIdx="388"/>
  <p:cmAuthor id="390" name="未知用户88" initials="未" lastIdx="0" clrIdx="389"/>
  <p:cmAuthor id="391" name="未知用户89" initials="未" lastIdx="0" clrIdx="390"/>
  <p:cmAuthor id="392" name="未知用户90" initials="未" lastIdx="0" clrIdx="391"/>
  <p:cmAuthor id="393" name="未知用户91" initials="未" lastIdx="0" clrIdx="392"/>
  <p:cmAuthor id="394" name="未知用户92" initials="未" lastIdx="0" clrIdx="393"/>
  <p:cmAuthor id="395" name="未知用户93" initials="未" lastIdx="0" clrIdx="394"/>
  <p:cmAuthor id="396" name="未知用户94" initials="未" lastIdx="0" clrIdx="395"/>
  <p:cmAuthor id="397" name="未知用户95" initials="未" lastIdx="0" clrIdx="396"/>
  <p:cmAuthor id="398" name="未知用户96" initials="未" lastIdx="0" clrIdx="397"/>
  <p:cmAuthor id="399" name="未知用户97" initials="未" lastIdx="0" clrIdx="398"/>
  <p:cmAuthor id="400" name="未知用户98" initials="未" lastIdx="0" clrIdx="399"/>
  <p:cmAuthor id="401" name="未知用户99" initials="未" lastIdx="0" clrIdx="400"/>
  <p:cmAuthor id="402" name="未知用户100" initials="未" lastIdx="0" clrIdx="401"/>
  <p:cmAuthor id="403" name="李刚" initials="李" lastIdx="0" clrIdx="402"/>
  <p:cmAuthor id="404" name="戈玲" initials="戈" lastIdx="0" clrIdx="403"/>
  <p:cmAuthor id="405" name="Chris Kou" initials="C" lastIdx="0" clrIdx="404"/>
  <p:cmAuthor id="406" name="张金玉" initials="张" lastIdx="0" clrIdx="405"/>
  <p:cmAuthor id="407" name="周平" initials="周" lastIdx="0" clrIdx="406"/>
  <p:cmAuthor id="408" name="云峰 贾" initials="云" lastIdx="0" clrIdx="407"/>
  <p:cmAuthor id="409" name="永平 李" initials="永" lastIdx="0" clrIdx="408"/>
  <p:cmAuthor id="410" name="杨彦伟" initials="杨" lastIdx="0" clrIdx="409"/>
  <p:cmAuthor id="411" name="甜夏_RzUjeYRv" initials="authorId_663847295" lastIdx="0" clrIdx="410"/>
  <p:cmAuthor id="412" name="Azfar Mir" initials="A" lastIdx="0" clrIdx="411"/>
  <p:cmAuthor id="413" name="桓蕾" initials="桓" lastIdx="0" clrIdx="412"/>
  <p:cmAuthor id="414" name="鲍华明" initials="鲍" lastIdx="0" clrIdx="413"/>
  <p:cmAuthor id="415" name="原鹏" initials="原" lastIdx="0" clrIdx="414"/>
  <p:cmAuthor id="416" name="未知用户147" initials="未" lastIdx="0" clrIdx="415"/>
  <p:cmAuthor id="417" name="未知用户" initials="未" lastIdx="0" clrIdx="416"/>
  <p:cmAuthor id="418" name="luoyiyi" initials="l" lastIdx="0" clrIdx="417"/>
  <p:cmAuthor id="419" name="tiantian8009" initials="t" lastIdx="0" clrIdx="418"/>
  <p:cmAuthor id="420" name="豆豆飞" initials="豆" lastIdx="0" clrIdx="419"/>
  <p:cmAuthor id="421" name="未知用户101" initials="未" lastIdx="0" clrIdx="420"/>
  <p:cmAuthor id="422" name="文逸_zEruQvEF" initials="authorId_162861210" lastIdx="0" clrIdx="421"/>
  <p:cmAuthor id="423" name="guo yang" initials="gy" lastIdx="0" clrIdx="422"/>
  <p:cmAuthor id="424" name="骆倩怡_Znauj26B" initials="authorId_382814100" lastIdx="0" clrIdx="423"/>
  <p:cmAuthor id="425" name="Rob Hart" initials="R" lastIdx="0" clrIdx="424"/>
  <p:cmAuthor id="426" name="魏娟娟_iyUjZVrQ" initials="authorId_97755842" lastIdx="0" clrIdx="425"/>
  <p:cmAuthor id="427" name="Microsoft Office User" initials="Office" lastIdx="0" clrIdx="426"/>
  <p:cmAuthor id="428" name="Pei" initials="P" lastIdx="0" clrIdx="427"/>
  <p:cmAuthor id="429" name="lou cynthia" initials="l" lastIdx="0" clrIdx="428"/>
  <p:cmAuthor id="430" name="yeziapp" initials="y" lastIdx="0" clrIdx="429"/>
  <p:cmAuthor id="431" name="王 辉辉" initials="王" lastIdx="0" clrIdx="430"/>
  <p:cmAuthor id="432" name="马红" initials="马" lastIdx="0" clrIdx="431"/>
  <p:cmAuthor id="433" name="wgl" initials="w" lastIdx="0" clrIdx="432"/>
  <p:cmAuthor id="434" name="侯慧娟" initials="侯" lastIdx="0" clrIdx="433"/>
  <p:cmAuthor id="435" name="86186" initials="8" lastIdx="0" clrIdx="434"/>
  <p:cmAuthor id="436" name="张晓敏" initials="张" lastIdx="0" clrIdx="435"/>
  <p:cmAuthor id="437" name="linshaolan" initials="l" lastIdx="0" clrIdx="436"/>
  <p:cmAuthor id="438" name="杨艳霞" initials="杨" lastIdx="0" clrIdx="437"/>
  <p:cmAuthor id="439" name="zhulincang" initials="z" lastIdx="0" clrIdx="438"/>
  <p:cmAuthor id="440" name="86159" initials="8" lastIdx="0" clrIdx="439"/>
  <p:cmAuthor id="441" name="BA-俞阳" initials="authorId_4447802" lastIdx="0" clrIdx="440"/>
  <p:cmAuthor id="442" name="李占明" initials="李" lastIdx="0" clrIdx="441"/>
  <p:cmAuthor id="443" name="xujiaxuan1" initials="x" lastIdx="0" clrIdx="442"/>
  <p:cmAuthor id="444" name="andres.x.gomez" initials="a" lastIdx="0" clrIdx="443"/>
  <p:cmAuthor id="445" name="RICK(SIXI)" initials="R" lastIdx="0" clrIdx="444"/>
  <p:cmAuthor id="446" name="王伟" initials="王" lastIdx="0" clrIdx="445"/>
  <p:cmAuthor id="447" name="a123" initials="a" lastIdx="0" clrIdx="446"/>
  <p:cmAuthor id="448" name="杨晶" initials="杨" lastIdx="0" clrIdx="447"/>
  <p:cmAuthor id="449" name="jianghua" initials="j" lastIdx="0" clrIdx="448"/>
  <p:cmAuthor id="450" name="WPS_1679281038" initials="W" lastIdx="0" clrIdx="449"/>
  <p:cmAuthor id="451" name="muyouran" initials="m" lastIdx="0" clrIdx="450"/>
  <p:cmAuthor id="452" name="蔚勇军" initials="蔚" lastIdx="0" clrIdx="451"/>
  <p:cmAuthor id="453" name="郑汝鸿" initials="郑" lastIdx="0" clrIdx="452"/>
  <p:cmAuthor id="454" name="徐仕超" initials="徐" lastIdx="0" clrIdx="453"/>
  <p:cmAuthor id="455" name="杨秀丰" initials="杨" lastIdx="0" clrIdx="454"/>
  <p:cmAuthor id="456" name="nine" initials="n" lastIdx="0" clrIdx="455"/>
  <p:cmAuthor id="457" name="liang ma" initials="l" lastIdx="0" clrIdx="456"/>
  <p:cmAuthor id="458" name="宋少霞" initials="宋" lastIdx="0" clrIdx="457"/>
  <p:cmAuthor id="459" name="宋俭" initials="宋" lastIdx="0" clrIdx="458"/>
  <p:cmAuthor id="460" name="李百秋" initials="李" lastIdx="0" clrIdx="459"/>
  <p:cmAuthor id="461" name="asus" initials="a" lastIdx="0" clrIdx="460"/>
  <p:cmAuthor id="462" name="未知用户11" initials="未" lastIdx="0" clrIdx="461"/>
  <p:cmAuthor id="463" name="HUAWEI" initials="H" lastIdx="0" clrIdx="462"/>
  <p:cmAuthor id="464" name="贾清山" initials="贾" lastIdx="0" clrIdx="463"/>
  <p:cmAuthor id="465" name="王霞" initials="王" lastIdx="0" clrIdx="464"/>
  <p:cmAuthor id="466" name="thinkpad" initials="t" lastIdx="0" clrIdx="465"/>
  <p:cmAuthor id="467" name="李宝龙" initials="李" lastIdx="0" clrIdx="466"/>
  <p:cmAuthor id="468" name="123" initials="1" lastIdx="0" clrIdx="467"/>
  <p:cmAuthor id="469" name="win" initials="w" lastIdx="0" clrIdx="468"/>
  <p:cmAuthor id="470" name="高龙" initials="高龙" lastIdx="0" clrIdx="469"/>
  <p:cmAuthor id="471" name="suiyuhan" initials="s" lastIdx="0" clrIdx="470"/>
  <p:cmAuthor id="472" name="广东伊利" initials="广" lastIdx="0" clrIdx="471"/>
  <p:cmAuthor id="473" name="王强" initials="王" lastIdx="0" clrIdx="472"/>
  <p:cmAuthor id="474" name="叶得会" initials="叶" lastIdx="0" clrIdx="473"/>
  <p:cmAuthor id="475" name="张杰" initials="张" lastIdx="0" clrIdx="474"/>
  <p:cmAuthor id="476" name="MS Wenan" initials="M" lastIdx="0" clrIdx="475"/>
  <p:cmAuthor id="477" name="Qingyunli" initials="Q" lastIdx="0" clrIdx="476"/>
  <p:cmAuthor id="478" name="李梦" initials="李" lastIdx="0" clrIdx="477"/>
  <p:cmAuthor id="479" name="里芬 郭" initials="里" lastIdx="0" clrIdx="478"/>
  <p:cmAuthor id="480" name="santiago passalacqua" initials="s" lastIdx="0" clrIdx="479"/>
  <p:cmAuthor id="481" name="mac" initials="m" lastIdx="0" clrIdx="480"/>
  <p:cmAuthor id="482" name="hong" initials="h" lastIdx="0" clrIdx="481"/>
  <p:cmAuthor id="483" name="席美娟" initials="席" lastIdx="0" clrIdx="482"/>
  <p:cmAuthor id="484" name="王清" initials="王" lastIdx="0" clrIdx="483"/>
  <p:cmAuthor id="485" name="chenxiansheng" initials="c" lastIdx="0" clrIdx="484"/>
  <p:cmAuthor id="486" name="刘豹" initials="刘" lastIdx="0" clrIdx="485"/>
  <p:cmAuthor id="487" name="zyh" initials="z" lastIdx="0" clrIdx="486"/>
  <p:cmAuthor id="488" name="东 沈" initials="东" lastIdx="0" clrIdx="487"/>
  <p:cmAuthor id="489" name="Zhou, Judy" initials="Z" lastIdx="0" clrIdx="488"/>
  <p:cmAuthor id="490" name="15247" initials="1" lastIdx="0" clrIdx="489"/>
  <p:cmAuthor id="491" name="何序桃" initials="何" lastIdx="0" clrIdx="490"/>
  <p:cmAuthor id="492" name="吕鑫明" initials="吕" lastIdx="0" clrIdx="491"/>
  <p:cmAuthor id="493" name="赵静" initials="赵" lastIdx="0" clrIdx="492"/>
  <p:cmAuthor id="494" name="未知用户133" initials="未" lastIdx="0" clrIdx="493"/>
  <p:cmAuthor id="495" name="未知用户134" initials="未" lastIdx="0" clrIdx="494"/>
  <p:cmAuthor id="496" name="未知用户135" initials="未" lastIdx="0" clrIdx="495"/>
  <p:cmAuthor id="497" name="未知用户137" initials="未" lastIdx="0" clrIdx="496"/>
  <p:cmAuthor id="498" name="未知用户146" initials="未" lastIdx="0" clrIdx="497"/>
  <p:cmAuthor id="499" name="未知用户138" initials="未" lastIdx="0" clrIdx="498"/>
  <p:cmAuthor id="500" name="邢辰凤" initials="邢" lastIdx="0" clrIdx="499"/>
  <p:cmAuthor id="501" name="未知用户142" initials="未" lastIdx="0" clrIdx="500"/>
  <p:cmAuthor id="502" name="未知用户143" initials="未" lastIdx="0" clrIdx="501"/>
  <p:cmAuthor id="503" name="吴成华" initials="吴成华" lastIdx="0" clrIdx="502"/>
  <p:cmAuthor id="504" name="潘淑倩" initials="U" lastIdx="0" clrIdx="503"/>
  <p:cmAuthor id="505" name="373011054@qq.com" initials="3" lastIdx="0" clrIdx="504"/>
  <p:cmAuthor id="506" name="李庆妍" initials="李" lastIdx="0" clrIdx="505"/>
  <p:cmAuthor id="507" name="guo xiaoya" initials="gx" lastIdx="0" clrIdx="506"/>
  <p:cmAuthor id="508" name="cuidongying@feihe.com" initials="c" lastIdx="0" clrIdx="507"/>
  <p:cmAuthor id="509" name="林文文" initials="3" lastIdx="0" clrIdx="508"/>
  <p:cmAuthor id="510" name="蔡丹凤" initials="authorId_351496199" lastIdx="0" clrIdx="509"/>
  <p:cmAuthor id="511" name="董翠珍" initials="董翠珍" lastIdx="0" clrIdx="510"/>
  <p:cmAuthor id="512" name="马伟媛" initials="马伟媛" lastIdx="0" clrIdx="511"/>
  <p:cmAuthor id="513" name="赵一璞" initials="T" lastIdx="0" clrIdx="512"/>
  <p:cmAuthor id="514" name="于洁" initials="于" lastIdx="0" clrIdx="513"/>
  <p:cmAuthor id="515" name="品控" initials="品" lastIdx="0" clrIdx="514"/>
  <p:cmAuthor id="516" name="mei mei" initials="mm" lastIdx="0" clrIdx="515"/>
  <p:cmAuthor id="517" name="王军" initials="王" lastIdx="0" clrIdx="516"/>
  <p:cmAuthor id="518" name="王 恩光" initials="王" lastIdx="0" clrIdx="517"/>
  <p:cmAuthor id="519" name="李 金龙" initials="李" lastIdx="0" clrIdx="518"/>
  <p:cmAuthor id="520" name="未知用户2" initials="未" lastIdx="0" clrIdx="519"/>
  <p:cmAuthor id="521" name="王向妮" initials="王" lastIdx="0" clrIdx="520"/>
  <p:cmAuthor id="522" name="jl liu" initials="j" lastIdx="0" clrIdx="521"/>
  <p:cmAuthor id="523" name="wanwen" initials="w" lastIdx="0" clrIdx="522"/>
  <p:cmAuthor id="524" name="徐光宇" initials="徐" lastIdx="0" clrIdx="523"/>
  <p:cmAuthor id="525" name="李正" initials="李" lastIdx="0" clrIdx="524"/>
  <p:cmAuthor id="526" name="贾红喜" initials="贾" lastIdx="0" clrIdx="525"/>
  <p:cmAuthor id="527" name="未知用户139" initials="未" lastIdx="0" clrIdx="526"/>
  <p:cmAuthor id="528" name="未知用户1" initials="未" lastIdx="0" clrIdx="527"/>
  <p:cmAuthor id="529" name="未知用户33" initials="未" lastIdx="0" clrIdx="528"/>
  <p:cmAuthor id="530" name="86138" initials="8" lastIdx="0" clrIdx="529"/>
  <p:cmAuthor id="531" name="未知用户32" initials="未" lastIdx="0" clrIdx="530"/>
  <p:cmAuthor id="532" name="liwei" initials="l" lastIdx="0" clrIdx="531"/>
  <p:cmAuthor id="533" name="未知用户34" initials="未" lastIdx="0" clrIdx="532"/>
  <p:cmAuthor id="534" name="dongliyao" initials="d" lastIdx="0" clrIdx="533"/>
  <p:cmAuthor id="535" name="张利英" initials="张" lastIdx="0" clrIdx="534"/>
  <p:cmAuthor id="536" name="liu yj" initials="l" lastIdx="0" clrIdx="535"/>
  <p:cmAuthor id="537" name="acer1" initials="a" lastIdx="0" clrIdx="536"/>
  <p:cmAuthor id="538" name="Microsoft 帐户" initials="M" lastIdx="0" clrIdx="537"/>
  <p:cmAuthor id="539" name="未知" initials="未" lastIdx="0" clrIdx="538"/>
  <p:cmAuthor id="540" name="段春辉" initials="段" lastIdx="0" clrIdx="539"/>
  <p:cmAuthor id="541" name="李丽华" initials="李" lastIdx="0" clrIdx="540"/>
  <p:cmAuthor id="542" name="志斌 杜" initials="志" lastIdx="0" clrIdx="541"/>
  <p:cmAuthor id="543" name="黄永虎" initials="黄" lastIdx="0" clrIdx="542"/>
  <p:cmAuthor id="544" name="秋君" initials="秋君" lastIdx="0" clrIdx="543"/>
  <p:cmAuthor id="545" name="44934" initials="4" lastIdx="0" clrIdx="544"/>
  <p:cmAuthor id="546" name="姜亚荣" initials="姜" lastIdx="0" clrIdx="545"/>
  <p:cmAuthor id="547" name="微生物工程师" initials="微" lastIdx="0" clrIdx="546"/>
  <p:cmAuthor id="548" name="fgx" initials="f" lastIdx="0" clrIdx="547"/>
  <p:cmAuthor id="549" name="惠莲" initials="惠" lastIdx="0" clrIdx="548"/>
  <p:cmAuthor id="550" name="汪 翔" initials="汪" lastIdx="0" clrIdx="549"/>
  <p:cmAuthor id="551" name="王海涛" initials="王海涛" lastIdx="0" clrIdx="550"/>
  <p:cmAuthor id="552" name="..." initials="." lastIdx="0" clrIdx="551"/>
  <p:cmAuthor id="553" name="office" initials="o [7]" lastIdx="0" clrIdx="552"/>
  <p:cmAuthor id="554" name="用户" initials="吴大喵" lastIdx="0" clrIdx="553"/>
  <p:cmAuthor id="555" name="Jackie Wen" initials="JW" lastIdx="0" clrIdx="554"/>
  <p:cmAuthor id="556" name="blair" initials="b" lastIdx="0" clrIdx="555"/>
  <p:cmAuthor id="557" name="单玉章" initials="单玉章" lastIdx="0" clrIdx="556"/>
  <p:cmAuthor id="558" name="武森" initials="武" lastIdx="0" clrIdx="557"/>
  <p:cmAuthor id="559" name="lemonking" initials="l" lastIdx="0" clrIdx="558"/>
  <p:cmAuthor id="560" name="刘文" initials="刘" lastIdx="0" clrIdx="559"/>
  <p:cmAuthor id="561" name="薛飞飞" initials="薛" lastIdx="0" clrIdx="560"/>
  <p:cmAuthor id="562" name="周鑫" initials="周" lastIdx="0" clrIdx="561"/>
  <p:cmAuthor id="563" name="ADMINIBM" initials="A" lastIdx="0" clrIdx="562"/>
  <p:cmAuthor id="564" name="张成真" initials="张" lastIdx="0" clrIdx="563"/>
  <p:cmAuthor id="565" name="dcis" initials="d" lastIdx="0" clrIdx="564"/>
  <p:cmAuthor id="566" name="????" initials="?" lastIdx="0" clrIdx="565"/>
  <p:cmAuthor id="567" name="郑小波" initials="郑小波" lastIdx="0" clrIdx="566"/>
  <p:cmAuthor id="568" name="张大海" initials="张" lastIdx="0" clrIdx="567"/>
  <p:cmAuthor id="569" name="段振华" initials="段" lastIdx="0" clrIdx="568"/>
  <p:cmAuthor id="570" name="德伦广告€€€€€€" initials="德" lastIdx="0" clrIdx="569"/>
  <p:cmAuthor id="571" name="朱彩霞" initials="朱" lastIdx="0" clrIdx="570"/>
  <p:cmAuthor id="572" name="范作霖" initials="范" lastIdx="0" clrIdx="571"/>
  <p:cmAuthor id="573" name="黄利峰" initials="黄利峰" lastIdx="0" clrIdx="572"/>
  <p:cmAuthor id="574" name="莉莉 张" initials="莉张" lastIdx="0" clrIdx="573"/>
  <p:cmAuthor id="575" name="梁 金池" initials="梁" lastIdx="0" clrIdx="574"/>
  <p:cmAuthor id="576" name="scq" initials="s" lastIdx="0" clrIdx="575"/>
  <p:cmAuthor id="577" name="未知用户165" initials="未" lastIdx="0" clrIdx="576"/>
  <p:cmAuthor id="578" name="825699147@qq.com" initials="8" lastIdx="0" clrIdx="577"/>
  <p:cmAuthor id="579" name="未知用户167" initials="未" lastIdx="0" clrIdx="578"/>
  <p:cmAuthor id="580" name="郭金玲" initials="郭" lastIdx="0" clrIdx="579"/>
  <p:cmAuthor id="581" name="未知用户169" initials="未" lastIdx="0" clrIdx="580"/>
  <p:cmAuthor id="582" name="马庆馨" initials="马庆馨" lastIdx="0" clrIdx="581"/>
  <p:cmAuthor id="583" name="未知用户175" initials="未" lastIdx="0" clrIdx="582"/>
  <p:cmAuthor id="584" name="冯帅" initials="冯" lastIdx="0" clrIdx="583"/>
  <p:cmAuthor id="585" name="未知用户176" initials="未" lastIdx="0" clrIdx="584"/>
  <p:cmAuthor id="586" name="Bernie Chang" initials="" lastIdx="0" clrIdx="585"/>
  <p:cmAuthor id="587" name="duanyt01" initials="d" lastIdx="0" clrIdx="586"/>
  <p:cmAuthor id="588" name="Carrie Wang" initials="CW" lastIdx="0" clrIdx="587"/>
  <p:cmAuthor id="589" name="未知用户31" initials="未知用户31" lastIdx="0" clrIdx="588"/>
  <p:cmAuthor id="590" name="ydx2003new@163.com" initials="y" lastIdx="0" clrIdx="589"/>
  <p:cmAuthor id="591" name="岳文甲" initials="岳" lastIdx="0" clrIdx="590"/>
  <p:cmAuthor id="592" name="杨 超" initials="杨" lastIdx="0" clrIdx="591"/>
  <p:cmAuthor id="593" name="Ms" initials="M" lastIdx="0" clrIdx="592"/>
  <p:cmAuthor id="594" name="Iclick" initials="I" lastIdx="0" clrIdx="593"/>
  <p:cmAuthor id="595" name="齐登宝" initials="齐" lastIdx="0" clrIdx="594"/>
  <p:cmAuthor id="596" name="iclick" initials="i" lastIdx="0" clrIdx="595"/>
  <p:cmAuthor id="597" name="尹" initials="尹" lastIdx="0" clrIdx="596"/>
  <p:cmAuthor id="598" name="李 惠" initials="李" lastIdx="0" clrIdx="597"/>
  <p:cmAuthor id="599" name="stillu" initials="s" lastIdx="0" clrIdx="598"/>
  <p:cmAuthor id="600" name="bcw" initials="b" lastIdx="0" clrIdx="599"/>
  <p:cmAuthor id="601" name="zhuqy3" initials="z" lastIdx="0" clrIdx="600"/>
  <p:cmAuthor id="602" name="675396348@qq.com" initials="6" lastIdx="0" clrIdx="601"/>
  <p:cmAuthor id="603" name="muyi" initials="m" lastIdx="0" clrIdx="602"/>
  <p:cmAuthor id="604" name="f n" initials="fn" lastIdx="0" clrIdx="603"/>
  <p:cmAuthor id="605" name="jinhaihong" initials="j" lastIdx="0" clrIdx="604"/>
  <p:cmAuthor id="606" name="caoxiangning" initials="c" lastIdx="0" clrIdx="605"/>
  <p:cmAuthor id="607" name="yangxiaoming" initials="y" lastIdx="0" clrIdx="606"/>
  <p:cmAuthor id="608" name="超乎想象" initials="超" lastIdx="0" clrIdx="607"/>
  <p:cmAuthor id="609" name="sunliyuan" initials="s" lastIdx="0" clrIdx="608"/>
  <p:cmAuthor id="610" name="yangang" initials="y" lastIdx="0" clrIdx="609"/>
  <p:cmAuthor id="611" name="Windows" initials="W" lastIdx="0" clrIdx="610"/>
  <p:cmAuthor id="612" name="yunhua" initials="y" lastIdx="0" clrIdx="611"/>
  <p:cmAuthor id="613" name="常安" initials="常" lastIdx="0" clrIdx="612"/>
  <p:cmAuthor id="614" name="松 李" initials="松" lastIdx="0" clrIdx="613"/>
  <p:cmAuthor id="615" name="BW_UVFnQ7zi" initials="authorId_459820789" lastIdx="0" clrIdx="614"/>
  <p:cmAuthor id="616" name="郭书含" initials="郭" lastIdx="0" clrIdx="615"/>
  <p:cmAuthor id="617" name="lishouting" initials="l" lastIdx="0" clrIdx="616"/>
  <p:cmAuthor id="618" name="sivaram" initials="s" lastIdx="0" clrIdx="617"/>
  <p:cmAuthor id="619" name="wangyongxun" initials="w" lastIdx="0" clrIdx="618"/>
  <p:cmAuthor id="620" name="пользователь Microsoft Office" initials="п" lastIdx="0" clrIdx="619"/>
  <p:cmAuthor id="621" name="meowth" initials="m" lastIdx="0" clrIdx="620"/>
  <p:cmAuthor id="622" name="刘淼" initials="刘" lastIdx="0" clrIdx="621"/>
  <p:cmAuthor id="623" name="tata_leung" initials="t" lastIdx="0" clrIdx="622"/>
  <p:cmAuthor id="624" name="Office 365" initials="O" lastIdx="0" clrIdx="623"/>
  <p:cmAuthor id="625" name="1716266060@qq.com" initials="1" lastIdx="0" clrIdx="624"/>
  <p:cmAuthor id="626" name="程学春 cxc" initials="程" lastIdx="0" clrIdx="625"/>
  <p:cmAuthor id="627" name="chenli8" initials="c" lastIdx="0" clrIdx="626"/>
  <p:cmAuthor id="628" name="448097321@qq.com" initials="4" lastIdx="0" clrIdx="627"/>
  <p:cmAuthor id="629" name="zhumin1" initials="z" lastIdx="0" clrIdx="628"/>
  <p:cmAuthor id="630" name="FS" initials="F" lastIdx="0" clrIdx="629"/>
  <p:cmAuthor id="631" name="Temp" initials="T" lastIdx="0" clrIdx="630"/>
  <p:cmAuthor id="632" name="刘岸亮" initials="刘" lastIdx="0" clrIdx="631"/>
  <p:cmAuthor id="633" name="裴 校" initials="裴" lastIdx="0" clrIdx="632"/>
  <p:cmAuthor id="634" name="雍中婧" initials="雍" lastIdx="0" clrIdx="633"/>
  <p:cmAuthor id="635" name="李忆" initials="李" lastIdx="0" clrIdx="634"/>
  <p:cmAuthor id="636" name="任斐" initials="任" lastIdx="0" clrIdx="635"/>
  <p:cmAuthor id="637" name="zhangyuting" initials="z" lastIdx="0" clrIdx="636"/>
  <p:cmAuthor id="638" name="tpxiao" initials="t" lastIdx="0" clrIdx="637"/>
  <p:cmAuthor id="639" name="肖 雷" initials="肖" lastIdx="0" clrIdx="638"/>
  <p:cmAuthor id="640" name="nalan" initials="n" lastIdx="0" clrIdx="639"/>
  <p:cmAuthor id="641" name="lin lin" initials="l" lastIdx="0" clrIdx="640"/>
  <p:cmAuthor id="642" name="邓蓉榕" initials="邓" lastIdx="0" clrIdx="641"/>
  <p:cmAuthor id="643" name="Sky.Wang" initials="S" lastIdx="0" clrIdx="642"/>
  <p:cmAuthor id="644" name="Smilyrwj" initials="S" lastIdx="0" clrIdx="643"/>
  <p:cmAuthor id="645" name="H" initials="H" lastIdx="0" clrIdx="644"/>
  <p:cmAuthor id="646" name="wangll132" initials="w" lastIdx="0" clrIdx="645"/>
  <p:cmAuthor id="647" name="chenxu001" initials="c" lastIdx="0" clrIdx="646"/>
  <p:cmAuthor id="648" name="panhong" initials="p" lastIdx="0" clrIdx="647"/>
  <p:cmAuthor id="649" name="guminghao" initials="g" lastIdx="0" clrIdx="648"/>
  <p:cmAuthor id="650" name="xiaoyan.han" initials="x" lastIdx="0" clrIdx="649"/>
  <p:cmAuthor id="651" name="PepsicolaC" initials="P" lastIdx="0" clrIdx="650"/>
  <p:cmAuthor id="652" name="罗惠萍 Pinkie Luo" initials="罗" lastIdx="0" clrIdx="651"/>
  <p:cmAuthor id="653" name="未定义" initials="未" lastIdx="0" clrIdx="652"/>
  <p:cmAuthor id="654" name="张惠" initials="张" lastIdx="0" clrIdx="653"/>
  <p:cmAuthor id="655" name="吴铭锐" initials="吴" lastIdx="0" clrIdx="654"/>
  <p:cmAuthor id="656" name="金鱼·张晨·远想·项目经理" initials="金" lastIdx="0" clrIdx="655"/>
  <p:cmAuthor id="657" name="JOHNNY GAO" initials="JG" lastIdx="0" clrIdx="656"/>
  <p:cmAuthor id="658" name="wangmeiyu2010@dingtalk.com" initials="w" lastIdx="0" clrIdx="657"/>
  <p:cmAuthor id="659" name="群智集" initials="群" lastIdx="0" clrIdx="658"/>
  <p:cmAuthor id="660" name="Windows 用户" initials="W用" lastIdx="0" clrIdx="659"/>
  <p:cmAuthor id="661" name="张立鑫" initials="张" lastIdx="0" clrIdx="660"/>
  <p:cmAuthor id="662" name="李金金" initials="李金金" lastIdx="0" clrIdx="661"/>
  <p:cmAuthor id="663" name="杨茹滨 Rubin Yang" initials="杨茹滨" lastIdx="0" clrIdx="662"/>
  <p:cmAuthor id="664" name="YuQing" initials="Y" lastIdx="0" clrIdx="663"/>
  <p:cmAuthor id="665" name="Youwen Sun" initials="Y" lastIdx="0" clrIdx="664"/>
  <p:cmAuthor id="666" name="user" initials="u" lastIdx="0" clrIdx="665"/>
  <p:cmAuthor id="667" name="吕喜龙" initials="吕" lastIdx="0" clrIdx="666"/>
  <p:cmAuthor id="668" name="口渴可乐`" initials="口" lastIdx="0" clrIdx="667"/>
  <p:cmAuthor id="669" name="yywyingyuwen@outlook.com" initials="y" lastIdx="0" clrIdx="668"/>
  <p:cmAuthor id="670" name="liying" initials="l" lastIdx="0" clrIdx="669"/>
  <p:cmAuthor id="671" name="徐璨" initials="徐" lastIdx="0" clrIdx="670"/>
  <p:cmAuthor id="672" name="caoyq0624" initials="c" lastIdx="0" clrIdx="671"/>
  <p:cmAuthor id="673" name="方朝军/产品推动室/产品开发推广部/总公司" initials="方" lastIdx="0" clrIdx="672"/>
  <p:cmAuthor id="674" name="zq" initials="z" lastIdx="0" clrIdx="673"/>
  <p:cmAuthor id="675" name="魔范 冯铭心" initials="魔" lastIdx="0" clrIdx="674"/>
  <p:cmAuthor id="676" name="zheng" initials="z" lastIdx="0" clrIdx="675"/>
  <p:cmAuthor id="677" name="LQX" initials="L" lastIdx="0" clrIdx="676"/>
  <p:cmAuthor id="678" name="韩佳楠" initials="韩" lastIdx="0" clrIdx="677"/>
  <p:cmAuthor id="679" name="优秀 康" initials="优康" lastIdx="0" clrIdx="678"/>
  <p:cmAuthor id="680" name="yidan_hong" initials="y" lastIdx="0" clrIdx="679"/>
  <p:cmAuthor id="681" name="刘团结" initials="authorId_1264922873" lastIdx="0" clrIdx="680"/>
  <p:cmAuthor id="682" name="刘锡颖(营销财务部)" initials="刘锡颖(营销财务部)" lastIdx="0" clrIdx="681"/>
  <p:cmAuthor id="683" name="张炎-商业广告_iA3qbeyi" initials="authorId_1320782576" lastIdx="0" clrIdx="682"/>
  <p:cmAuthor id="684" name="杜晶晶-投资者关系部_vM3mnymA" initials="authorId_1323951053" lastIdx="0" clrIdx="683"/>
  <p:cmAuthor id="685" name="尹琦-商业广告_QvumFjU3" initials="authorId_1322709835" lastIdx="0" clrIdx="684"/>
  <p:cmAuthor id="686" name="王 轩" initials="王轩" lastIdx="0" clrIdx="685"/>
  <p:cmAuthor id="687" name="tyf1753535991@outlook.com" initials="t" lastIdx="0" clrIdx="686"/>
  <p:cmAuthor id="688" name="j" initials="j" lastIdx="0" clrIdx="687"/>
  <p:cmAuthor id="689" name="刘浩" initials="刘" lastIdx="0" clrIdx="688"/>
  <p:cmAuthor id="690" name="Vivian Liu" initials="VL" lastIdx="0" clrIdx="689"/>
  <p:cmAuthor id="691" name="he zhirui" initials="hz" lastIdx="0" clrIdx="690"/>
  <p:cmAuthor id="692" name="伟哥" initials="伟哥" lastIdx="0" clrIdx="691"/>
  <p:cmAuthor id="693" name="Jordi Conesa" initials="" lastIdx="0" clrIdx="692"/>
  <p:cmAuthor id="694" name="76066" initials="7" lastIdx="0" clrIdx="693"/>
  <p:cmAuthor id="695" name="kingsoft" initials="k" lastIdx="0" clrIdx="694"/>
  <p:cmAuthor id="696" name="Ann" initials="A" lastIdx="0" clrIdx="695"/>
  <p:cmAuthor id="697" name="della" initials="d" lastIdx="0" clrIdx="696"/>
  <p:cmAuthor id="698" name="aprilyang" initials="a" lastIdx="0" clrIdx="697"/>
  <p:cmAuthor id="699" name="陈荣 省" initials="陈荣" lastIdx="0" clrIdx="698"/>
  <p:cmAuthor id="700" name="momo" initials="m" lastIdx="0" clrIdx="699"/>
  <p:cmAuthor id="701" name="EDY" initials="E" lastIdx="0" clrIdx="700"/>
  <p:cmAuthor id="702" name="周舟-商业广告_Y7Bf3EjA" initials="authorId_1340955903" lastIdx="0" clrIdx="701"/>
  <p:cmAuthor id="703" name="王思雨-商业广告_R3AbJrye" initials="authorId_1323117445" lastIdx="0" clrIdx="702"/>
  <p:cmAuthor id="704" name="xcx18" initials="x" lastIdx="0" clrIdx="703"/>
  <p:cmAuthor id="705" name="于 玮麟" initials="于" lastIdx="0" clrIdx="704"/>
  <p:cmAuthor id="706" name="张 家超" initials="张" lastIdx="0" clrIdx="705"/>
  <p:cmAuthor id="707" name="yangxiaoyuan" initials="y" lastIdx="0" clrIdx="706"/>
  <p:cmAuthor id="708" name="hualidingziku" initials="h" lastIdx="0" clrIdx="707"/>
  <p:cmAuthor id="709" name="黄小钋" initials="黄小钋" lastIdx="0" clrIdx="708"/>
  <p:cmAuthor id="710" name="nan" initials="n" lastIdx="0" clrIdx="709"/>
  <p:cmAuthor id="711" name="zhanghuihui" initials="z" lastIdx="0" clrIdx="710"/>
  <p:cmAuthor id="712" name="张 开阔" initials="张" lastIdx="0" clrIdx="711"/>
  <p:cmAuthor id="713" name="刘彤彤" initials="x" lastIdx="0" clrIdx="712"/>
  <p:cmAuthor id="714" name="334857932@qq.com" initials="3" lastIdx="0" clrIdx="713"/>
  <p:cmAuthor id="715" name="KC" initials="K" lastIdx="0" clrIdx="714"/>
  <p:cmAuthor id="716" name="ASUS" initials="A" lastIdx="0" clrIdx="715"/>
  <p:cmAuthor id="717" name="木子吉" initials="木" lastIdx="0" clrIdx="716"/>
  <p:cmAuthor id="718" name="86188" initials="8" lastIdx="0" clrIdx="717"/>
  <p:cmAuthor id="719" name="yinan" initials="y" lastIdx="0" clrIdx="718"/>
  <p:cmAuthor id="720" name="nanya" initials="n" lastIdx="0" clrIdx="719"/>
  <p:cmAuthor id="721" name="xiumu" initials="x" lastIdx="0" clrIdx="720"/>
  <p:cmAuthor id="722" name="天蓝物" initials="天蓝物" lastIdx="0" clrIdx="721"/>
  <p:cmAuthor id="723" name="盖盖" initials="盖盖" lastIdx="0" clrIdx="722"/>
  <p:cmAuthor id="724" name="LENOVO" initials="L" lastIdx="0" clrIdx="723"/>
  <p:cmAuthor id="725" name="suran" initials="s" lastIdx="0" clrIdx="724"/>
  <p:cmAuthor id="726" name="jiayi" initials="j" lastIdx="0" clrIdx="725"/>
  <p:cmAuthor id="727" name="baiyao" initials="b" lastIdx="0" clrIdx="726"/>
  <p:cmAuthor id="728" name="隽秀1" initials="隽" lastIdx="0" clrIdx="727"/>
  <p:cmAuthor id="729" name="zhaoqianxiang" initials="z" lastIdx="0" clrIdx="728"/>
  <p:cmAuthor id="730" name="baiye" initials="b" lastIdx="0" clrIdx="729"/>
  <p:cmAuthor id="731" name="wangshuaishuai" initials="w" lastIdx="0" clrIdx="730"/>
  <p:cmAuthor id="732" name="yuntun" initials="y" lastIdx="0" clrIdx="731"/>
  <p:cmAuthor id="733" name="李雪山" initials="李" lastIdx="0" clrIdx="732"/>
  <p:cmAuthor id="734" name="李璐媛" initials="李璐媛" lastIdx="0" clrIdx="733"/>
  <p:cmAuthor id="735" name="施施" initials="施" lastIdx="0" clrIdx="734"/>
  <p:cmAuthor id="736" name="jingqilee" initials="j" lastIdx="0" clrIdx="735"/>
  <p:cmAuthor id="737" name="罗婉荧" initials="罗" lastIdx="0" clrIdx="736"/>
  <p:cmAuthor id="738" name="shenshui" initials="s" lastIdx="0" clrIdx="737"/>
  <p:cmAuthor id="739" name="zoey456@dingtalk.com" initials="z" lastIdx="0" clrIdx="738"/>
  <p:cmAuthor id="740" name="小倍" initials="小" lastIdx="0" clrIdx="739"/>
  <p:cmAuthor id="741" name="keyi" initials="k" lastIdx="0" clrIdx="740"/>
  <p:cmAuthor id="742" name="john" initials="j" lastIdx="0" clrIdx="741"/>
  <p:cmAuthor id="743" name="b" initials="b" lastIdx="0" clrIdx="742"/>
  <p:cmAuthor id="744" name="dao" initials="d" lastIdx="0" clrIdx="743"/>
  <p:cmAuthor id="745" name="YANGS-PC" initials="Y" lastIdx="0" clrIdx="744"/>
  <p:cmAuthor id="746" name="huijy01" initials="h" lastIdx="0" clrIdx="745"/>
  <p:cmAuthor id="747" name="hy-tkyl" initials="h" lastIdx="0" clrIdx="746"/>
  <p:cmAuthor id="748" name="baixuegongzhu" initials="authorId_baixuegongzhu" lastIdx="0" clrIdx="747"/>
  <p:cmAuthor id="749" name="凯丽" initials="凯" lastIdx="0" clrIdx="748"/>
  <p:cmAuthor id="750" name="华尔街青年" initials="华" lastIdx="0" clrIdx="749"/>
  <p:cmAuthor id="751" name="未知的使用者42" initials="未" lastIdx="0" clrIdx="750"/>
  <p:cmAuthor id="752" name="vicky" initials="v" lastIdx="0" clrIdx="751"/>
  <p:cmAuthor id="753" name="Zhuanz" initials="Z" lastIdx="0" clrIdx="752"/>
  <p:cmAuthor id="754" name="王忠彬" initials="王忠彬" lastIdx="0" clrIdx="753"/>
  <p:cmAuthor id="755" name="未知的使用者66" initials="未" lastIdx="0" clrIdx="754"/>
  <p:cmAuthor id="756" name="倩璐 童" initials="倩璐" lastIdx="0" clrIdx="755"/>
  <p:cmAuthor id="757" name="熊云飞" initials="熊" lastIdx="0" clrIdx="756"/>
  <p:cmAuthor id="758" name="未知用户35" initials="未" lastIdx="0" clrIdx="757"/>
  <p:cmAuthor id="759" name="Vaseline" initials="V" lastIdx="0" clrIdx="758"/>
  <p:cmAuthor id="760" name="记忆碎片" initials="记" lastIdx="0" clrIdx="759"/>
  <p:cmAuthor id="761" name="x wduo" initials="xw" lastIdx="0" clrIdx="760"/>
  <p:cmAuthor id="762" name="李勇" initials="李" lastIdx="0" clrIdx="761"/>
  <p:cmAuthor id="763" name="lyz" initials="l" lastIdx="0" clrIdx="762"/>
  <p:cmAuthor id="764" name="huang gerrard" initials="h" lastIdx="0" clrIdx="763"/>
  <p:cmAuthor id="765" name="Wu Jie" initials="W" lastIdx="0" clrIdx="764"/>
  <p:cmAuthor id="766" name="Chen, Siqi" initials="CS" lastIdx="0" clrIdx="765"/>
  <p:cmAuthor id="767" name="danling" initials="d" lastIdx="0" clrIdx="766"/>
  <p:cmAuthor id="768" name="陈盎弘" initials="陈" lastIdx="0" clrIdx="767"/>
  <p:cmAuthor id="769" name="陈荣省" initials="c" lastIdx="0" clrIdx="768"/>
  <p:cmAuthor id="770" name="90956" initials="9" lastIdx="0" clrIdx="769"/>
  <p:cmAuthor id="771" name="duo" initials="d" lastIdx="0" clrIdx="770"/>
  <p:cmAuthor id="772" name="Yellow" initials="Y" lastIdx="0" clrIdx="771"/>
  <p:cmAuthor id="773" name="叶红霞" initials="叶红霞" lastIdx="0" clrIdx="772"/>
  <p:cmAuthor id="774" name="ZKL" initials="1" lastIdx="0" clrIdx="773"/>
  <p:cmAuthor id="775" name="Colinsboringlife" initials="C" lastIdx="0" clrIdx="774"/>
  <p:cmAuthor id="776" name="wukamen" initials="w" lastIdx="0" clrIdx="775"/>
  <p:cmAuthor id="777" name="刘可心" initials="2" lastIdx="0" clrIdx="776"/>
  <p:cmAuthor id="778" name="康馨雅善" initials="康" lastIdx="0" clrIdx="777"/>
  <p:cmAuthor id="779" name="unazuo" initials="u" lastIdx="0" clrIdx="778"/>
  <p:cmAuthor id="780" name="xiaoliu" initials="x" lastIdx="0" clrIdx="779"/>
  <p:cmAuthor id="781" name="vivianyang" initials="v" lastIdx="0" clrIdx="780"/>
  <p:cmAuthor id="782" name="周远川" initials="周远川" lastIdx="0" clrIdx="781"/>
  <p:cmAuthor id="783" name="Mo" initials="M" lastIdx="0" clrIdx="782"/>
  <p:cmAuthor id="784" name="INNPT" initials="I" lastIdx="0" clrIdx="783"/>
  <p:cmAuthor id="785" name="jt.wu" initials="j" lastIdx="0" clrIdx="784"/>
  <p:cmAuthor id="786" name="xm.li01" initials="x" lastIdx="0" clrIdx="785"/>
  <p:cmAuthor id="787" name="hyrx05" initials="h" lastIdx="0" clrIdx="786"/>
  <p:cmAuthor id="788" name="aiye" initials="a" lastIdx="0" clrIdx="787"/>
  <p:cmAuthor id="789" name="派芽-石头" initials="authorId_331141400" lastIdx="0" clrIdx="788"/>
  <p:cmAuthor id="790" name="rikki" initials="r" lastIdx="0" clrIdx="789"/>
  <p:cmAuthor id="791" name="u 001" initials="u0" lastIdx="0" clrIdx="790"/>
  <p:cmAuthor id="792" name="u 006" initials="u0" lastIdx="0" clrIdx="791"/>
  <p:cmAuthor id="793" name="115939" initials="1" lastIdx="0" clrIdx="792"/>
  <p:cmAuthor id="794" name="KKE" initials="K" lastIdx="0" clrIdx="793"/>
  <p:cmAuthor id="795" name="Kimlan" initials="K" lastIdx="0" clrIdx="794"/>
  <p:cmAuthor id="796" name="乔安_uEzabURN" initials="authorId_231700224" lastIdx="0" clrIdx="795"/>
  <p:cmAuthor id="797" name="晓梅 骆" initials="晓骆" lastIdx="0" clrIdx="796"/>
  <p:cmAuthor id="798" name="xschao" initials="x" lastIdx="0" clrIdx="797"/>
  <p:cmAuthor id="799" name="JUN  XU CHU" initials="JC" lastIdx="0" clrIdx="798"/>
  <p:cmAuthor id="800" name="梁婷婷" initials="梁婷婷" lastIdx="0" clrIdx="799"/>
  <p:cmAuthor id="801" name="Diamond, David" initials="DD" lastIdx="0" clrIdx="800"/>
  <p:cmAuthor id="802" name="Zhang, Zixin" initials="ZZ" lastIdx="0" clrIdx="801"/>
  <p:cmAuthor id="803" name="燕平" initials="燕" lastIdx="0" clrIdx="802"/>
  <p:cmAuthor id="804" name="Lin, Yang" initials="LY" lastIdx="0" clrIdx="803"/>
  <p:cmAuthor id="805" name="" initials="" lastIdx="0" clrIdx="804"/>
  <p:cmAuthor id="806" name="许永利" initials="许" lastIdx="0" clrIdx="805"/>
  <p:cmAuthor id="807" name="wanglina" initials="w" lastIdx="0" clrIdx="806"/>
  <p:cmAuthor id="808" name="office365" initials="o" lastIdx="0" clrIdx="807"/>
  <p:cmAuthor id="809" name="史战飞" initials="史" lastIdx="0" clrIdx="808"/>
  <p:cmAuthor id="810" name="dengshana" initials="d" lastIdx="0" clrIdx="809"/>
  <p:cmAuthor id="811" name="柴志强" initials="柴" lastIdx="0" clrIdx="810"/>
  <p:cmAuthor id="812" name="51400" initials="5" lastIdx="0" clrIdx="811"/>
  <p:cmAuthor id="813" name="宋尚瑾" initials="宋" lastIdx="0" clrIdx="812"/>
  <p:cmAuthor id="814" name="86152" initials="8" lastIdx="0" clrIdx="813"/>
  <p:cmAuthor id="815" name="常文东" initials="常文东" lastIdx="0" clrIdx="814"/>
  <p:cmAuthor id="816" name="余志宝" initials="余" lastIdx="0" clrIdx="815"/>
  <p:cmAuthor id="817" name="guozhongliang" initials="g" lastIdx="0" clrIdx="816"/>
  <p:cmAuthor id="818" name="陈婷婷" initials="陈" lastIdx="0" clrIdx="817"/>
  <p:cmAuthor id="819" name="Emily" initials="E" lastIdx="0" clrIdx="818"/>
  <p:cmAuthor id="820" name="王海宁" initials="s" lastIdx="0" clrIdx="819"/>
  <p:cmAuthor id="821" name="张国强" initials="张国强" lastIdx="0" clrIdx="820"/>
  <p:cmAuthor id="822" name="8237476547" initials="8" lastIdx="0" clrIdx="821"/>
  <p:cmAuthor id="823" name="李国樑(质量管理评审部)" initials="MSOffice" lastIdx="0" clrIdx="822"/>
  <p:cmAuthor id="824" name="刘 三一" initials="刘" lastIdx="0" clrIdx="823"/>
  <p:cmAuthor id="825" name="DELL" initials="D" lastIdx="0" clrIdx="824"/>
  <p:cmAuthor id="826" name="jeneyliou" initials="j" lastIdx="0" clrIdx="825"/>
  <p:cmAuthor id="827" name="0138915" initials="0" lastIdx="0" clrIdx="826"/>
  <p:cmAuthor id="828" name="g.o.d" initials="g" lastIdx="0" clrIdx="827"/>
  <p:cmAuthor id="829" name="diron" initials="d" lastIdx="0" clrIdx="828"/>
  <p:cmAuthor id="830" name="周玲秀(营销人力资源部)" initials="周玲秀(营销人力资源部)" lastIdx="0" clrIdx="829"/>
  <p:cmAuthor id="831" name="熊思华(人力资源部)" initials="熊思华(人力资源部)" lastIdx="0" clrIdx="830"/>
  <p:cmAuthor id="832" name="0119202" initials="0" lastIdx="0" clrIdx="831"/>
  <p:cmAuthor id="833" name="NicoleLi" initials="N" lastIdx="0" clrIdx="832"/>
  <p:cmAuthor id="834" name="*不忘初心。" initials="*" lastIdx="0" clrIdx="833"/>
  <p:cmAuthor id="835" name="可可" initials="可" lastIdx="0" clrIdx="834"/>
  <p:cmAuthor id="836" name="兮颜" initials="兮" lastIdx="0" clrIdx="835"/>
  <p:cmAuthor id="837" name="柏晓丽" initials="柏" lastIdx="0" clrIdx="836"/>
  <p:cmAuthor id="838" name="H的平方" initials="H" lastIdx="0" clrIdx="837"/>
  <p:cmAuthor id="839" name="田彦飞" initials="田" lastIdx="0" clrIdx="838"/>
  <p:cmAuthor id="840" name="艳 李" initials="艳李" lastIdx="0" clrIdx="839"/>
  <p:cmAuthor id="841" name="小超超" initials="小" lastIdx="0" clrIdx="840"/>
  <p:cmAuthor id="842" name="Jekyll:D" initials="J" lastIdx="0" clrIdx="841"/>
  <p:cmAuthor id="843" name="Suiren" initials="S" lastIdx="0" clrIdx="842"/>
  <p:cmAuthor id="844" name="人生处处有惊喜" initials="人" lastIdx="0" clrIdx="843"/>
  <p:cmAuthor id="845" name="蓝霖" initials="蓝" lastIdx="0" clrIdx="844"/>
  <p:cmAuthor id="846" name="沈霄雷" initials="沈" lastIdx="0" clrIdx="845"/>
  <p:cmAuthor id="847" name="李哲(ZheLi)-顺丰科技" initials="a" lastIdx="0" clrIdx="846"/>
  <p:cmAuthor id="848" name="Jack" initials="J" lastIdx="0" clrIdx="847"/>
  <p:cmAuthor id="849" name="SFUser" initials="S" lastIdx="0" clrIdx="848"/>
  <p:cmAuthor id="850" name="颜丽" initials="颜" lastIdx="0" clrIdx="849"/>
  <p:cmAuthor id="851" name="Windows User" initials="WU" lastIdx="0" clrIdx="850"/>
  <p:cmAuthor id="852" name="李江林_BBvuArei" initials="authorId_917069" lastIdx="0" clrIdx="851"/>
  <p:cmAuthor id="853" name="李 夏琳" initials="李" lastIdx="0" clrIdx="852"/>
  <p:cmAuthor id="854" name="0hh" initials="0" lastIdx="0" clrIdx="853"/>
  <p:cmAuthor id="855" name="差点儿呗" initials="差" lastIdx="0" clrIdx="854"/>
  <p:cmAuthor id="856" name="拾光志㎡" initials="拾" lastIdx="0" clrIdx="855"/>
  <p:cmAuthor id="857" name="刘磊" initials="刘" lastIdx="0" clrIdx="856"/>
  <p:cmAuthor id="858" name="雷毅" initials="雷" lastIdx="0" clrIdx="857"/>
  <p:cmAuthor id="859" name="@小猩猩" initials="@" lastIdx="0" clrIdx="858"/>
  <p:cmAuthor id="860" name="郭丽娟" initials="郭" lastIdx="0" clrIdx="859"/>
  <p:cmAuthor id="861" name="Wych" initials="W" lastIdx="0" clrIdx="860"/>
  <p:cmAuthor id="862" name="0116579" initials="0" lastIdx="0" clrIdx="861"/>
  <p:cmAuthor id="863" name="言吾故语" initials="言" lastIdx="0" clrIdx="862"/>
  <p:cmAuthor id="864" name="寇煜" initials="寇" lastIdx="0" clrIdx="863"/>
  <p:cmAuthor id="865" name="付春鸥" initials="付" lastIdx="0" clrIdx="864"/>
  <p:cmAuthor id="866" name="宋春华" initials="宋" lastIdx="0" clrIdx="865"/>
  <p:cmAuthor id="867" name="付文双" initials="付" lastIdx="0" clrIdx="866"/>
  <p:cmAuthor id="868" name="王梓合" initials="王" lastIdx="0" clrIdx="867"/>
  <p:cmAuthor id="869" name="秋澄万景清" initials="秋" lastIdx="0" clrIdx="868"/>
  <p:cmAuthor id="870" name="李 钏" initials="李" lastIdx="0" clrIdx="869"/>
  <p:cmAuthor id="871" name="蒋凡（OPS）" initials="蒋凡（OPS）" lastIdx="0" clrIdx="870"/>
  <p:cmAuthor id="872" name="Shang Xiaokun" initials="MO用" lastIdx="0" clrIdx="871"/>
  <p:cmAuthor id="873" name="于静" initials="于" lastIdx="0" clrIdx="872"/>
  <p:cmAuthor id="874" name="Nicole" initials="N" lastIdx="0" clrIdx="873"/>
  <p:cmAuthor id="875" name="0094124" initials="0" lastIdx="0" clrIdx="874"/>
  <p:cmAuthor id="876" name="郝允允" initials="郝" lastIdx="0" clrIdx="875"/>
  <p:cmAuthor id="877" name="陈贵荣" initials="陈" lastIdx="0" clrIdx="876"/>
  <p:cmAuthor id="878" name="益达" initials="益" lastIdx="0" clrIdx="877"/>
  <p:cmAuthor id="879" name="李军" initials="authorId_55968631" lastIdx="0" clrIdx="878"/>
  <p:cmAuthor id="880" name="颜丽(优益C品牌部_1)" initials="颜丽(优益C品牌部_1)" lastIdx="0" clrIdx="879"/>
  <p:cmAuthor id="881" name="lamsfeld" initials="l" lastIdx="0" clrIdx="880"/>
  <p:cmAuthor id="882" name="记忆" initials="记" lastIdx="0" clrIdx="88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80"/>
        <p:guide pos="28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Users\&#26446;&#38632;&#24420;\Downloads\3032d92b63e33736880875ef86fb4176.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26446;&#38632;&#24420;\Downloads\3032d92b63e33736880875ef86fb4176.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3"/>
    </mc:Choice>
    <mc:Fallback>
      <c:style val="3"/>
    </mc:Fallback>
  </mc:AlternateContent>
  <c:chart>
    <c:title>
      <c:layout/>
      <c:overlay val="0"/>
      <c:spPr>
        <a:noFill/>
        <a:ln>
          <a:noFill/>
        </a:ln>
        <a:effectLst/>
      </c:spPr>
      <c:txPr>
        <a:bodyPr rot="0" spcFirstLastPara="0" vertOverflow="ellipsis" vert="horz" wrap="square" anchor="ctr" anchorCtr="1"/>
        <a:lstStyle/>
        <a:p>
          <a:pPr>
            <a:defRPr lang="zh-CN" sz="1200" b="1" i="0" u="none" strike="noStrike" kern="1200" baseline="0">
              <a:solidFill>
                <a:srgbClr val="D8D8D8"/>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title>
    <c:autoTitleDeleted val="0"/>
    <c:plotArea>
      <c:layout>
        <c:manualLayout>
          <c:layoutTarget val="inner"/>
          <c:xMode val="edge"/>
          <c:yMode val="edge"/>
          <c:x val="0.0725728623817796"/>
          <c:y val="0.117465590887518"/>
          <c:w val="0.835456475583864"/>
          <c:h val="0.716579655117861"/>
        </c:manualLayout>
      </c:layout>
      <c:lineChart>
        <c:grouping val="standard"/>
        <c:varyColors val="0"/>
        <c:ser>
          <c:idx val="0"/>
          <c:order val="0"/>
          <c:tx>
            <c:strRef>
              <c:f>[3032d92b63e33736880875ef86fb4176.xlsx]Sheet1!$H$3</c:f>
              <c:strCache>
                <c:ptCount val="1"/>
                <c:pt idx="0">
                  <c:v>搜索词包日均</c:v>
                </c:pt>
              </c:strCache>
            </c:strRef>
          </c:tx>
          <c:spPr>
            <a:ln w="28575" cap="rnd">
              <a:solidFill>
                <a:schemeClr val="accent1"/>
              </a:solidFill>
              <a:round/>
            </a:ln>
            <a:effectLst/>
          </c:spPr>
          <c:marker>
            <c:symbol val="none"/>
          </c:marker>
          <c:dLbls>
            <c:delete val="1"/>
          </c:dLbls>
          <c:cat>
            <c:numRef>
              <c:f>[3032d92b63e33736880875ef86fb4176.xlsx]Sheet1!$G$4:$G$64</c:f>
              <c:numCache>
                <c:formatCode>m"月"d"日"</c:formatCode>
                <c:ptCount val="61"/>
                <c:pt idx="0" c:formatCode="m&quot;月&quot;d&quot;日&quot;">
                  <c:v>46219</c:v>
                </c:pt>
                <c:pt idx="1" c:formatCode="m&quot;月&quot;d&quot;日&quot;">
                  <c:v>46220</c:v>
                </c:pt>
                <c:pt idx="2" c:formatCode="m&quot;月&quot;d&quot;日&quot;">
                  <c:v>46221</c:v>
                </c:pt>
                <c:pt idx="3" c:formatCode="m&quot;月&quot;d&quot;日&quot;">
                  <c:v>46222</c:v>
                </c:pt>
                <c:pt idx="4" c:formatCode="m&quot;月&quot;d&quot;日&quot;">
                  <c:v>46223</c:v>
                </c:pt>
                <c:pt idx="5" c:formatCode="m&quot;月&quot;d&quot;日&quot;">
                  <c:v>46224</c:v>
                </c:pt>
                <c:pt idx="6" c:formatCode="m&quot;月&quot;d&quot;日&quot;">
                  <c:v>46225</c:v>
                </c:pt>
                <c:pt idx="7" c:formatCode="m&quot;月&quot;d&quot;日&quot;">
                  <c:v>46226</c:v>
                </c:pt>
                <c:pt idx="8" c:formatCode="m&quot;月&quot;d&quot;日&quot;">
                  <c:v>46227</c:v>
                </c:pt>
                <c:pt idx="9" c:formatCode="m&quot;月&quot;d&quot;日&quot;">
                  <c:v>46228</c:v>
                </c:pt>
                <c:pt idx="10" c:formatCode="m&quot;月&quot;d&quot;日&quot;">
                  <c:v>46229</c:v>
                </c:pt>
                <c:pt idx="11" c:formatCode="m&quot;月&quot;d&quot;日&quot;">
                  <c:v>46230</c:v>
                </c:pt>
                <c:pt idx="12" c:formatCode="m&quot;月&quot;d&quot;日&quot;">
                  <c:v>46231</c:v>
                </c:pt>
                <c:pt idx="13" c:formatCode="m&quot;月&quot;d&quot;日&quot;">
                  <c:v>46232</c:v>
                </c:pt>
                <c:pt idx="14" c:formatCode="m&quot;月&quot;d&quot;日&quot;">
                  <c:v>46233</c:v>
                </c:pt>
                <c:pt idx="15" c:formatCode="m&quot;月&quot;d&quot;日&quot;">
                  <c:v>46234</c:v>
                </c:pt>
                <c:pt idx="16" c:formatCode="m&quot;月&quot;d&quot;日&quot;">
                  <c:v>46235</c:v>
                </c:pt>
                <c:pt idx="17" c:formatCode="m&quot;月&quot;d&quot;日&quot;">
                  <c:v>46236</c:v>
                </c:pt>
                <c:pt idx="18" c:formatCode="m&quot;月&quot;d&quot;日&quot;">
                  <c:v>46237</c:v>
                </c:pt>
                <c:pt idx="19" c:formatCode="m&quot;月&quot;d&quot;日&quot;">
                  <c:v>46238</c:v>
                </c:pt>
                <c:pt idx="20" c:formatCode="m&quot;月&quot;d&quot;日&quot;">
                  <c:v>46239</c:v>
                </c:pt>
                <c:pt idx="21" c:formatCode="m&quot;月&quot;d&quot;日&quot;">
                  <c:v>46240</c:v>
                </c:pt>
                <c:pt idx="22" c:formatCode="m&quot;月&quot;d&quot;日&quot;">
                  <c:v>46241</c:v>
                </c:pt>
                <c:pt idx="23" c:formatCode="m&quot;月&quot;d&quot;日&quot;">
                  <c:v>46242</c:v>
                </c:pt>
                <c:pt idx="24" c:formatCode="m&quot;月&quot;d&quot;日&quot;">
                  <c:v>46243</c:v>
                </c:pt>
                <c:pt idx="25" c:formatCode="m&quot;月&quot;d&quot;日&quot;">
                  <c:v>46244</c:v>
                </c:pt>
                <c:pt idx="26" c:formatCode="m&quot;月&quot;d&quot;日&quot;">
                  <c:v>46245</c:v>
                </c:pt>
                <c:pt idx="27" c:formatCode="m&quot;月&quot;d&quot;日&quot;">
                  <c:v>46246</c:v>
                </c:pt>
                <c:pt idx="28" c:formatCode="m&quot;月&quot;d&quot;日&quot;">
                  <c:v>46247</c:v>
                </c:pt>
                <c:pt idx="29" c:formatCode="m&quot;月&quot;d&quot;日&quot;">
                  <c:v>46248</c:v>
                </c:pt>
                <c:pt idx="30" c:formatCode="m&quot;月&quot;d&quot;日&quot;">
                  <c:v>46249</c:v>
                </c:pt>
                <c:pt idx="31" c:formatCode="m&quot;月&quot;d&quot;日&quot;">
                  <c:v>46250</c:v>
                </c:pt>
                <c:pt idx="32" c:formatCode="m&quot;月&quot;d&quot;日&quot;">
                  <c:v>46251</c:v>
                </c:pt>
                <c:pt idx="33" c:formatCode="m&quot;月&quot;d&quot;日&quot;">
                  <c:v>46252</c:v>
                </c:pt>
                <c:pt idx="34" c:formatCode="m&quot;月&quot;d&quot;日&quot;">
                  <c:v>46253</c:v>
                </c:pt>
                <c:pt idx="35" c:formatCode="m&quot;月&quot;d&quot;日&quot;">
                  <c:v>46254</c:v>
                </c:pt>
                <c:pt idx="36" c:formatCode="m&quot;月&quot;d&quot;日&quot;">
                  <c:v>46255</c:v>
                </c:pt>
                <c:pt idx="37" c:formatCode="m&quot;月&quot;d&quot;日&quot;">
                  <c:v>46256</c:v>
                </c:pt>
                <c:pt idx="38" c:formatCode="m&quot;月&quot;d&quot;日&quot;">
                  <c:v>46257</c:v>
                </c:pt>
                <c:pt idx="39" c:formatCode="m&quot;月&quot;d&quot;日&quot;">
                  <c:v>46258</c:v>
                </c:pt>
                <c:pt idx="40" c:formatCode="m&quot;月&quot;d&quot;日&quot;">
                  <c:v>46259</c:v>
                </c:pt>
                <c:pt idx="41" c:formatCode="m&quot;月&quot;d&quot;日&quot;">
                  <c:v>46260</c:v>
                </c:pt>
                <c:pt idx="42" c:formatCode="m&quot;月&quot;d&quot;日&quot;">
                  <c:v>46261</c:v>
                </c:pt>
                <c:pt idx="43" c:formatCode="m&quot;月&quot;d&quot;日&quot;">
                  <c:v>46262</c:v>
                </c:pt>
                <c:pt idx="44" c:formatCode="m&quot;月&quot;d&quot;日&quot;">
                  <c:v>46263</c:v>
                </c:pt>
                <c:pt idx="45" c:formatCode="m&quot;月&quot;d&quot;日&quot;">
                  <c:v>46264</c:v>
                </c:pt>
                <c:pt idx="46" c:formatCode="m&quot;月&quot;d&quot;日&quot;">
                  <c:v>46265</c:v>
                </c:pt>
                <c:pt idx="47" c:formatCode="m&quot;月&quot;d&quot;日&quot;">
                  <c:v>46266</c:v>
                </c:pt>
                <c:pt idx="48" c:formatCode="m&quot;月&quot;d&quot;日&quot;">
                  <c:v>46267</c:v>
                </c:pt>
                <c:pt idx="49" c:formatCode="m&quot;月&quot;d&quot;日&quot;">
                  <c:v>46268</c:v>
                </c:pt>
                <c:pt idx="50" c:formatCode="m&quot;月&quot;d&quot;日&quot;">
                  <c:v>46269</c:v>
                </c:pt>
                <c:pt idx="51" c:formatCode="m&quot;月&quot;d&quot;日&quot;">
                  <c:v>46270</c:v>
                </c:pt>
                <c:pt idx="52" c:formatCode="m&quot;月&quot;d&quot;日&quot;">
                  <c:v>46271</c:v>
                </c:pt>
                <c:pt idx="53" c:formatCode="m&quot;月&quot;d&quot;日&quot;">
                  <c:v>46272</c:v>
                </c:pt>
                <c:pt idx="54" c:formatCode="m&quot;月&quot;d&quot;日&quot;">
                  <c:v>46273</c:v>
                </c:pt>
                <c:pt idx="55" c:formatCode="m&quot;月&quot;d&quot;日&quot;">
                  <c:v>46274</c:v>
                </c:pt>
                <c:pt idx="56" c:formatCode="m&quot;月&quot;d&quot;日&quot;">
                  <c:v>46275</c:v>
                </c:pt>
                <c:pt idx="57" c:formatCode="m&quot;月&quot;d&quot;日&quot;">
                  <c:v>46276</c:v>
                </c:pt>
                <c:pt idx="58" c:formatCode="m&quot;月&quot;d&quot;日&quot;">
                  <c:v>46277</c:v>
                </c:pt>
                <c:pt idx="59" c:formatCode="m&quot;月&quot;d&quot;日&quot;">
                  <c:v>46278</c:v>
                </c:pt>
                <c:pt idx="60" c:formatCode="m&quot;月&quot;d&quot;日&quot;">
                  <c:v>46279</c:v>
                </c:pt>
              </c:numCache>
            </c:numRef>
          </c:cat>
          <c:val>
            <c:numRef>
              <c:f>[3032d92b63e33736880875ef86fb4176.xlsx]Sheet1!$H$4:$H$64</c:f>
              <c:numCache>
                <c:formatCode>General</c:formatCode>
                <c:ptCount val="61"/>
                <c:pt idx="0">
                  <c:v>976</c:v>
                </c:pt>
                <c:pt idx="1">
                  <c:v>955</c:v>
                </c:pt>
                <c:pt idx="2">
                  <c:v>1024</c:v>
                </c:pt>
                <c:pt idx="3">
                  <c:v>1191</c:v>
                </c:pt>
                <c:pt idx="4">
                  <c:v>1286</c:v>
                </c:pt>
                <c:pt idx="5">
                  <c:v>1103</c:v>
                </c:pt>
                <c:pt idx="6">
                  <c:v>982</c:v>
                </c:pt>
                <c:pt idx="7">
                  <c:v>1492</c:v>
                </c:pt>
                <c:pt idx="8">
                  <c:v>1378</c:v>
                </c:pt>
                <c:pt idx="9">
                  <c:v>1318</c:v>
                </c:pt>
                <c:pt idx="10">
                  <c:v>1294</c:v>
                </c:pt>
                <c:pt idx="11">
                  <c:v>1386</c:v>
                </c:pt>
                <c:pt idx="12">
                  <c:v>1556</c:v>
                </c:pt>
                <c:pt idx="13">
                  <c:v>1236</c:v>
                </c:pt>
                <c:pt idx="14">
                  <c:v>1527</c:v>
                </c:pt>
                <c:pt idx="15">
                  <c:v>1476</c:v>
                </c:pt>
                <c:pt idx="16">
                  <c:v>1810</c:v>
                </c:pt>
                <c:pt idx="17">
                  <c:v>2011</c:v>
                </c:pt>
                <c:pt idx="18">
                  <c:v>1624</c:v>
                </c:pt>
                <c:pt idx="19">
                  <c:v>1545</c:v>
                </c:pt>
                <c:pt idx="20">
                  <c:v>1191</c:v>
                </c:pt>
                <c:pt idx="21">
                  <c:v>1175</c:v>
                </c:pt>
                <c:pt idx="22">
                  <c:v>1360</c:v>
                </c:pt>
                <c:pt idx="23">
                  <c:v>1373</c:v>
                </c:pt>
                <c:pt idx="24">
                  <c:v>1373</c:v>
                </c:pt>
                <c:pt idx="25">
                  <c:v>1064</c:v>
                </c:pt>
                <c:pt idx="26">
                  <c:v>1034</c:v>
                </c:pt>
                <c:pt idx="27">
                  <c:v>1061</c:v>
                </c:pt>
                <c:pt idx="28">
                  <c:v>1034</c:v>
                </c:pt>
                <c:pt idx="29">
                  <c:v>1090</c:v>
                </c:pt>
                <c:pt idx="30">
                  <c:v>1326</c:v>
                </c:pt>
                <c:pt idx="31">
                  <c:v>1318</c:v>
                </c:pt>
                <c:pt idx="32">
                  <c:v>1471</c:v>
                </c:pt>
                <c:pt idx="33">
                  <c:v>1505</c:v>
                </c:pt>
                <c:pt idx="34">
                  <c:v>1288</c:v>
                </c:pt>
                <c:pt idx="35">
                  <c:v>1193</c:v>
                </c:pt>
                <c:pt idx="36">
                  <c:v>1095</c:v>
                </c:pt>
                <c:pt idx="37">
                  <c:v>1328</c:v>
                </c:pt>
                <c:pt idx="38">
                  <c:v>1913</c:v>
                </c:pt>
                <c:pt idx="39">
                  <c:v>1902</c:v>
                </c:pt>
                <c:pt idx="40">
                  <c:v>1265</c:v>
                </c:pt>
                <c:pt idx="41">
                  <c:v>1161</c:v>
                </c:pt>
                <c:pt idx="42">
                  <c:v>1286</c:v>
                </c:pt>
                <c:pt idx="43">
                  <c:v>1029</c:v>
                </c:pt>
                <c:pt idx="44">
                  <c:v>1180</c:v>
                </c:pt>
                <c:pt idx="45">
                  <c:v>1336</c:v>
                </c:pt>
                <c:pt idx="46">
                  <c:v>1307</c:v>
                </c:pt>
                <c:pt idx="47">
                  <c:v>1540</c:v>
                </c:pt>
                <c:pt idx="48">
                  <c:v>2032</c:v>
                </c:pt>
                <c:pt idx="49">
                  <c:v>1500</c:v>
                </c:pt>
                <c:pt idx="50">
                  <c:v>1296</c:v>
                </c:pt>
                <c:pt idx="51">
                  <c:v>1474</c:v>
                </c:pt>
                <c:pt idx="52">
                  <c:v>2270</c:v>
                </c:pt>
                <c:pt idx="53">
                  <c:v>1569</c:v>
                </c:pt>
                <c:pt idx="54">
                  <c:v>1453</c:v>
                </c:pt>
                <c:pt idx="55">
                  <c:v>1426</c:v>
                </c:pt>
                <c:pt idx="56">
                  <c:v>1513</c:v>
                </c:pt>
                <c:pt idx="57">
                  <c:v>1246</c:v>
                </c:pt>
                <c:pt idx="58">
                  <c:v>1672</c:v>
                </c:pt>
                <c:pt idx="59">
                  <c:v>1693</c:v>
                </c:pt>
                <c:pt idx="60">
                  <c:v>1696</c:v>
                </c:pt>
              </c:numCache>
            </c:numRef>
          </c:val>
          <c:smooth val="0"/>
        </c:ser>
        <c:dLbls>
          <c:showLegendKey val="0"/>
          <c:showVal val="0"/>
          <c:showCatName val="0"/>
          <c:showSerName val="0"/>
          <c:showPercent val="0"/>
          <c:showBubbleSize val="0"/>
        </c:dLbls>
        <c:marker val="0"/>
        <c:smooth val="0"/>
        <c:axId val="367822682"/>
        <c:axId val="384361808"/>
      </c:lineChart>
      <c:dateAx>
        <c:axId val="367822682"/>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0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384361808"/>
        <c:crosses val="autoZero"/>
        <c:auto val="1"/>
        <c:lblOffset val="100"/>
        <c:baseTimeUnit val="days"/>
      </c:dateAx>
      <c:valAx>
        <c:axId val="384361808"/>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10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367822682"/>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0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overlay val="0"/>
      <c:spPr>
        <a:noFill/>
        <a:ln>
          <a:noFill/>
        </a:ln>
        <a:effectLst/>
      </c:spPr>
      <c:txPr>
        <a:bodyPr rot="0" spcFirstLastPara="0" vertOverflow="ellipsis" vert="horz" wrap="square" anchor="ctr" anchorCtr="1"/>
        <a:lstStyle/>
        <a:p>
          <a:pPr>
            <a:defRPr lang="zh-CN" sz="10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3d48d38b-ce34-42fa-8a93-4689cd3be233}"/>
      </c:ext>
    </c:extLst>
  </c:chart>
  <c:spPr>
    <a:noFill/>
    <a:ln w="9525" cap="flat" cmpd="sng" algn="ctr">
      <a:solidFill>
        <a:schemeClr val="tx1"/>
      </a:solidFill>
      <a:round/>
    </a:ln>
    <a:effectLst/>
  </c:spPr>
  <c:txPr>
    <a:bodyPr/>
    <a:lstStyle/>
    <a:p>
      <a:pPr>
        <a:defRPr lang="zh-CN" sz="1000">
          <a:solidFill>
            <a:srgbClr val="D8D8D8"/>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r>
              <a:rPr lang="en-US" altLang="zh-CN">
                <a:solidFill>
                  <a:srgbClr val="D8D8D8"/>
                </a:solidFill>
                <a:latin typeface="微软雅黑" panose="020B0503020204020204" charset="-122"/>
                <a:ea typeface="微软雅黑" panose="020B0503020204020204" charset="-122"/>
                <a:cs typeface="微软雅黑" panose="020B0503020204020204" charset="-122"/>
              </a:rPr>
              <a:t>top2-top4</a:t>
            </a:r>
            <a:r>
              <a:rPr altLang="en-US">
                <a:solidFill>
                  <a:srgbClr val="D8D8D8"/>
                </a:solidFill>
                <a:latin typeface="微软雅黑" panose="020B0503020204020204" charset="-122"/>
                <a:ea typeface="微软雅黑" panose="020B0503020204020204" charset="-122"/>
                <a:cs typeface="微软雅黑" panose="020B0503020204020204" charset="-122"/>
              </a:rPr>
              <a:t>搜索词趋势</a:t>
            </a:r>
            <a:endParaRPr altLang="en-US">
              <a:solidFill>
                <a:srgbClr val="D8D8D8"/>
              </a:solidFill>
              <a:latin typeface="微软雅黑" panose="020B0503020204020204" charset="-122"/>
              <a:ea typeface="微软雅黑" panose="020B0503020204020204" charset="-122"/>
              <a:cs typeface="微软雅黑" panose="020B0503020204020204" charset="-122"/>
            </a:endParaRPr>
          </a:p>
        </c:rich>
      </c:tx>
      <c:layout/>
      <c:overlay val="0"/>
      <c:spPr>
        <a:noFill/>
        <a:ln>
          <a:noFill/>
        </a:ln>
        <a:effectLst/>
      </c:spPr>
    </c:title>
    <c:autoTitleDeleted val="0"/>
    <c:plotArea>
      <c:layout>
        <c:manualLayout>
          <c:layoutTarget val="inner"/>
          <c:xMode val="edge"/>
          <c:yMode val="edge"/>
          <c:x val="0.0708684210526316"/>
          <c:y val="0.229861111111111"/>
          <c:w val="0.900184210526316"/>
          <c:h val="0.659814814814815"/>
        </c:manualLayout>
      </c:layout>
      <c:lineChart>
        <c:grouping val="standard"/>
        <c:varyColors val="0"/>
        <c:ser>
          <c:idx val="0"/>
          <c:order val="0"/>
          <c:tx>
            <c:strRef>
              <c:f>[3032d92b63e33736880875ef86fb4176.xlsx]Sheet1!$P$3</c:f>
              <c:strCache>
                <c:ptCount val="1"/>
                <c:pt idx="0">
                  <c:v>凯乐石黑山</c:v>
                </c:pt>
              </c:strCache>
            </c:strRef>
          </c:tx>
          <c:spPr>
            <a:ln w="28575" cap="rnd">
              <a:solidFill>
                <a:schemeClr val="accent1"/>
              </a:solidFill>
              <a:round/>
            </a:ln>
            <a:effectLst/>
          </c:spPr>
          <c:marker>
            <c:symbol val="none"/>
          </c:marker>
          <c:dLbls>
            <c:delete val="1"/>
          </c:dLbls>
          <c:cat>
            <c:numRef>
              <c:f>[3032d92b63e33736880875ef86fb4176.xlsx]Sheet1!$O$4:$O$64</c:f>
              <c:numCache>
                <c:formatCode>m"月"d"日"</c:formatCode>
                <c:ptCount val="61"/>
                <c:pt idx="0" c:formatCode="m&quot;月&quot;d&quot;日&quot;">
                  <c:v>46219</c:v>
                </c:pt>
                <c:pt idx="1" c:formatCode="m&quot;月&quot;d&quot;日&quot;">
                  <c:v>46220</c:v>
                </c:pt>
                <c:pt idx="2" c:formatCode="m&quot;月&quot;d&quot;日&quot;">
                  <c:v>46221</c:v>
                </c:pt>
                <c:pt idx="3" c:formatCode="m&quot;月&quot;d&quot;日&quot;">
                  <c:v>46222</c:v>
                </c:pt>
                <c:pt idx="4" c:formatCode="m&quot;月&quot;d&quot;日&quot;">
                  <c:v>46223</c:v>
                </c:pt>
                <c:pt idx="5" c:formatCode="m&quot;月&quot;d&quot;日&quot;">
                  <c:v>46224</c:v>
                </c:pt>
                <c:pt idx="6" c:formatCode="m&quot;月&quot;d&quot;日&quot;">
                  <c:v>46225</c:v>
                </c:pt>
                <c:pt idx="7" c:formatCode="m&quot;月&quot;d&quot;日&quot;">
                  <c:v>46226</c:v>
                </c:pt>
                <c:pt idx="8" c:formatCode="m&quot;月&quot;d&quot;日&quot;">
                  <c:v>46227</c:v>
                </c:pt>
                <c:pt idx="9" c:formatCode="m&quot;月&quot;d&quot;日&quot;">
                  <c:v>46228</c:v>
                </c:pt>
                <c:pt idx="10" c:formatCode="m&quot;月&quot;d&quot;日&quot;">
                  <c:v>46229</c:v>
                </c:pt>
                <c:pt idx="11" c:formatCode="m&quot;月&quot;d&quot;日&quot;">
                  <c:v>46230</c:v>
                </c:pt>
                <c:pt idx="12" c:formatCode="m&quot;月&quot;d&quot;日&quot;">
                  <c:v>46231</c:v>
                </c:pt>
                <c:pt idx="13" c:formatCode="m&quot;月&quot;d&quot;日&quot;">
                  <c:v>46232</c:v>
                </c:pt>
                <c:pt idx="14" c:formatCode="m&quot;月&quot;d&quot;日&quot;">
                  <c:v>46233</c:v>
                </c:pt>
                <c:pt idx="15" c:formatCode="m&quot;月&quot;d&quot;日&quot;">
                  <c:v>46234</c:v>
                </c:pt>
                <c:pt idx="16" c:formatCode="m&quot;月&quot;d&quot;日&quot;">
                  <c:v>46235</c:v>
                </c:pt>
                <c:pt idx="17" c:formatCode="m&quot;月&quot;d&quot;日&quot;">
                  <c:v>46236</c:v>
                </c:pt>
                <c:pt idx="18" c:formatCode="m&quot;月&quot;d&quot;日&quot;">
                  <c:v>46237</c:v>
                </c:pt>
                <c:pt idx="19" c:formatCode="m&quot;月&quot;d&quot;日&quot;">
                  <c:v>46238</c:v>
                </c:pt>
                <c:pt idx="20" c:formatCode="m&quot;月&quot;d&quot;日&quot;">
                  <c:v>46239</c:v>
                </c:pt>
                <c:pt idx="21" c:formatCode="m&quot;月&quot;d&quot;日&quot;">
                  <c:v>46240</c:v>
                </c:pt>
                <c:pt idx="22" c:formatCode="m&quot;月&quot;d&quot;日&quot;">
                  <c:v>46241</c:v>
                </c:pt>
                <c:pt idx="23" c:formatCode="m&quot;月&quot;d&quot;日&quot;">
                  <c:v>46242</c:v>
                </c:pt>
                <c:pt idx="24" c:formatCode="m&quot;月&quot;d&quot;日&quot;">
                  <c:v>46243</c:v>
                </c:pt>
                <c:pt idx="25" c:formatCode="m&quot;月&quot;d&quot;日&quot;">
                  <c:v>46244</c:v>
                </c:pt>
                <c:pt idx="26" c:formatCode="m&quot;月&quot;d&quot;日&quot;">
                  <c:v>46245</c:v>
                </c:pt>
                <c:pt idx="27" c:formatCode="m&quot;月&quot;d&quot;日&quot;">
                  <c:v>46246</c:v>
                </c:pt>
                <c:pt idx="28" c:formatCode="m&quot;月&quot;d&quot;日&quot;">
                  <c:v>46247</c:v>
                </c:pt>
                <c:pt idx="29" c:formatCode="m&quot;月&quot;d&quot;日&quot;">
                  <c:v>46248</c:v>
                </c:pt>
                <c:pt idx="30" c:formatCode="m&quot;月&quot;d&quot;日&quot;">
                  <c:v>46249</c:v>
                </c:pt>
                <c:pt idx="31" c:formatCode="m&quot;月&quot;d&quot;日&quot;">
                  <c:v>46250</c:v>
                </c:pt>
                <c:pt idx="32" c:formatCode="m&quot;月&quot;d&quot;日&quot;">
                  <c:v>46251</c:v>
                </c:pt>
                <c:pt idx="33" c:formatCode="m&quot;月&quot;d&quot;日&quot;">
                  <c:v>46252</c:v>
                </c:pt>
                <c:pt idx="34" c:formatCode="m&quot;月&quot;d&quot;日&quot;">
                  <c:v>46253</c:v>
                </c:pt>
                <c:pt idx="35" c:formatCode="m&quot;月&quot;d&quot;日&quot;">
                  <c:v>46254</c:v>
                </c:pt>
                <c:pt idx="36" c:formatCode="m&quot;月&quot;d&quot;日&quot;">
                  <c:v>46255</c:v>
                </c:pt>
                <c:pt idx="37" c:formatCode="m&quot;月&quot;d&quot;日&quot;">
                  <c:v>46256</c:v>
                </c:pt>
                <c:pt idx="38" c:formatCode="m&quot;月&quot;d&quot;日&quot;">
                  <c:v>46257</c:v>
                </c:pt>
                <c:pt idx="39" c:formatCode="m&quot;月&quot;d&quot;日&quot;">
                  <c:v>46258</c:v>
                </c:pt>
                <c:pt idx="40" c:formatCode="m&quot;月&quot;d&quot;日&quot;">
                  <c:v>46259</c:v>
                </c:pt>
                <c:pt idx="41" c:formatCode="m&quot;月&quot;d&quot;日&quot;">
                  <c:v>46260</c:v>
                </c:pt>
                <c:pt idx="42" c:formatCode="m&quot;月&quot;d&quot;日&quot;">
                  <c:v>46261</c:v>
                </c:pt>
                <c:pt idx="43" c:formatCode="m&quot;月&quot;d&quot;日&quot;">
                  <c:v>46262</c:v>
                </c:pt>
                <c:pt idx="44" c:formatCode="m&quot;月&quot;d&quot;日&quot;">
                  <c:v>46263</c:v>
                </c:pt>
                <c:pt idx="45" c:formatCode="m&quot;月&quot;d&quot;日&quot;">
                  <c:v>46264</c:v>
                </c:pt>
                <c:pt idx="46" c:formatCode="m&quot;月&quot;d&quot;日&quot;">
                  <c:v>46265</c:v>
                </c:pt>
                <c:pt idx="47" c:formatCode="m&quot;月&quot;d&quot;日&quot;">
                  <c:v>46266</c:v>
                </c:pt>
                <c:pt idx="48" c:formatCode="m&quot;月&quot;d&quot;日&quot;">
                  <c:v>46267</c:v>
                </c:pt>
                <c:pt idx="49" c:formatCode="m&quot;月&quot;d&quot;日&quot;">
                  <c:v>46268</c:v>
                </c:pt>
                <c:pt idx="50" c:formatCode="m&quot;月&quot;d&quot;日&quot;">
                  <c:v>46269</c:v>
                </c:pt>
                <c:pt idx="51" c:formatCode="m&quot;月&quot;d&quot;日&quot;">
                  <c:v>46270</c:v>
                </c:pt>
                <c:pt idx="52" c:formatCode="m&quot;月&quot;d&quot;日&quot;">
                  <c:v>46271</c:v>
                </c:pt>
                <c:pt idx="53" c:formatCode="m&quot;月&quot;d&quot;日&quot;">
                  <c:v>46272</c:v>
                </c:pt>
                <c:pt idx="54" c:formatCode="m&quot;月&quot;d&quot;日&quot;">
                  <c:v>46273</c:v>
                </c:pt>
                <c:pt idx="55" c:formatCode="m&quot;月&quot;d&quot;日&quot;">
                  <c:v>46274</c:v>
                </c:pt>
                <c:pt idx="56" c:formatCode="m&quot;月&quot;d&quot;日&quot;">
                  <c:v>46275</c:v>
                </c:pt>
                <c:pt idx="57" c:formatCode="m&quot;月&quot;d&quot;日&quot;">
                  <c:v>46276</c:v>
                </c:pt>
                <c:pt idx="58" c:formatCode="m&quot;月&quot;d&quot;日&quot;">
                  <c:v>46277</c:v>
                </c:pt>
                <c:pt idx="59" c:formatCode="m&quot;月&quot;d&quot;日&quot;">
                  <c:v>46278</c:v>
                </c:pt>
                <c:pt idx="60" c:formatCode="m&quot;月&quot;d&quot;日&quot;">
                  <c:v>46279</c:v>
                </c:pt>
              </c:numCache>
            </c:numRef>
          </c:cat>
          <c:val>
            <c:numRef>
              <c:f>[3032d92b63e33736880875ef86fb4176.xlsx]Sheet1!$P$4:$P$64</c:f>
              <c:numCache>
                <c:formatCode>General</c:formatCode>
                <c:ptCount val="61"/>
                <c:pt idx="0">
                  <c:v>103</c:v>
                </c:pt>
                <c:pt idx="1">
                  <c:v>93</c:v>
                </c:pt>
                <c:pt idx="2">
                  <c:v>122</c:v>
                </c:pt>
                <c:pt idx="3">
                  <c:v>146</c:v>
                </c:pt>
                <c:pt idx="4">
                  <c:v>85</c:v>
                </c:pt>
                <c:pt idx="5">
                  <c:v>111</c:v>
                </c:pt>
                <c:pt idx="6">
                  <c:v>111</c:v>
                </c:pt>
                <c:pt idx="7">
                  <c:v>138</c:v>
                </c:pt>
                <c:pt idx="8">
                  <c:v>175</c:v>
                </c:pt>
                <c:pt idx="9">
                  <c:v>114</c:v>
                </c:pt>
                <c:pt idx="10">
                  <c:v>135</c:v>
                </c:pt>
                <c:pt idx="11">
                  <c:v>116</c:v>
                </c:pt>
                <c:pt idx="12">
                  <c:v>116</c:v>
                </c:pt>
                <c:pt idx="13">
                  <c:v>90</c:v>
                </c:pt>
                <c:pt idx="14">
                  <c:v>106</c:v>
                </c:pt>
                <c:pt idx="15">
                  <c:v>127</c:v>
                </c:pt>
                <c:pt idx="16">
                  <c:v>124</c:v>
                </c:pt>
                <c:pt idx="17">
                  <c:v>161</c:v>
                </c:pt>
                <c:pt idx="18">
                  <c:v>122</c:v>
                </c:pt>
                <c:pt idx="19">
                  <c:v>93</c:v>
                </c:pt>
                <c:pt idx="20">
                  <c:v>116</c:v>
                </c:pt>
                <c:pt idx="21">
                  <c:v>108</c:v>
                </c:pt>
                <c:pt idx="22">
                  <c:v>111</c:v>
                </c:pt>
                <c:pt idx="23">
                  <c:v>143</c:v>
                </c:pt>
                <c:pt idx="24">
                  <c:v>196</c:v>
                </c:pt>
                <c:pt idx="25">
                  <c:v>116</c:v>
                </c:pt>
                <c:pt idx="26">
                  <c:v>130</c:v>
                </c:pt>
                <c:pt idx="27">
                  <c:v>106</c:v>
                </c:pt>
                <c:pt idx="28">
                  <c:v>124</c:v>
                </c:pt>
                <c:pt idx="29">
                  <c:v>122</c:v>
                </c:pt>
                <c:pt idx="30">
                  <c:v>138</c:v>
                </c:pt>
                <c:pt idx="31">
                  <c:v>140</c:v>
                </c:pt>
                <c:pt idx="32">
                  <c:v>161</c:v>
                </c:pt>
                <c:pt idx="33">
                  <c:v>106</c:v>
                </c:pt>
                <c:pt idx="34">
                  <c:v>132</c:v>
                </c:pt>
                <c:pt idx="35">
                  <c:v>130</c:v>
                </c:pt>
                <c:pt idx="36">
                  <c:v>106</c:v>
                </c:pt>
                <c:pt idx="37">
                  <c:v>153</c:v>
                </c:pt>
                <c:pt idx="38">
                  <c:v>172</c:v>
                </c:pt>
                <c:pt idx="39">
                  <c:v>180</c:v>
                </c:pt>
                <c:pt idx="40">
                  <c:v>106</c:v>
                </c:pt>
                <c:pt idx="41">
                  <c:v>101</c:v>
                </c:pt>
                <c:pt idx="42">
                  <c:v>90</c:v>
                </c:pt>
                <c:pt idx="43">
                  <c:v>93</c:v>
                </c:pt>
                <c:pt idx="44">
                  <c:v>74</c:v>
                </c:pt>
                <c:pt idx="45">
                  <c:v>156</c:v>
                </c:pt>
                <c:pt idx="46">
                  <c:v>98</c:v>
                </c:pt>
                <c:pt idx="47">
                  <c:v>140</c:v>
                </c:pt>
                <c:pt idx="48">
                  <c:v>101</c:v>
                </c:pt>
                <c:pt idx="49">
                  <c:v>98</c:v>
                </c:pt>
                <c:pt idx="50">
                  <c:v>85</c:v>
                </c:pt>
                <c:pt idx="51">
                  <c:v>140</c:v>
                </c:pt>
                <c:pt idx="52">
                  <c:v>320</c:v>
                </c:pt>
                <c:pt idx="53">
                  <c:v>167</c:v>
                </c:pt>
                <c:pt idx="54">
                  <c:v>172</c:v>
                </c:pt>
                <c:pt idx="55">
                  <c:v>167</c:v>
                </c:pt>
                <c:pt idx="56">
                  <c:v>153</c:v>
                </c:pt>
                <c:pt idx="57">
                  <c:v>124</c:v>
                </c:pt>
                <c:pt idx="58">
                  <c:v>188</c:v>
                </c:pt>
                <c:pt idx="59">
                  <c:v>183</c:v>
                </c:pt>
                <c:pt idx="60">
                  <c:v>169</c:v>
                </c:pt>
              </c:numCache>
            </c:numRef>
          </c:val>
          <c:smooth val="0"/>
        </c:ser>
        <c:ser>
          <c:idx val="1"/>
          <c:order val="1"/>
          <c:tx>
            <c:strRef>
              <c:f>[3032d92b63e33736880875ef86fb4176.xlsx]Sheet1!$Q$3</c:f>
              <c:strCache>
                <c:ptCount val="1"/>
                <c:pt idx="0">
                  <c:v>大坡王黑山</c:v>
                </c:pt>
              </c:strCache>
            </c:strRef>
          </c:tx>
          <c:spPr>
            <a:ln w="28575" cap="rnd">
              <a:solidFill>
                <a:schemeClr val="accent2"/>
              </a:solidFill>
              <a:round/>
            </a:ln>
            <a:effectLst/>
          </c:spPr>
          <c:marker>
            <c:symbol val="none"/>
          </c:marker>
          <c:dLbls>
            <c:delete val="1"/>
          </c:dLbls>
          <c:cat>
            <c:numRef>
              <c:f>[3032d92b63e33736880875ef86fb4176.xlsx]Sheet1!$O$4:$O$64</c:f>
              <c:numCache>
                <c:formatCode>m"月"d"日"</c:formatCode>
                <c:ptCount val="61"/>
                <c:pt idx="0" c:formatCode="m&quot;月&quot;d&quot;日&quot;">
                  <c:v>46219</c:v>
                </c:pt>
                <c:pt idx="1" c:formatCode="m&quot;月&quot;d&quot;日&quot;">
                  <c:v>46220</c:v>
                </c:pt>
                <c:pt idx="2" c:formatCode="m&quot;月&quot;d&quot;日&quot;">
                  <c:v>46221</c:v>
                </c:pt>
                <c:pt idx="3" c:formatCode="m&quot;月&quot;d&quot;日&quot;">
                  <c:v>46222</c:v>
                </c:pt>
                <c:pt idx="4" c:formatCode="m&quot;月&quot;d&quot;日&quot;">
                  <c:v>46223</c:v>
                </c:pt>
                <c:pt idx="5" c:formatCode="m&quot;月&quot;d&quot;日&quot;">
                  <c:v>46224</c:v>
                </c:pt>
                <c:pt idx="6" c:formatCode="m&quot;月&quot;d&quot;日&quot;">
                  <c:v>46225</c:v>
                </c:pt>
                <c:pt idx="7" c:formatCode="m&quot;月&quot;d&quot;日&quot;">
                  <c:v>46226</c:v>
                </c:pt>
                <c:pt idx="8" c:formatCode="m&quot;月&quot;d&quot;日&quot;">
                  <c:v>46227</c:v>
                </c:pt>
                <c:pt idx="9" c:formatCode="m&quot;月&quot;d&quot;日&quot;">
                  <c:v>46228</c:v>
                </c:pt>
                <c:pt idx="10" c:formatCode="m&quot;月&quot;d&quot;日&quot;">
                  <c:v>46229</c:v>
                </c:pt>
                <c:pt idx="11" c:formatCode="m&quot;月&quot;d&quot;日&quot;">
                  <c:v>46230</c:v>
                </c:pt>
                <c:pt idx="12" c:formatCode="m&quot;月&quot;d&quot;日&quot;">
                  <c:v>46231</c:v>
                </c:pt>
                <c:pt idx="13" c:formatCode="m&quot;月&quot;d&quot;日&quot;">
                  <c:v>46232</c:v>
                </c:pt>
                <c:pt idx="14" c:formatCode="m&quot;月&quot;d&quot;日&quot;">
                  <c:v>46233</c:v>
                </c:pt>
                <c:pt idx="15" c:formatCode="m&quot;月&quot;d&quot;日&quot;">
                  <c:v>46234</c:v>
                </c:pt>
                <c:pt idx="16" c:formatCode="m&quot;月&quot;d&quot;日&quot;">
                  <c:v>46235</c:v>
                </c:pt>
                <c:pt idx="17" c:formatCode="m&quot;月&quot;d&quot;日&quot;">
                  <c:v>46236</c:v>
                </c:pt>
                <c:pt idx="18" c:formatCode="m&quot;月&quot;d&quot;日&quot;">
                  <c:v>46237</c:v>
                </c:pt>
                <c:pt idx="19" c:formatCode="m&quot;月&quot;d&quot;日&quot;">
                  <c:v>46238</c:v>
                </c:pt>
                <c:pt idx="20" c:formatCode="m&quot;月&quot;d&quot;日&quot;">
                  <c:v>46239</c:v>
                </c:pt>
                <c:pt idx="21" c:formatCode="m&quot;月&quot;d&quot;日&quot;">
                  <c:v>46240</c:v>
                </c:pt>
                <c:pt idx="22" c:formatCode="m&quot;月&quot;d&quot;日&quot;">
                  <c:v>46241</c:v>
                </c:pt>
                <c:pt idx="23" c:formatCode="m&quot;月&quot;d&quot;日&quot;">
                  <c:v>46242</c:v>
                </c:pt>
                <c:pt idx="24" c:formatCode="m&quot;月&quot;d&quot;日&quot;">
                  <c:v>46243</c:v>
                </c:pt>
                <c:pt idx="25" c:formatCode="m&quot;月&quot;d&quot;日&quot;">
                  <c:v>46244</c:v>
                </c:pt>
                <c:pt idx="26" c:formatCode="m&quot;月&quot;d&quot;日&quot;">
                  <c:v>46245</c:v>
                </c:pt>
                <c:pt idx="27" c:formatCode="m&quot;月&quot;d&quot;日&quot;">
                  <c:v>46246</c:v>
                </c:pt>
                <c:pt idx="28" c:formatCode="m&quot;月&quot;d&quot;日&quot;">
                  <c:v>46247</c:v>
                </c:pt>
                <c:pt idx="29" c:formatCode="m&quot;月&quot;d&quot;日&quot;">
                  <c:v>46248</c:v>
                </c:pt>
                <c:pt idx="30" c:formatCode="m&quot;月&quot;d&quot;日&quot;">
                  <c:v>46249</c:v>
                </c:pt>
                <c:pt idx="31" c:formatCode="m&quot;月&quot;d&quot;日&quot;">
                  <c:v>46250</c:v>
                </c:pt>
                <c:pt idx="32" c:formatCode="m&quot;月&quot;d&quot;日&quot;">
                  <c:v>46251</c:v>
                </c:pt>
                <c:pt idx="33" c:formatCode="m&quot;月&quot;d&quot;日&quot;">
                  <c:v>46252</c:v>
                </c:pt>
                <c:pt idx="34" c:formatCode="m&quot;月&quot;d&quot;日&quot;">
                  <c:v>46253</c:v>
                </c:pt>
                <c:pt idx="35" c:formatCode="m&quot;月&quot;d&quot;日&quot;">
                  <c:v>46254</c:v>
                </c:pt>
                <c:pt idx="36" c:formatCode="m&quot;月&quot;d&quot;日&quot;">
                  <c:v>46255</c:v>
                </c:pt>
                <c:pt idx="37" c:formatCode="m&quot;月&quot;d&quot;日&quot;">
                  <c:v>46256</c:v>
                </c:pt>
                <c:pt idx="38" c:formatCode="m&quot;月&quot;d&quot;日&quot;">
                  <c:v>46257</c:v>
                </c:pt>
                <c:pt idx="39" c:formatCode="m&quot;月&quot;d&quot;日&quot;">
                  <c:v>46258</c:v>
                </c:pt>
                <c:pt idx="40" c:formatCode="m&quot;月&quot;d&quot;日&quot;">
                  <c:v>46259</c:v>
                </c:pt>
                <c:pt idx="41" c:formatCode="m&quot;月&quot;d&quot;日&quot;">
                  <c:v>46260</c:v>
                </c:pt>
                <c:pt idx="42" c:formatCode="m&quot;月&quot;d&quot;日&quot;">
                  <c:v>46261</c:v>
                </c:pt>
                <c:pt idx="43" c:formatCode="m&quot;月&quot;d&quot;日&quot;">
                  <c:v>46262</c:v>
                </c:pt>
                <c:pt idx="44" c:formatCode="m&quot;月&quot;d&quot;日&quot;">
                  <c:v>46263</c:v>
                </c:pt>
                <c:pt idx="45" c:formatCode="m&quot;月&quot;d&quot;日&quot;">
                  <c:v>46264</c:v>
                </c:pt>
                <c:pt idx="46" c:formatCode="m&quot;月&quot;d&quot;日&quot;">
                  <c:v>46265</c:v>
                </c:pt>
                <c:pt idx="47" c:formatCode="m&quot;月&quot;d&quot;日&quot;">
                  <c:v>46266</c:v>
                </c:pt>
                <c:pt idx="48" c:formatCode="m&quot;月&quot;d&quot;日&quot;">
                  <c:v>46267</c:v>
                </c:pt>
                <c:pt idx="49" c:formatCode="m&quot;月&quot;d&quot;日&quot;">
                  <c:v>46268</c:v>
                </c:pt>
                <c:pt idx="50" c:formatCode="m&quot;月&quot;d&quot;日&quot;">
                  <c:v>46269</c:v>
                </c:pt>
                <c:pt idx="51" c:formatCode="m&quot;月&quot;d&quot;日&quot;">
                  <c:v>46270</c:v>
                </c:pt>
                <c:pt idx="52" c:formatCode="m&quot;月&quot;d&quot;日&quot;">
                  <c:v>46271</c:v>
                </c:pt>
                <c:pt idx="53" c:formatCode="m&quot;月&quot;d&quot;日&quot;">
                  <c:v>46272</c:v>
                </c:pt>
                <c:pt idx="54" c:formatCode="m&quot;月&quot;d&quot;日&quot;">
                  <c:v>46273</c:v>
                </c:pt>
                <c:pt idx="55" c:formatCode="m&quot;月&quot;d&quot;日&quot;">
                  <c:v>46274</c:v>
                </c:pt>
                <c:pt idx="56" c:formatCode="m&quot;月&quot;d&quot;日&quot;">
                  <c:v>46275</c:v>
                </c:pt>
                <c:pt idx="57" c:formatCode="m&quot;月&quot;d&quot;日&quot;">
                  <c:v>46276</c:v>
                </c:pt>
                <c:pt idx="58" c:formatCode="m&quot;月&quot;d&quot;日&quot;">
                  <c:v>46277</c:v>
                </c:pt>
                <c:pt idx="59" c:formatCode="m&quot;月&quot;d&quot;日&quot;">
                  <c:v>46278</c:v>
                </c:pt>
                <c:pt idx="60" c:formatCode="m&quot;月&quot;d&quot;日&quot;">
                  <c:v>46279</c:v>
                </c:pt>
              </c:numCache>
            </c:numRef>
          </c:cat>
          <c:val>
            <c:numRef>
              <c:f>[3032d92b63e33736880875ef86fb4176.xlsx]Sheet1!$Q$4:$Q$64</c:f>
              <c:numCache>
                <c:formatCode>General</c:formatCode>
                <c:ptCount val="61"/>
                <c:pt idx="0">
                  <c:v>90</c:v>
                </c:pt>
                <c:pt idx="1">
                  <c:v>93</c:v>
                </c:pt>
                <c:pt idx="2">
                  <c:v>79</c:v>
                </c:pt>
                <c:pt idx="3">
                  <c:v>98</c:v>
                </c:pt>
                <c:pt idx="4">
                  <c:v>90</c:v>
                </c:pt>
                <c:pt idx="5">
                  <c:v>82</c:v>
                </c:pt>
                <c:pt idx="6">
                  <c:v>93</c:v>
                </c:pt>
                <c:pt idx="7">
                  <c:v>159</c:v>
                </c:pt>
                <c:pt idx="8">
                  <c:v>116</c:v>
                </c:pt>
                <c:pt idx="9">
                  <c:v>135</c:v>
                </c:pt>
                <c:pt idx="10">
                  <c:v>130</c:v>
                </c:pt>
                <c:pt idx="11">
                  <c:v>138</c:v>
                </c:pt>
                <c:pt idx="12">
                  <c:v>116</c:v>
                </c:pt>
                <c:pt idx="13">
                  <c:v>161</c:v>
                </c:pt>
                <c:pt idx="14">
                  <c:v>156</c:v>
                </c:pt>
                <c:pt idx="15">
                  <c:v>122</c:v>
                </c:pt>
                <c:pt idx="16">
                  <c:v>159</c:v>
                </c:pt>
                <c:pt idx="17">
                  <c:v>161</c:v>
                </c:pt>
                <c:pt idx="18">
                  <c:v>138</c:v>
                </c:pt>
                <c:pt idx="19">
                  <c:v>124</c:v>
                </c:pt>
                <c:pt idx="20">
                  <c:v>85</c:v>
                </c:pt>
                <c:pt idx="21">
                  <c:v>111</c:v>
                </c:pt>
                <c:pt idx="22">
                  <c:v>124</c:v>
                </c:pt>
                <c:pt idx="23">
                  <c:v>151</c:v>
                </c:pt>
                <c:pt idx="24">
                  <c:v>156</c:v>
                </c:pt>
                <c:pt idx="25">
                  <c:v>111</c:v>
                </c:pt>
                <c:pt idx="26">
                  <c:v>79</c:v>
                </c:pt>
                <c:pt idx="27">
                  <c:v>114</c:v>
                </c:pt>
                <c:pt idx="28">
                  <c:v>111</c:v>
                </c:pt>
                <c:pt idx="29">
                  <c:v>116</c:v>
                </c:pt>
                <c:pt idx="30">
                  <c:v>198</c:v>
                </c:pt>
                <c:pt idx="31">
                  <c:v>151</c:v>
                </c:pt>
                <c:pt idx="32">
                  <c:v>161</c:v>
                </c:pt>
                <c:pt idx="33">
                  <c:v>140</c:v>
                </c:pt>
                <c:pt idx="34">
                  <c:v>71</c:v>
                </c:pt>
                <c:pt idx="35">
                  <c:v>135</c:v>
                </c:pt>
                <c:pt idx="36">
                  <c:v>138</c:v>
                </c:pt>
                <c:pt idx="37">
                  <c:v>111</c:v>
                </c:pt>
                <c:pt idx="38">
                  <c:v>116</c:v>
                </c:pt>
                <c:pt idx="39">
                  <c:v>103</c:v>
                </c:pt>
                <c:pt idx="40">
                  <c:v>108</c:v>
                </c:pt>
                <c:pt idx="41">
                  <c:v>101</c:v>
                </c:pt>
                <c:pt idx="42">
                  <c:v>153</c:v>
                </c:pt>
                <c:pt idx="43">
                  <c:v>82</c:v>
                </c:pt>
                <c:pt idx="44">
                  <c:v>204</c:v>
                </c:pt>
                <c:pt idx="45">
                  <c:v>209</c:v>
                </c:pt>
                <c:pt idx="46">
                  <c:v>101</c:v>
                </c:pt>
                <c:pt idx="47">
                  <c:v>156</c:v>
                </c:pt>
                <c:pt idx="48">
                  <c:v>90</c:v>
                </c:pt>
                <c:pt idx="49">
                  <c:v>132</c:v>
                </c:pt>
                <c:pt idx="50">
                  <c:v>56</c:v>
                </c:pt>
                <c:pt idx="51">
                  <c:v>138</c:v>
                </c:pt>
                <c:pt idx="52">
                  <c:v>251</c:v>
                </c:pt>
                <c:pt idx="53">
                  <c:v>169</c:v>
                </c:pt>
                <c:pt idx="54">
                  <c:v>140</c:v>
                </c:pt>
                <c:pt idx="55">
                  <c:v>90</c:v>
                </c:pt>
                <c:pt idx="56">
                  <c:v>124</c:v>
                </c:pt>
                <c:pt idx="57">
                  <c:v>103</c:v>
                </c:pt>
                <c:pt idx="58">
                  <c:v>122</c:v>
                </c:pt>
                <c:pt idx="59">
                  <c:v>119</c:v>
                </c:pt>
                <c:pt idx="60">
                  <c:v>122</c:v>
                </c:pt>
              </c:numCache>
            </c:numRef>
          </c:val>
          <c:smooth val="0"/>
        </c:ser>
        <c:ser>
          <c:idx val="2"/>
          <c:order val="2"/>
          <c:tx>
            <c:strRef>
              <c:f>[3032d92b63e33736880875ef86fb4176.xlsx]Sheet1!$R$3</c:f>
              <c:strCache>
                <c:ptCount val="1"/>
                <c:pt idx="0">
                  <c:v>黑山大坡王</c:v>
                </c:pt>
              </c:strCache>
            </c:strRef>
          </c:tx>
          <c:spPr>
            <a:ln w="28575" cap="rnd">
              <a:solidFill>
                <a:schemeClr val="accent3"/>
              </a:solidFill>
              <a:round/>
            </a:ln>
            <a:effectLst/>
          </c:spPr>
          <c:marker>
            <c:symbol val="none"/>
          </c:marker>
          <c:dLbls>
            <c:delete val="1"/>
          </c:dLbls>
          <c:cat>
            <c:numRef>
              <c:f>[3032d92b63e33736880875ef86fb4176.xlsx]Sheet1!$O$4:$O$64</c:f>
              <c:numCache>
                <c:formatCode>m"月"d"日"</c:formatCode>
                <c:ptCount val="61"/>
                <c:pt idx="0" c:formatCode="m&quot;月&quot;d&quot;日&quot;">
                  <c:v>46219</c:v>
                </c:pt>
                <c:pt idx="1" c:formatCode="m&quot;月&quot;d&quot;日&quot;">
                  <c:v>46220</c:v>
                </c:pt>
                <c:pt idx="2" c:formatCode="m&quot;月&quot;d&quot;日&quot;">
                  <c:v>46221</c:v>
                </c:pt>
                <c:pt idx="3" c:formatCode="m&quot;月&quot;d&quot;日&quot;">
                  <c:v>46222</c:v>
                </c:pt>
                <c:pt idx="4" c:formatCode="m&quot;月&quot;d&quot;日&quot;">
                  <c:v>46223</c:v>
                </c:pt>
                <c:pt idx="5" c:formatCode="m&quot;月&quot;d&quot;日&quot;">
                  <c:v>46224</c:v>
                </c:pt>
                <c:pt idx="6" c:formatCode="m&quot;月&quot;d&quot;日&quot;">
                  <c:v>46225</c:v>
                </c:pt>
                <c:pt idx="7" c:formatCode="m&quot;月&quot;d&quot;日&quot;">
                  <c:v>46226</c:v>
                </c:pt>
                <c:pt idx="8" c:formatCode="m&quot;月&quot;d&quot;日&quot;">
                  <c:v>46227</c:v>
                </c:pt>
                <c:pt idx="9" c:formatCode="m&quot;月&quot;d&quot;日&quot;">
                  <c:v>46228</c:v>
                </c:pt>
                <c:pt idx="10" c:formatCode="m&quot;月&quot;d&quot;日&quot;">
                  <c:v>46229</c:v>
                </c:pt>
                <c:pt idx="11" c:formatCode="m&quot;月&quot;d&quot;日&quot;">
                  <c:v>46230</c:v>
                </c:pt>
                <c:pt idx="12" c:formatCode="m&quot;月&quot;d&quot;日&quot;">
                  <c:v>46231</c:v>
                </c:pt>
                <c:pt idx="13" c:formatCode="m&quot;月&quot;d&quot;日&quot;">
                  <c:v>46232</c:v>
                </c:pt>
                <c:pt idx="14" c:formatCode="m&quot;月&quot;d&quot;日&quot;">
                  <c:v>46233</c:v>
                </c:pt>
                <c:pt idx="15" c:formatCode="m&quot;月&quot;d&quot;日&quot;">
                  <c:v>46234</c:v>
                </c:pt>
                <c:pt idx="16" c:formatCode="m&quot;月&quot;d&quot;日&quot;">
                  <c:v>46235</c:v>
                </c:pt>
                <c:pt idx="17" c:formatCode="m&quot;月&quot;d&quot;日&quot;">
                  <c:v>46236</c:v>
                </c:pt>
                <c:pt idx="18" c:formatCode="m&quot;月&quot;d&quot;日&quot;">
                  <c:v>46237</c:v>
                </c:pt>
                <c:pt idx="19" c:formatCode="m&quot;月&quot;d&quot;日&quot;">
                  <c:v>46238</c:v>
                </c:pt>
                <c:pt idx="20" c:formatCode="m&quot;月&quot;d&quot;日&quot;">
                  <c:v>46239</c:v>
                </c:pt>
                <c:pt idx="21" c:formatCode="m&quot;月&quot;d&quot;日&quot;">
                  <c:v>46240</c:v>
                </c:pt>
                <c:pt idx="22" c:formatCode="m&quot;月&quot;d&quot;日&quot;">
                  <c:v>46241</c:v>
                </c:pt>
                <c:pt idx="23" c:formatCode="m&quot;月&quot;d&quot;日&quot;">
                  <c:v>46242</c:v>
                </c:pt>
                <c:pt idx="24" c:formatCode="m&quot;月&quot;d&quot;日&quot;">
                  <c:v>46243</c:v>
                </c:pt>
                <c:pt idx="25" c:formatCode="m&quot;月&quot;d&quot;日&quot;">
                  <c:v>46244</c:v>
                </c:pt>
                <c:pt idx="26" c:formatCode="m&quot;月&quot;d&quot;日&quot;">
                  <c:v>46245</c:v>
                </c:pt>
                <c:pt idx="27" c:formatCode="m&quot;月&quot;d&quot;日&quot;">
                  <c:v>46246</c:v>
                </c:pt>
                <c:pt idx="28" c:formatCode="m&quot;月&quot;d&quot;日&quot;">
                  <c:v>46247</c:v>
                </c:pt>
                <c:pt idx="29" c:formatCode="m&quot;月&quot;d&quot;日&quot;">
                  <c:v>46248</c:v>
                </c:pt>
                <c:pt idx="30" c:formatCode="m&quot;月&quot;d&quot;日&quot;">
                  <c:v>46249</c:v>
                </c:pt>
                <c:pt idx="31" c:formatCode="m&quot;月&quot;d&quot;日&quot;">
                  <c:v>46250</c:v>
                </c:pt>
                <c:pt idx="32" c:formatCode="m&quot;月&quot;d&quot;日&quot;">
                  <c:v>46251</c:v>
                </c:pt>
                <c:pt idx="33" c:formatCode="m&quot;月&quot;d&quot;日&quot;">
                  <c:v>46252</c:v>
                </c:pt>
                <c:pt idx="34" c:formatCode="m&quot;月&quot;d&quot;日&quot;">
                  <c:v>46253</c:v>
                </c:pt>
                <c:pt idx="35" c:formatCode="m&quot;月&quot;d&quot;日&quot;">
                  <c:v>46254</c:v>
                </c:pt>
                <c:pt idx="36" c:formatCode="m&quot;月&quot;d&quot;日&quot;">
                  <c:v>46255</c:v>
                </c:pt>
                <c:pt idx="37" c:formatCode="m&quot;月&quot;d&quot;日&quot;">
                  <c:v>46256</c:v>
                </c:pt>
                <c:pt idx="38" c:formatCode="m&quot;月&quot;d&quot;日&quot;">
                  <c:v>46257</c:v>
                </c:pt>
                <c:pt idx="39" c:formatCode="m&quot;月&quot;d&quot;日&quot;">
                  <c:v>46258</c:v>
                </c:pt>
                <c:pt idx="40" c:formatCode="m&quot;月&quot;d&quot;日&quot;">
                  <c:v>46259</c:v>
                </c:pt>
                <c:pt idx="41" c:formatCode="m&quot;月&quot;d&quot;日&quot;">
                  <c:v>46260</c:v>
                </c:pt>
                <c:pt idx="42" c:formatCode="m&quot;月&quot;d&quot;日&quot;">
                  <c:v>46261</c:v>
                </c:pt>
                <c:pt idx="43" c:formatCode="m&quot;月&quot;d&quot;日&quot;">
                  <c:v>46262</c:v>
                </c:pt>
                <c:pt idx="44" c:formatCode="m&quot;月&quot;d&quot;日&quot;">
                  <c:v>46263</c:v>
                </c:pt>
                <c:pt idx="45" c:formatCode="m&quot;月&quot;d&quot;日&quot;">
                  <c:v>46264</c:v>
                </c:pt>
                <c:pt idx="46" c:formatCode="m&quot;月&quot;d&quot;日&quot;">
                  <c:v>46265</c:v>
                </c:pt>
                <c:pt idx="47" c:formatCode="m&quot;月&quot;d&quot;日&quot;">
                  <c:v>46266</c:v>
                </c:pt>
                <c:pt idx="48" c:formatCode="m&quot;月&quot;d&quot;日&quot;">
                  <c:v>46267</c:v>
                </c:pt>
                <c:pt idx="49" c:formatCode="m&quot;月&quot;d&quot;日&quot;">
                  <c:v>46268</c:v>
                </c:pt>
                <c:pt idx="50" c:formatCode="m&quot;月&quot;d&quot;日&quot;">
                  <c:v>46269</c:v>
                </c:pt>
                <c:pt idx="51" c:formatCode="m&quot;月&quot;d&quot;日&quot;">
                  <c:v>46270</c:v>
                </c:pt>
                <c:pt idx="52" c:formatCode="m&quot;月&quot;d&quot;日&quot;">
                  <c:v>46271</c:v>
                </c:pt>
                <c:pt idx="53" c:formatCode="m&quot;月&quot;d&quot;日&quot;">
                  <c:v>46272</c:v>
                </c:pt>
                <c:pt idx="54" c:formatCode="m&quot;月&quot;d&quot;日&quot;">
                  <c:v>46273</c:v>
                </c:pt>
                <c:pt idx="55" c:formatCode="m&quot;月&quot;d&quot;日&quot;">
                  <c:v>46274</c:v>
                </c:pt>
                <c:pt idx="56" c:formatCode="m&quot;月&quot;d&quot;日&quot;">
                  <c:v>46275</c:v>
                </c:pt>
                <c:pt idx="57" c:formatCode="m&quot;月&quot;d&quot;日&quot;">
                  <c:v>46276</c:v>
                </c:pt>
                <c:pt idx="58" c:formatCode="m&quot;月&quot;d&quot;日&quot;">
                  <c:v>46277</c:v>
                </c:pt>
                <c:pt idx="59" c:formatCode="m&quot;月&quot;d&quot;日&quot;">
                  <c:v>46278</c:v>
                </c:pt>
                <c:pt idx="60" c:formatCode="m&quot;月&quot;d&quot;日&quot;">
                  <c:v>46279</c:v>
                </c:pt>
              </c:numCache>
            </c:numRef>
          </c:cat>
          <c:val>
            <c:numRef>
              <c:f>[3032d92b63e33736880875ef86fb4176.xlsx]Sheet1!$R$4:$R$64</c:f>
              <c:numCache>
                <c:formatCode>General</c:formatCode>
                <c:ptCount val="61"/>
                <c:pt idx="0">
                  <c:v>71</c:v>
                </c:pt>
                <c:pt idx="1">
                  <c:v>58</c:v>
                </c:pt>
                <c:pt idx="2">
                  <c:v>58</c:v>
                </c:pt>
                <c:pt idx="3">
                  <c:v>56</c:v>
                </c:pt>
                <c:pt idx="4">
                  <c:v>101</c:v>
                </c:pt>
                <c:pt idx="5">
                  <c:v>85</c:v>
                </c:pt>
                <c:pt idx="6">
                  <c:v>40</c:v>
                </c:pt>
                <c:pt idx="7">
                  <c:v>119</c:v>
                </c:pt>
                <c:pt idx="8">
                  <c:v>93</c:v>
                </c:pt>
                <c:pt idx="9">
                  <c:v>95</c:v>
                </c:pt>
                <c:pt idx="10">
                  <c:v>93</c:v>
                </c:pt>
                <c:pt idx="11">
                  <c:v>63</c:v>
                </c:pt>
                <c:pt idx="12">
                  <c:v>241</c:v>
                </c:pt>
                <c:pt idx="13">
                  <c:v>85</c:v>
                </c:pt>
                <c:pt idx="14">
                  <c:v>103</c:v>
                </c:pt>
                <c:pt idx="15">
                  <c:v>87</c:v>
                </c:pt>
                <c:pt idx="16">
                  <c:v>119</c:v>
                </c:pt>
                <c:pt idx="17">
                  <c:v>143</c:v>
                </c:pt>
                <c:pt idx="18">
                  <c:v>114</c:v>
                </c:pt>
                <c:pt idx="19">
                  <c:v>132</c:v>
                </c:pt>
                <c:pt idx="20">
                  <c:v>103</c:v>
                </c:pt>
                <c:pt idx="21">
                  <c:v>127</c:v>
                </c:pt>
                <c:pt idx="22">
                  <c:v>130</c:v>
                </c:pt>
                <c:pt idx="23">
                  <c:v>138</c:v>
                </c:pt>
                <c:pt idx="24">
                  <c:v>124</c:v>
                </c:pt>
                <c:pt idx="25">
                  <c:v>108</c:v>
                </c:pt>
                <c:pt idx="26">
                  <c:v>87</c:v>
                </c:pt>
                <c:pt idx="27">
                  <c:v>122</c:v>
                </c:pt>
                <c:pt idx="28">
                  <c:v>101</c:v>
                </c:pt>
                <c:pt idx="29">
                  <c:v>108</c:v>
                </c:pt>
                <c:pt idx="30">
                  <c:v>175</c:v>
                </c:pt>
                <c:pt idx="31">
                  <c:v>164</c:v>
                </c:pt>
                <c:pt idx="32">
                  <c:v>130</c:v>
                </c:pt>
                <c:pt idx="33">
                  <c:v>151</c:v>
                </c:pt>
                <c:pt idx="34">
                  <c:v>101</c:v>
                </c:pt>
                <c:pt idx="35">
                  <c:v>74</c:v>
                </c:pt>
                <c:pt idx="36">
                  <c:v>122</c:v>
                </c:pt>
                <c:pt idx="37">
                  <c:v>138</c:v>
                </c:pt>
                <c:pt idx="38">
                  <c:v>138</c:v>
                </c:pt>
                <c:pt idx="39">
                  <c:v>122</c:v>
                </c:pt>
                <c:pt idx="40">
                  <c:v>119</c:v>
                </c:pt>
                <c:pt idx="41">
                  <c:v>77</c:v>
                </c:pt>
                <c:pt idx="42">
                  <c:v>93</c:v>
                </c:pt>
                <c:pt idx="43">
                  <c:v>63</c:v>
                </c:pt>
                <c:pt idx="44">
                  <c:v>85</c:v>
                </c:pt>
                <c:pt idx="45">
                  <c:v>114</c:v>
                </c:pt>
                <c:pt idx="46">
                  <c:v>148</c:v>
                </c:pt>
                <c:pt idx="47">
                  <c:v>111</c:v>
                </c:pt>
                <c:pt idx="48">
                  <c:v>103</c:v>
                </c:pt>
                <c:pt idx="49">
                  <c:v>101</c:v>
                </c:pt>
                <c:pt idx="50">
                  <c:v>122</c:v>
                </c:pt>
                <c:pt idx="51">
                  <c:v>82</c:v>
                </c:pt>
                <c:pt idx="52">
                  <c:v>185</c:v>
                </c:pt>
                <c:pt idx="53">
                  <c:v>132</c:v>
                </c:pt>
                <c:pt idx="54">
                  <c:v>127</c:v>
                </c:pt>
                <c:pt idx="55">
                  <c:v>106</c:v>
                </c:pt>
                <c:pt idx="56">
                  <c:v>143</c:v>
                </c:pt>
                <c:pt idx="57">
                  <c:v>132</c:v>
                </c:pt>
                <c:pt idx="58">
                  <c:v>169</c:v>
                </c:pt>
                <c:pt idx="59">
                  <c:v>146</c:v>
                </c:pt>
                <c:pt idx="60">
                  <c:v>114</c:v>
                </c:pt>
              </c:numCache>
            </c:numRef>
          </c:val>
          <c:smooth val="0"/>
        </c:ser>
        <c:ser>
          <c:idx val="3"/>
          <c:order val="3"/>
          <c:tx>
            <c:strRef>
              <c:f>[3032d92b63e33736880875ef86fb4176.xlsx]Sheet1!$S$3</c:f>
              <c:strCache>
                <c:ptCount val="1"/>
                <c:pt idx="0">
                  <c:v>凯乐石黑山大坡王</c:v>
                </c:pt>
              </c:strCache>
            </c:strRef>
          </c:tx>
          <c:spPr>
            <a:ln w="28575" cap="rnd">
              <a:solidFill>
                <a:schemeClr val="accent4"/>
              </a:solidFill>
              <a:round/>
            </a:ln>
            <a:effectLst/>
          </c:spPr>
          <c:marker>
            <c:symbol val="none"/>
          </c:marker>
          <c:dLbls>
            <c:delete val="1"/>
          </c:dLbls>
          <c:cat>
            <c:numRef>
              <c:f>[3032d92b63e33736880875ef86fb4176.xlsx]Sheet1!$O$4:$O$64</c:f>
              <c:numCache>
                <c:formatCode>m"月"d"日"</c:formatCode>
                <c:ptCount val="61"/>
                <c:pt idx="0" c:formatCode="m&quot;月&quot;d&quot;日&quot;">
                  <c:v>46219</c:v>
                </c:pt>
                <c:pt idx="1" c:formatCode="m&quot;月&quot;d&quot;日&quot;">
                  <c:v>46220</c:v>
                </c:pt>
                <c:pt idx="2" c:formatCode="m&quot;月&quot;d&quot;日&quot;">
                  <c:v>46221</c:v>
                </c:pt>
                <c:pt idx="3" c:formatCode="m&quot;月&quot;d&quot;日&quot;">
                  <c:v>46222</c:v>
                </c:pt>
                <c:pt idx="4" c:formatCode="m&quot;月&quot;d&quot;日&quot;">
                  <c:v>46223</c:v>
                </c:pt>
                <c:pt idx="5" c:formatCode="m&quot;月&quot;d&quot;日&quot;">
                  <c:v>46224</c:v>
                </c:pt>
                <c:pt idx="6" c:formatCode="m&quot;月&quot;d&quot;日&quot;">
                  <c:v>46225</c:v>
                </c:pt>
                <c:pt idx="7" c:formatCode="m&quot;月&quot;d&quot;日&quot;">
                  <c:v>46226</c:v>
                </c:pt>
                <c:pt idx="8" c:formatCode="m&quot;月&quot;d&quot;日&quot;">
                  <c:v>46227</c:v>
                </c:pt>
                <c:pt idx="9" c:formatCode="m&quot;月&quot;d&quot;日&quot;">
                  <c:v>46228</c:v>
                </c:pt>
                <c:pt idx="10" c:formatCode="m&quot;月&quot;d&quot;日&quot;">
                  <c:v>46229</c:v>
                </c:pt>
                <c:pt idx="11" c:formatCode="m&quot;月&quot;d&quot;日&quot;">
                  <c:v>46230</c:v>
                </c:pt>
                <c:pt idx="12" c:formatCode="m&quot;月&quot;d&quot;日&quot;">
                  <c:v>46231</c:v>
                </c:pt>
                <c:pt idx="13" c:formatCode="m&quot;月&quot;d&quot;日&quot;">
                  <c:v>46232</c:v>
                </c:pt>
                <c:pt idx="14" c:formatCode="m&quot;月&quot;d&quot;日&quot;">
                  <c:v>46233</c:v>
                </c:pt>
                <c:pt idx="15" c:formatCode="m&quot;月&quot;d&quot;日&quot;">
                  <c:v>46234</c:v>
                </c:pt>
                <c:pt idx="16" c:formatCode="m&quot;月&quot;d&quot;日&quot;">
                  <c:v>46235</c:v>
                </c:pt>
                <c:pt idx="17" c:formatCode="m&quot;月&quot;d&quot;日&quot;">
                  <c:v>46236</c:v>
                </c:pt>
                <c:pt idx="18" c:formatCode="m&quot;月&quot;d&quot;日&quot;">
                  <c:v>46237</c:v>
                </c:pt>
                <c:pt idx="19" c:formatCode="m&quot;月&quot;d&quot;日&quot;">
                  <c:v>46238</c:v>
                </c:pt>
                <c:pt idx="20" c:formatCode="m&quot;月&quot;d&quot;日&quot;">
                  <c:v>46239</c:v>
                </c:pt>
                <c:pt idx="21" c:formatCode="m&quot;月&quot;d&quot;日&quot;">
                  <c:v>46240</c:v>
                </c:pt>
                <c:pt idx="22" c:formatCode="m&quot;月&quot;d&quot;日&quot;">
                  <c:v>46241</c:v>
                </c:pt>
                <c:pt idx="23" c:formatCode="m&quot;月&quot;d&quot;日&quot;">
                  <c:v>46242</c:v>
                </c:pt>
                <c:pt idx="24" c:formatCode="m&quot;月&quot;d&quot;日&quot;">
                  <c:v>46243</c:v>
                </c:pt>
                <c:pt idx="25" c:formatCode="m&quot;月&quot;d&quot;日&quot;">
                  <c:v>46244</c:v>
                </c:pt>
                <c:pt idx="26" c:formatCode="m&quot;月&quot;d&quot;日&quot;">
                  <c:v>46245</c:v>
                </c:pt>
                <c:pt idx="27" c:formatCode="m&quot;月&quot;d&quot;日&quot;">
                  <c:v>46246</c:v>
                </c:pt>
                <c:pt idx="28" c:formatCode="m&quot;月&quot;d&quot;日&quot;">
                  <c:v>46247</c:v>
                </c:pt>
                <c:pt idx="29" c:formatCode="m&quot;月&quot;d&quot;日&quot;">
                  <c:v>46248</c:v>
                </c:pt>
                <c:pt idx="30" c:formatCode="m&quot;月&quot;d&quot;日&quot;">
                  <c:v>46249</c:v>
                </c:pt>
                <c:pt idx="31" c:formatCode="m&quot;月&quot;d&quot;日&quot;">
                  <c:v>46250</c:v>
                </c:pt>
                <c:pt idx="32" c:formatCode="m&quot;月&quot;d&quot;日&quot;">
                  <c:v>46251</c:v>
                </c:pt>
                <c:pt idx="33" c:formatCode="m&quot;月&quot;d&quot;日&quot;">
                  <c:v>46252</c:v>
                </c:pt>
                <c:pt idx="34" c:formatCode="m&quot;月&quot;d&quot;日&quot;">
                  <c:v>46253</c:v>
                </c:pt>
                <c:pt idx="35" c:formatCode="m&quot;月&quot;d&quot;日&quot;">
                  <c:v>46254</c:v>
                </c:pt>
                <c:pt idx="36" c:formatCode="m&quot;月&quot;d&quot;日&quot;">
                  <c:v>46255</c:v>
                </c:pt>
                <c:pt idx="37" c:formatCode="m&quot;月&quot;d&quot;日&quot;">
                  <c:v>46256</c:v>
                </c:pt>
                <c:pt idx="38" c:formatCode="m&quot;月&quot;d&quot;日&quot;">
                  <c:v>46257</c:v>
                </c:pt>
                <c:pt idx="39" c:formatCode="m&quot;月&quot;d&quot;日&quot;">
                  <c:v>46258</c:v>
                </c:pt>
                <c:pt idx="40" c:formatCode="m&quot;月&quot;d&quot;日&quot;">
                  <c:v>46259</c:v>
                </c:pt>
                <c:pt idx="41" c:formatCode="m&quot;月&quot;d&quot;日&quot;">
                  <c:v>46260</c:v>
                </c:pt>
                <c:pt idx="42" c:formatCode="m&quot;月&quot;d&quot;日&quot;">
                  <c:v>46261</c:v>
                </c:pt>
                <c:pt idx="43" c:formatCode="m&quot;月&quot;d&quot;日&quot;">
                  <c:v>46262</c:v>
                </c:pt>
                <c:pt idx="44" c:formatCode="m&quot;月&quot;d&quot;日&quot;">
                  <c:v>46263</c:v>
                </c:pt>
                <c:pt idx="45" c:formatCode="m&quot;月&quot;d&quot;日&quot;">
                  <c:v>46264</c:v>
                </c:pt>
                <c:pt idx="46" c:formatCode="m&quot;月&quot;d&quot;日&quot;">
                  <c:v>46265</c:v>
                </c:pt>
                <c:pt idx="47" c:formatCode="m&quot;月&quot;d&quot;日&quot;">
                  <c:v>46266</c:v>
                </c:pt>
                <c:pt idx="48" c:formatCode="m&quot;月&quot;d&quot;日&quot;">
                  <c:v>46267</c:v>
                </c:pt>
                <c:pt idx="49" c:formatCode="m&quot;月&quot;d&quot;日&quot;">
                  <c:v>46268</c:v>
                </c:pt>
                <c:pt idx="50" c:formatCode="m&quot;月&quot;d&quot;日&quot;">
                  <c:v>46269</c:v>
                </c:pt>
                <c:pt idx="51" c:formatCode="m&quot;月&quot;d&quot;日&quot;">
                  <c:v>46270</c:v>
                </c:pt>
                <c:pt idx="52" c:formatCode="m&quot;月&quot;d&quot;日&quot;">
                  <c:v>46271</c:v>
                </c:pt>
                <c:pt idx="53" c:formatCode="m&quot;月&quot;d&quot;日&quot;">
                  <c:v>46272</c:v>
                </c:pt>
                <c:pt idx="54" c:formatCode="m&quot;月&quot;d&quot;日&quot;">
                  <c:v>46273</c:v>
                </c:pt>
                <c:pt idx="55" c:formatCode="m&quot;月&quot;d&quot;日&quot;">
                  <c:v>46274</c:v>
                </c:pt>
                <c:pt idx="56" c:formatCode="m&quot;月&quot;d&quot;日&quot;">
                  <c:v>46275</c:v>
                </c:pt>
                <c:pt idx="57" c:formatCode="m&quot;月&quot;d&quot;日&quot;">
                  <c:v>46276</c:v>
                </c:pt>
                <c:pt idx="58" c:formatCode="m&quot;月&quot;d&quot;日&quot;">
                  <c:v>46277</c:v>
                </c:pt>
                <c:pt idx="59" c:formatCode="m&quot;月&quot;d&quot;日&quot;">
                  <c:v>46278</c:v>
                </c:pt>
                <c:pt idx="60" c:formatCode="m&quot;月&quot;d&quot;日&quot;">
                  <c:v>46279</c:v>
                </c:pt>
              </c:numCache>
            </c:numRef>
          </c:cat>
          <c:val>
            <c:numRef>
              <c:f>[3032d92b63e33736880875ef86fb4176.xlsx]Sheet1!$S$4:$S$64</c:f>
              <c:numCache>
                <c:formatCode>General</c:formatCode>
                <c:ptCount val="61"/>
                <c:pt idx="0">
                  <c:v>48</c:v>
                </c:pt>
                <c:pt idx="1">
                  <c:v>93</c:v>
                </c:pt>
                <c:pt idx="2">
                  <c:v>48</c:v>
                </c:pt>
                <c:pt idx="3">
                  <c:v>61</c:v>
                </c:pt>
                <c:pt idx="4">
                  <c:v>66</c:v>
                </c:pt>
                <c:pt idx="5">
                  <c:v>77</c:v>
                </c:pt>
                <c:pt idx="6">
                  <c:v>69</c:v>
                </c:pt>
                <c:pt idx="7">
                  <c:v>101</c:v>
                </c:pt>
                <c:pt idx="8">
                  <c:v>69</c:v>
                </c:pt>
                <c:pt idx="9">
                  <c:v>87</c:v>
                </c:pt>
                <c:pt idx="10">
                  <c:v>103</c:v>
                </c:pt>
                <c:pt idx="11">
                  <c:v>74</c:v>
                </c:pt>
                <c:pt idx="12">
                  <c:v>111</c:v>
                </c:pt>
                <c:pt idx="13">
                  <c:v>63</c:v>
                </c:pt>
                <c:pt idx="14">
                  <c:v>79</c:v>
                </c:pt>
                <c:pt idx="15">
                  <c:v>66</c:v>
                </c:pt>
                <c:pt idx="16">
                  <c:v>111</c:v>
                </c:pt>
                <c:pt idx="17">
                  <c:v>140</c:v>
                </c:pt>
                <c:pt idx="18">
                  <c:v>111</c:v>
                </c:pt>
                <c:pt idx="19">
                  <c:v>71</c:v>
                </c:pt>
                <c:pt idx="20">
                  <c:v>87</c:v>
                </c:pt>
                <c:pt idx="21">
                  <c:v>77</c:v>
                </c:pt>
                <c:pt idx="22">
                  <c:v>69</c:v>
                </c:pt>
                <c:pt idx="23">
                  <c:v>111</c:v>
                </c:pt>
                <c:pt idx="24">
                  <c:v>98</c:v>
                </c:pt>
                <c:pt idx="25">
                  <c:v>108</c:v>
                </c:pt>
                <c:pt idx="26">
                  <c:v>116</c:v>
                </c:pt>
                <c:pt idx="27">
                  <c:v>74</c:v>
                </c:pt>
                <c:pt idx="28">
                  <c:v>45</c:v>
                </c:pt>
                <c:pt idx="29">
                  <c:v>103</c:v>
                </c:pt>
                <c:pt idx="30">
                  <c:v>74</c:v>
                </c:pt>
                <c:pt idx="31">
                  <c:v>90</c:v>
                </c:pt>
                <c:pt idx="32">
                  <c:v>90</c:v>
                </c:pt>
                <c:pt idx="33">
                  <c:v>74</c:v>
                </c:pt>
                <c:pt idx="34">
                  <c:v>90</c:v>
                </c:pt>
                <c:pt idx="35">
                  <c:v>95</c:v>
                </c:pt>
                <c:pt idx="36">
                  <c:v>71</c:v>
                </c:pt>
                <c:pt idx="37">
                  <c:v>77</c:v>
                </c:pt>
                <c:pt idx="38">
                  <c:v>87</c:v>
                </c:pt>
                <c:pt idx="39">
                  <c:v>71</c:v>
                </c:pt>
                <c:pt idx="40">
                  <c:v>77</c:v>
                </c:pt>
                <c:pt idx="41">
                  <c:v>69</c:v>
                </c:pt>
                <c:pt idx="42">
                  <c:v>56</c:v>
                </c:pt>
                <c:pt idx="43">
                  <c:v>63</c:v>
                </c:pt>
                <c:pt idx="44">
                  <c:v>61</c:v>
                </c:pt>
                <c:pt idx="45">
                  <c:v>66</c:v>
                </c:pt>
                <c:pt idx="46">
                  <c:v>40</c:v>
                </c:pt>
                <c:pt idx="47">
                  <c:v>74</c:v>
                </c:pt>
                <c:pt idx="48">
                  <c:v>58</c:v>
                </c:pt>
                <c:pt idx="49">
                  <c:v>56</c:v>
                </c:pt>
                <c:pt idx="50">
                  <c:v>48</c:v>
                </c:pt>
                <c:pt idx="51">
                  <c:v>42</c:v>
                </c:pt>
                <c:pt idx="52">
                  <c:v>164</c:v>
                </c:pt>
                <c:pt idx="53">
                  <c:v>87</c:v>
                </c:pt>
                <c:pt idx="54">
                  <c:v>66</c:v>
                </c:pt>
                <c:pt idx="55">
                  <c:v>66</c:v>
                </c:pt>
                <c:pt idx="56">
                  <c:v>56</c:v>
                </c:pt>
                <c:pt idx="57">
                  <c:v>42</c:v>
                </c:pt>
                <c:pt idx="58">
                  <c:v>101</c:v>
                </c:pt>
                <c:pt idx="59">
                  <c:v>77</c:v>
                </c:pt>
                <c:pt idx="60">
                  <c:v>71</c:v>
                </c:pt>
              </c:numCache>
            </c:numRef>
          </c:val>
          <c:smooth val="0"/>
        </c:ser>
        <c:dLbls>
          <c:showLegendKey val="0"/>
          <c:showVal val="0"/>
          <c:showCatName val="0"/>
          <c:showSerName val="0"/>
          <c:showPercent val="0"/>
          <c:showBubbleSize val="0"/>
        </c:dLbls>
        <c:marker val="0"/>
        <c:smooth val="0"/>
        <c:axId val="201103790"/>
        <c:axId val="978550781"/>
      </c:lineChart>
      <c:dateAx>
        <c:axId val="201103790"/>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crossAx val="978550781"/>
        <c:crosses val="autoZero"/>
        <c:auto val="1"/>
        <c:lblOffset val="100"/>
        <c:baseTimeUnit val="days"/>
      </c:dateAx>
      <c:valAx>
        <c:axId val="978550781"/>
        <c:scaling>
          <c:orientation val="minMax"/>
        </c:scaling>
        <c:delete val="0"/>
        <c:axPos val="l"/>
        <c:majorGridlines>
          <c:spPr>
            <a:ln w="9525" cap="flat" cmpd="sng" algn="ctr">
              <a:solidFill>
                <a:srgbClr val="3A3A3A"/>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crossAx val="201103790"/>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legendEntry>
      <c:layout>
        <c:manualLayout>
          <c:xMode val="edge"/>
          <c:yMode val="edge"/>
          <c:x val="0.0765131578947368"/>
          <c:y val="0.105092592592593"/>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rgbClr val="D8D8D8"/>
              </a:solidFill>
              <a:latin typeface="微软雅黑" panose="020B0503020204020204" charset="-122"/>
              <a:ea typeface="微软雅黑" panose="020B0503020204020204" charset="-122"/>
              <a:cs typeface="微软雅黑" panose="020B0503020204020204" charset="-122"/>
            </a:defRPr>
          </a:pPr>
        </a:p>
      </c:txPr>
    </c:legend>
    <c:plotVisOnly val="1"/>
    <c:dispBlanksAs val="gap"/>
    <c:showDLblsOverMax val="0"/>
    <c:extLst>
      <c:ext uri="{0b15fc19-7d7d-44ad-8c2d-2c3a37ce22c3}">
        <chartProps xmlns="https://web.wps.cn/et/2018/main" chartId="{916b9597-d8fd-4e6d-bf49-238eea32c78d}"/>
      </c:ext>
    </c:extLst>
  </c:chart>
  <c:spPr>
    <a:noFill/>
    <a:ln w="9525" cap="flat" cmpd="sng" algn="ctr">
      <a:solidFill>
        <a:schemeClr val="tx1"/>
      </a:solidFill>
      <a:round/>
    </a:ln>
    <a:effectLst/>
  </c:spPr>
  <c:txPr>
    <a:bodyPr/>
    <a:lstStyle/>
    <a:p>
      <a:pPr>
        <a:defRPr lang="zh-CN">
          <a:solidFill>
            <a:srgbClr val="D8D8D8"/>
          </a:solidFill>
          <a:latin typeface="微软雅黑" panose="020B0503020204020204" charset="-122"/>
          <a:ea typeface="微软雅黑" panose="020B0503020204020204" charset="-122"/>
          <a:cs typeface="微软雅黑" panose="020B0503020204020204" charset="-122"/>
        </a:defRPr>
      </a:pPr>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幻灯片图像占位符 3"/>
          <p:cNvSpPr>
            <a:spLocks noGrp="1" noRot="1" noChangeAspect="1"/>
          </p:cNvSpPr>
          <p:nvPr>
            <p:ph type="sldImg" idx="2"/>
          </p:nvPr>
        </p:nvSpPr>
        <p:spPr>
          <a:xfrm>
            <a:off x="685943" y="1143000"/>
            <a:ext cx="5486114" cy="3086100"/>
          </a:xfrm>
          <a:prstGeom prst="rect">
            <a:avLst/>
          </a:prstGeom>
          <a:noFill/>
          <a:ln w="12700">
            <a:solidFill>
              <a:prstClr val="black"/>
            </a:solidFill>
          </a:ln>
        </p:spPr>
        <p:txBody>
          <a:bodyPr vert="horz" lIns="91440" tIns="45720" rIns="91440" bIns="45720"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latin typeface="微软雅黑" panose="020B0503020204020204" charset="-122"/>
                <a:ea typeface="微软雅黑" panose="020B0503020204020204" charset="-122"/>
                <a:cs typeface="微软雅黑" panose="020B0503020204020204" charset="-122"/>
              </a:rPr>
              <a:t>单击此处编辑母版文本样式</a:t>
            </a:r>
            <a:endParaRPr lang="zh-CN" altLang="en-US" smtClean="0">
              <a:latin typeface="微软雅黑" panose="020B0503020204020204" charset="-122"/>
              <a:ea typeface="微软雅黑" panose="020B0503020204020204" charset="-122"/>
              <a:cs typeface="微软雅黑" panose="020B0503020204020204" charset="-122"/>
            </a:endParaRPr>
          </a:p>
          <a:p>
            <a:pPr lvl="1"/>
            <a:r>
              <a:rPr lang="zh-CN" altLang="en-US" smtClean="0">
                <a:latin typeface="微软雅黑" panose="020B0503020204020204" charset="-122"/>
                <a:ea typeface="微软雅黑" panose="020B0503020204020204" charset="-122"/>
                <a:cs typeface="微软雅黑" panose="020B0503020204020204" charset="-122"/>
              </a:rPr>
              <a:t>第二级</a:t>
            </a:r>
            <a:endParaRPr lang="zh-CN" altLang="en-US" smtClean="0">
              <a:latin typeface="微软雅黑" panose="020B0503020204020204" charset="-122"/>
              <a:ea typeface="微软雅黑" panose="020B0503020204020204" charset="-122"/>
              <a:cs typeface="微软雅黑" panose="020B0503020204020204" charset="-122"/>
            </a:endParaRPr>
          </a:p>
          <a:p>
            <a:pPr lvl="2"/>
            <a:r>
              <a:rPr lang="zh-CN" altLang="en-US" smtClean="0">
                <a:latin typeface="微软雅黑" panose="020B0503020204020204" charset="-122"/>
                <a:ea typeface="微软雅黑" panose="020B0503020204020204" charset="-122"/>
                <a:cs typeface="微软雅黑" panose="020B0503020204020204" charset="-122"/>
              </a:rPr>
              <a:t>第三级</a:t>
            </a:r>
            <a:endParaRPr lang="zh-CN" altLang="en-US" smtClean="0">
              <a:latin typeface="微软雅黑" panose="020B0503020204020204" charset="-122"/>
              <a:ea typeface="微软雅黑" panose="020B0503020204020204" charset="-122"/>
              <a:cs typeface="微软雅黑" panose="020B0503020204020204" charset="-122"/>
            </a:endParaRPr>
          </a:p>
          <a:p>
            <a:pPr lvl="3"/>
            <a:r>
              <a:rPr lang="zh-CN" altLang="en-US" smtClean="0">
                <a:latin typeface="微软雅黑" panose="020B0503020204020204" charset="-122"/>
                <a:ea typeface="微软雅黑" panose="020B0503020204020204" charset="-122"/>
                <a:cs typeface="微软雅黑" panose="020B0503020204020204" charset="-122"/>
              </a:rPr>
              <a:t>第四级</a:t>
            </a:r>
            <a:endParaRPr lang="zh-CN" altLang="en-US" smtClean="0">
              <a:latin typeface="微软雅黑" panose="020B0503020204020204" charset="-122"/>
              <a:ea typeface="微软雅黑" panose="020B0503020204020204" charset="-122"/>
              <a:cs typeface="微软雅黑" panose="020B0503020204020204" charset="-122"/>
            </a:endParaRPr>
          </a:p>
          <a:p>
            <a:pPr lvl="4"/>
            <a:r>
              <a:rPr lang="zh-CN" altLang="en-US" smtClean="0">
                <a:latin typeface="微软雅黑" panose="020B0503020204020204" charset="-122"/>
                <a:ea typeface="微软雅黑" panose="020B0503020204020204" charset="-122"/>
                <a:cs typeface="微软雅黑" panose="020B0503020204020204" charset="-122"/>
              </a:rPr>
              <a:t>第五级</a:t>
            </a:r>
            <a:endParaRPr lang="zh-CN" altLang="en-US">
              <a:latin typeface="微软雅黑" panose="020B0503020204020204" charset="-122"/>
              <a:ea typeface="微软雅黑" panose="020B0503020204020204" charset="-122"/>
              <a:cs typeface="微软雅黑" panose="020B0503020204020204" charset="-122"/>
            </a:endParaRP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6pPr>
    <a:lvl7pPr marL="2743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7pPr>
    <a:lvl8pPr marL="3200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8pPr>
    <a:lvl9pPr marL="3657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1pPr>
            <a:lvl2pPr marL="4572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2pPr>
            <a:lvl3pPr marL="9144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3pPr>
            <a:lvl4pPr marL="13716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4pPr>
            <a:lvl5pPr marL="18288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5pPr>
            <a:lvl6pPr marL="22860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6pPr>
            <a:lvl7pPr marL="27432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7pPr>
            <a:lvl8pPr marL="32004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8pPr>
            <a:lvl9pPr marL="3657600" indent="0" algn="ctr">
              <a:buNone/>
              <a:defRPr>
                <a:solidFill>
                  <a:schemeClr val="tx1">
                    <a:tint val="75000"/>
                  </a:schemeClr>
                </a:solidFill>
                <a:latin typeface="微软雅黑" panose="020B0503020204020204" charset="-122"/>
                <a:ea typeface="微软雅黑" panose="020B0503020204020204" charset="-122"/>
                <a:cs typeface="微软雅黑" panose="020B0503020204020204" charset="-122"/>
              </a:defRPr>
            </a:lvl9pPr>
          </a:lstStyle>
          <a:p>
            <a:r>
              <a:rPr lang="en-US" smtClean="0">
                <a:latin typeface="微软雅黑" panose="020B0503020204020204" charset="-122"/>
                <a:ea typeface="微软雅黑" panose="020B0503020204020204" charset="-122"/>
                <a:cs typeface="微软雅黑" panose="020B0503020204020204" charset="-122"/>
              </a:rPr>
              <a:t>Click to edit Master subtitle style</a:t>
            </a:r>
            <a:endParaRPr lang="en-US">
              <a:latin typeface="微软雅黑" panose="020B0503020204020204" charset="-122"/>
              <a:ea typeface="微软雅黑" panose="020B0503020204020204" charset="-122"/>
              <a:cs typeface="微软雅黑" panose="020B0503020204020204" charset="-122"/>
            </a:endParaRPr>
          </a:p>
        </p:txBody>
      </p:sp>
      <p:sp>
        <p:nvSpPr>
          <p:cNvPr id="4" name="Date Placeholder 3"/>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5" name="Footer Placeholder 4"/>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Content Placeholder 2"/>
          <p:cNvSpPr>
            <a:spLocks noGrp="1"/>
          </p:cNvSpPr>
          <p:nvPr>
            <p:ph idx="1"/>
          </p:nvPr>
        </p:nvSpPr>
        <p:spPr/>
        <p:txBody>
          <a:body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4" name="Date Placeholder 3"/>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5" name="Footer Placeholder 4"/>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微软雅黑" panose="020B0503020204020204" charset="-122"/>
                <a:ea typeface="微软雅黑" panose="020B0503020204020204" charset="-122"/>
                <a:cs typeface="微软雅黑" panose="020B0503020204020204" charset="-122"/>
              </a:defRPr>
            </a:lvl1p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vl2pPr marL="457200" indent="0">
              <a:buNone/>
              <a:defRPr sz="1800">
                <a:solidFill>
                  <a:schemeClr val="tx1">
                    <a:tint val="75000"/>
                  </a:schemeClr>
                </a:solidFill>
                <a:latin typeface="微软雅黑" panose="020B0503020204020204" charset="-122"/>
                <a:ea typeface="微软雅黑" panose="020B0503020204020204" charset="-122"/>
                <a:cs typeface="微软雅黑" panose="020B0503020204020204" charset="-122"/>
              </a:defRPr>
            </a:lvl2pPr>
            <a:lvl3pPr marL="914400" indent="0">
              <a:buNone/>
              <a:defRPr sz="1600">
                <a:solidFill>
                  <a:schemeClr val="tx1">
                    <a:tint val="75000"/>
                  </a:schemeClr>
                </a:solidFill>
                <a:latin typeface="微软雅黑" panose="020B0503020204020204" charset="-122"/>
                <a:ea typeface="微软雅黑" panose="020B0503020204020204" charset="-122"/>
                <a:cs typeface="微软雅黑" panose="020B0503020204020204" charset="-122"/>
              </a:defRPr>
            </a:lvl3pPr>
            <a:lvl4pPr marL="1371600" indent="0">
              <a:buNone/>
              <a:defRPr sz="1400">
                <a:solidFill>
                  <a:schemeClr val="tx1">
                    <a:tint val="75000"/>
                  </a:schemeClr>
                </a:solidFill>
                <a:latin typeface="微软雅黑" panose="020B0503020204020204" charset="-122"/>
                <a:ea typeface="微软雅黑" panose="020B0503020204020204" charset="-122"/>
                <a:cs typeface="微软雅黑" panose="020B0503020204020204" charset="-122"/>
              </a:defRPr>
            </a:lvl4pPr>
            <a:lvl5pPr marL="1828800" indent="0">
              <a:buNone/>
              <a:defRPr sz="1400">
                <a:solidFill>
                  <a:schemeClr val="tx1">
                    <a:tint val="75000"/>
                  </a:schemeClr>
                </a:solidFill>
                <a:latin typeface="微软雅黑" panose="020B0503020204020204" charset="-122"/>
                <a:ea typeface="微软雅黑" panose="020B0503020204020204" charset="-122"/>
                <a:cs typeface="微软雅黑" panose="020B0503020204020204" charset="-122"/>
              </a:defRPr>
            </a:lvl5pPr>
            <a:lvl6pPr marL="2286000" indent="0">
              <a:buNone/>
              <a:defRPr sz="1400">
                <a:solidFill>
                  <a:schemeClr val="tx1">
                    <a:tint val="75000"/>
                  </a:schemeClr>
                </a:solidFill>
                <a:latin typeface="微软雅黑" panose="020B0503020204020204" charset="-122"/>
                <a:ea typeface="微软雅黑" panose="020B0503020204020204" charset="-122"/>
                <a:cs typeface="微软雅黑" panose="020B0503020204020204" charset="-122"/>
              </a:defRPr>
            </a:lvl6pPr>
            <a:lvl7pPr marL="2743200" indent="0">
              <a:buNone/>
              <a:defRPr sz="1400">
                <a:solidFill>
                  <a:schemeClr val="tx1">
                    <a:tint val="75000"/>
                  </a:schemeClr>
                </a:solidFill>
                <a:latin typeface="微软雅黑" panose="020B0503020204020204" charset="-122"/>
                <a:ea typeface="微软雅黑" panose="020B0503020204020204" charset="-122"/>
                <a:cs typeface="微软雅黑" panose="020B0503020204020204" charset="-122"/>
              </a:defRPr>
            </a:lvl7pPr>
            <a:lvl8pPr marL="3200400" indent="0">
              <a:buNone/>
              <a:defRPr sz="1400">
                <a:solidFill>
                  <a:schemeClr val="tx1">
                    <a:tint val="75000"/>
                  </a:schemeClr>
                </a:solidFill>
                <a:latin typeface="微软雅黑" panose="020B0503020204020204" charset="-122"/>
                <a:ea typeface="微软雅黑" panose="020B0503020204020204" charset="-122"/>
                <a:cs typeface="微软雅黑" panose="020B0503020204020204" charset="-122"/>
              </a:defRPr>
            </a:lvl8pPr>
            <a:lvl9pPr marL="3657600" indent="0">
              <a:buNone/>
              <a:defRPr sz="1400">
                <a:solidFill>
                  <a:schemeClr val="tx1">
                    <a:tint val="75000"/>
                  </a:schemeClr>
                </a:solidFill>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p:txBody>
      </p:sp>
      <p:sp>
        <p:nvSpPr>
          <p:cNvPr id="4" name="Date Placeholder 3"/>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5" name="Footer Placeholder 4"/>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Content Placeholder 2"/>
          <p:cNvSpPr>
            <a:spLocks noGrp="1"/>
          </p:cNvSpPr>
          <p:nvPr>
            <p:ph sz="half" idx="1"/>
          </p:nvPr>
        </p:nvSpPr>
        <p:spPr>
          <a:xfrm>
            <a:off x="457200" y="1600200"/>
            <a:ext cx="4038600" cy="4525963"/>
          </a:xfrm>
        </p:spPr>
        <p:txBody>
          <a:bodyPr/>
          <a:lstStyle>
            <a:lvl1pPr>
              <a:defRPr sz="2800">
                <a:latin typeface="微软雅黑" panose="020B0503020204020204" charset="-122"/>
                <a:ea typeface="微软雅黑" panose="020B0503020204020204" charset="-122"/>
                <a:cs typeface="微软雅黑" panose="020B0503020204020204" charset="-122"/>
              </a:defRPr>
            </a:lvl1pPr>
            <a:lvl2pPr>
              <a:defRPr sz="2400">
                <a:latin typeface="微软雅黑" panose="020B0503020204020204" charset="-122"/>
                <a:ea typeface="微软雅黑" panose="020B0503020204020204" charset="-122"/>
                <a:cs typeface="微软雅黑" panose="020B0503020204020204" charset="-122"/>
              </a:defRPr>
            </a:lvl2pPr>
            <a:lvl3pPr>
              <a:defRPr sz="2000">
                <a:latin typeface="微软雅黑" panose="020B0503020204020204" charset="-122"/>
                <a:ea typeface="微软雅黑" panose="020B0503020204020204" charset="-122"/>
                <a:cs typeface="微软雅黑" panose="020B0503020204020204" charset="-122"/>
              </a:defRPr>
            </a:lvl3pPr>
            <a:lvl4pPr>
              <a:defRPr sz="1800">
                <a:latin typeface="微软雅黑" panose="020B0503020204020204" charset="-122"/>
                <a:ea typeface="微软雅黑" panose="020B0503020204020204" charset="-122"/>
                <a:cs typeface="微软雅黑" panose="020B0503020204020204" charset="-122"/>
              </a:defRPr>
            </a:lvl4pPr>
            <a:lvl5pPr>
              <a:defRPr sz="1800">
                <a:latin typeface="微软雅黑" panose="020B0503020204020204" charset="-122"/>
                <a:ea typeface="微软雅黑" panose="020B0503020204020204" charset="-122"/>
                <a:cs typeface="微软雅黑" panose="020B0503020204020204" charset="-122"/>
              </a:defRPr>
            </a:lvl5pPr>
            <a:lvl6pPr>
              <a:defRPr sz="1800">
                <a:latin typeface="微软雅黑" panose="020B0503020204020204" charset="-122"/>
                <a:ea typeface="微软雅黑" panose="020B0503020204020204" charset="-122"/>
                <a:cs typeface="微软雅黑" panose="020B0503020204020204" charset="-122"/>
              </a:defRPr>
            </a:lvl6pPr>
            <a:lvl7pPr>
              <a:defRPr sz="1800">
                <a:latin typeface="微软雅黑" panose="020B0503020204020204" charset="-122"/>
                <a:ea typeface="微软雅黑" panose="020B0503020204020204" charset="-122"/>
                <a:cs typeface="微软雅黑" panose="020B0503020204020204" charset="-122"/>
              </a:defRPr>
            </a:lvl7pPr>
            <a:lvl8pPr>
              <a:defRPr sz="1800">
                <a:latin typeface="微软雅黑" panose="020B0503020204020204" charset="-122"/>
                <a:ea typeface="微软雅黑" panose="020B0503020204020204" charset="-122"/>
                <a:cs typeface="微软雅黑" panose="020B0503020204020204" charset="-122"/>
              </a:defRPr>
            </a:lvl8pPr>
            <a:lvl9pPr>
              <a:defRPr sz="18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4" name="Content Placeholder 3"/>
          <p:cNvSpPr>
            <a:spLocks noGrp="1"/>
          </p:cNvSpPr>
          <p:nvPr>
            <p:ph sz="half" idx="2"/>
          </p:nvPr>
        </p:nvSpPr>
        <p:spPr>
          <a:xfrm>
            <a:off x="4648200" y="1600200"/>
            <a:ext cx="4038600" cy="4525963"/>
          </a:xfrm>
        </p:spPr>
        <p:txBody>
          <a:bodyPr/>
          <a:lstStyle>
            <a:lvl1pPr>
              <a:defRPr sz="2800">
                <a:latin typeface="微软雅黑" panose="020B0503020204020204" charset="-122"/>
                <a:ea typeface="微软雅黑" panose="020B0503020204020204" charset="-122"/>
                <a:cs typeface="微软雅黑" panose="020B0503020204020204" charset="-122"/>
              </a:defRPr>
            </a:lvl1pPr>
            <a:lvl2pPr>
              <a:defRPr sz="2400">
                <a:latin typeface="微软雅黑" panose="020B0503020204020204" charset="-122"/>
                <a:ea typeface="微软雅黑" panose="020B0503020204020204" charset="-122"/>
                <a:cs typeface="微软雅黑" panose="020B0503020204020204" charset="-122"/>
              </a:defRPr>
            </a:lvl2pPr>
            <a:lvl3pPr>
              <a:defRPr sz="2000">
                <a:latin typeface="微软雅黑" panose="020B0503020204020204" charset="-122"/>
                <a:ea typeface="微软雅黑" panose="020B0503020204020204" charset="-122"/>
                <a:cs typeface="微软雅黑" panose="020B0503020204020204" charset="-122"/>
              </a:defRPr>
            </a:lvl3pPr>
            <a:lvl4pPr>
              <a:defRPr sz="1800">
                <a:latin typeface="微软雅黑" panose="020B0503020204020204" charset="-122"/>
                <a:ea typeface="微软雅黑" panose="020B0503020204020204" charset="-122"/>
                <a:cs typeface="微软雅黑" panose="020B0503020204020204" charset="-122"/>
              </a:defRPr>
            </a:lvl4pPr>
            <a:lvl5pPr>
              <a:defRPr sz="1800">
                <a:latin typeface="微软雅黑" panose="020B0503020204020204" charset="-122"/>
                <a:ea typeface="微软雅黑" panose="020B0503020204020204" charset="-122"/>
                <a:cs typeface="微软雅黑" panose="020B0503020204020204" charset="-122"/>
              </a:defRPr>
            </a:lvl5pPr>
            <a:lvl6pPr>
              <a:defRPr sz="1800">
                <a:latin typeface="微软雅黑" panose="020B0503020204020204" charset="-122"/>
                <a:ea typeface="微软雅黑" panose="020B0503020204020204" charset="-122"/>
                <a:cs typeface="微软雅黑" panose="020B0503020204020204" charset="-122"/>
              </a:defRPr>
            </a:lvl6pPr>
            <a:lvl7pPr>
              <a:defRPr sz="1800">
                <a:latin typeface="微软雅黑" panose="020B0503020204020204" charset="-122"/>
                <a:ea typeface="微软雅黑" panose="020B0503020204020204" charset="-122"/>
                <a:cs typeface="微软雅黑" panose="020B0503020204020204" charset="-122"/>
              </a:defRPr>
            </a:lvl7pPr>
            <a:lvl8pPr>
              <a:defRPr sz="1800">
                <a:latin typeface="微软雅黑" panose="020B0503020204020204" charset="-122"/>
                <a:ea typeface="微软雅黑" panose="020B0503020204020204" charset="-122"/>
                <a:cs typeface="微软雅黑" panose="020B0503020204020204" charset="-122"/>
              </a:defRPr>
            </a:lvl8pPr>
            <a:lvl9pPr>
              <a:defRPr sz="18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5" name="Date Placeholder 4"/>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6" name="Footer Placeholder 5"/>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微软雅黑" panose="020B0503020204020204" charset="-122"/>
                <a:ea typeface="微软雅黑" panose="020B0503020204020204" charset="-122"/>
                <a:cs typeface="微软雅黑" panose="020B0503020204020204" charset="-122"/>
              </a:defRPr>
            </a:lvl1pPr>
            <a:lvl2pPr marL="457200" indent="0">
              <a:buNone/>
              <a:defRPr sz="2000" b="1">
                <a:latin typeface="微软雅黑" panose="020B0503020204020204" charset="-122"/>
                <a:ea typeface="微软雅黑" panose="020B0503020204020204" charset="-122"/>
                <a:cs typeface="微软雅黑" panose="020B0503020204020204" charset="-122"/>
              </a:defRPr>
            </a:lvl2pPr>
            <a:lvl3pPr marL="914400" indent="0">
              <a:buNone/>
              <a:defRPr sz="1800" b="1">
                <a:latin typeface="微软雅黑" panose="020B0503020204020204" charset="-122"/>
                <a:ea typeface="微软雅黑" panose="020B0503020204020204" charset="-122"/>
                <a:cs typeface="微软雅黑" panose="020B0503020204020204" charset="-122"/>
              </a:defRPr>
            </a:lvl3pPr>
            <a:lvl4pPr marL="1371600" indent="0">
              <a:buNone/>
              <a:defRPr sz="1600" b="1">
                <a:latin typeface="微软雅黑" panose="020B0503020204020204" charset="-122"/>
                <a:ea typeface="微软雅黑" panose="020B0503020204020204" charset="-122"/>
                <a:cs typeface="微软雅黑" panose="020B0503020204020204" charset="-122"/>
              </a:defRPr>
            </a:lvl4pPr>
            <a:lvl5pPr marL="1828800" indent="0">
              <a:buNone/>
              <a:defRPr sz="1600" b="1">
                <a:latin typeface="微软雅黑" panose="020B0503020204020204" charset="-122"/>
                <a:ea typeface="微软雅黑" panose="020B0503020204020204" charset="-122"/>
                <a:cs typeface="微软雅黑" panose="020B0503020204020204" charset="-122"/>
              </a:defRPr>
            </a:lvl5pPr>
            <a:lvl6pPr marL="2286000" indent="0">
              <a:buNone/>
              <a:defRPr sz="1600" b="1">
                <a:latin typeface="微软雅黑" panose="020B0503020204020204" charset="-122"/>
                <a:ea typeface="微软雅黑" panose="020B0503020204020204" charset="-122"/>
                <a:cs typeface="微软雅黑" panose="020B0503020204020204" charset="-122"/>
              </a:defRPr>
            </a:lvl6pPr>
            <a:lvl7pPr marL="2743200" indent="0">
              <a:buNone/>
              <a:defRPr sz="1600" b="1">
                <a:latin typeface="微软雅黑" panose="020B0503020204020204" charset="-122"/>
                <a:ea typeface="微软雅黑" panose="020B0503020204020204" charset="-122"/>
                <a:cs typeface="微软雅黑" panose="020B0503020204020204" charset="-122"/>
              </a:defRPr>
            </a:lvl7pPr>
            <a:lvl8pPr marL="3200400" indent="0">
              <a:buNone/>
              <a:defRPr sz="1600" b="1">
                <a:latin typeface="微软雅黑" panose="020B0503020204020204" charset="-122"/>
                <a:ea typeface="微软雅黑" panose="020B0503020204020204" charset="-122"/>
                <a:cs typeface="微软雅黑" panose="020B0503020204020204" charset="-122"/>
              </a:defRPr>
            </a:lvl8pPr>
            <a:lvl9pPr marL="3657600" indent="0">
              <a:buNone/>
              <a:defRPr sz="1600" b="1">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p:txBody>
      </p:sp>
      <p:sp>
        <p:nvSpPr>
          <p:cNvPr id="4" name="Content Placeholder 3"/>
          <p:cNvSpPr>
            <a:spLocks noGrp="1"/>
          </p:cNvSpPr>
          <p:nvPr>
            <p:ph sz="half" idx="2"/>
          </p:nvPr>
        </p:nvSpPr>
        <p:spPr>
          <a:xfrm>
            <a:off x="457200" y="2174875"/>
            <a:ext cx="4040188" cy="3951288"/>
          </a:xfrm>
        </p:spPr>
        <p:txBody>
          <a:bodyPr/>
          <a:lstStyle>
            <a:lvl1pPr>
              <a:defRPr sz="2400">
                <a:latin typeface="微软雅黑" panose="020B0503020204020204" charset="-122"/>
                <a:ea typeface="微软雅黑" panose="020B0503020204020204" charset="-122"/>
                <a:cs typeface="微软雅黑" panose="020B0503020204020204" charset="-122"/>
              </a:defRPr>
            </a:lvl1pPr>
            <a:lvl2pPr>
              <a:defRPr sz="2000">
                <a:latin typeface="微软雅黑" panose="020B0503020204020204" charset="-122"/>
                <a:ea typeface="微软雅黑" panose="020B0503020204020204" charset="-122"/>
                <a:cs typeface="微软雅黑" panose="020B0503020204020204" charset="-122"/>
              </a:defRPr>
            </a:lvl2pPr>
            <a:lvl3pPr>
              <a:defRPr sz="1800">
                <a:latin typeface="微软雅黑" panose="020B0503020204020204" charset="-122"/>
                <a:ea typeface="微软雅黑" panose="020B0503020204020204" charset="-122"/>
                <a:cs typeface="微软雅黑" panose="020B0503020204020204" charset="-122"/>
              </a:defRPr>
            </a:lvl3pPr>
            <a:lvl4pPr>
              <a:defRPr sz="1600">
                <a:latin typeface="微软雅黑" panose="020B0503020204020204" charset="-122"/>
                <a:ea typeface="微软雅黑" panose="020B0503020204020204" charset="-122"/>
                <a:cs typeface="微软雅黑" panose="020B0503020204020204" charset="-122"/>
              </a:defRPr>
            </a:lvl4pPr>
            <a:lvl5pPr>
              <a:defRPr sz="1600">
                <a:latin typeface="微软雅黑" panose="020B0503020204020204" charset="-122"/>
                <a:ea typeface="微软雅黑" panose="020B0503020204020204" charset="-122"/>
                <a:cs typeface="微软雅黑" panose="020B0503020204020204" charset="-122"/>
              </a:defRPr>
            </a:lvl5pPr>
            <a:lvl6pPr>
              <a:defRPr sz="1600">
                <a:latin typeface="微软雅黑" panose="020B0503020204020204" charset="-122"/>
                <a:ea typeface="微软雅黑" panose="020B0503020204020204" charset="-122"/>
                <a:cs typeface="微软雅黑" panose="020B0503020204020204" charset="-122"/>
              </a:defRPr>
            </a:lvl6pPr>
            <a:lvl7pPr>
              <a:defRPr sz="1600">
                <a:latin typeface="微软雅黑" panose="020B0503020204020204" charset="-122"/>
                <a:ea typeface="微软雅黑" panose="020B0503020204020204" charset="-122"/>
                <a:cs typeface="微软雅黑" panose="020B0503020204020204" charset="-122"/>
              </a:defRPr>
            </a:lvl7pPr>
            <a:lvl8pPr>
              <a:defRPr sz="1600">
                <a:latin typeface="微软雅黑" panose="020B0503020204020204" charset="-122"/>
                <a:ea typeface="微软雅黑" panose="020B0503020204020204" charset="-122"/>
                <a:cs typeface="微软雅黑" panose="020B0503020204020204" charset="-122"/>
              </a:defRPr>
            </a:lvl8pPr>
            <a:lvl9pPr>
              <a:defRPr sz="16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微软雅黑" panose="020B0503020204020204" charset="-122"/>
                <a:ea typeface="微软雅黑" panose="020B0503020204020204" charset="-122"/>
                <a:cs typeface="微软雅黑" panose="020B0503020204020204" charset="-122"/>
              </a:defRPr>
            </a:lvl1pPr>
            <a:lvl2pPr marL="457200" indent="0">
              <a:buNone/>
              <a:defRPr sz="2000" b="1">
                <a:latin typeface="微软雅黑" panose="020B0503020204020204" charset="-122"/>
                <a:ea typeface="微软雅黑" panose="020B0503020204020204" charset="-122"/>
                <a:cs typeface="微软雅黑" panose="020B0503020204020204" charset="-122"/>
              </a:defRPr>
            </a:lvl2pPr>
            <a:lvl3pPr marL="914400" indent="0">
              <a:buNone/>
              <a:defRPr sz="1800" b="1">
                <a:latin typeface="微软雅黑" panose="020B0503020204020204" charset="-122"/>
                <a:ea typeface="微软雅黑" panose="020B0503020204020204" charset="-122"/>
                <a:cs typeface="微软雅黑" panose="020B0503020204020204" charset="-122"/>
              </a:defRPr>
            </a:lvl3pPr>
            <a:lvl4pPr marL="1371600" indent="0">
              <a:buNone/>
              <a:defRPr sz="1600" b="1">
                <a:latin typeface="微软雅黑" panose="020B0503020204020204" charset="-122"/>
                <a:ea typeface="微软雅黑" panose="020B0503020204020204" charset="-122"/>
                <a:cs typeface="微软雅黑" panose="020B0503020204020204" charset="-122"/>
              </a:defRPr>
            </a:lvl4pPr>
            <a:lvl5pPr marL="1828800" indent="0">
              <a:buNone/>
              <a:defRPr sz="1600" b="1">
                <a:latin typeface="微软雅黑" panose="020B0503020204020204" charset="-122"/>
                <a:ea typeface="微软雅黑" panose="020B0503020204020204" charset="-122"/>
                <a:cs typeface="微软雅黑" panose="020B0503020204020204" charset="-122"/>
              </a:defRPr>
            </a:lvl5pPr>
            <a:lvl6pPr marL="2286000" indent="0">
              <a:buNone/>
              <a:defRPr sz="1600" b="1">
                <a:latin typeface="微软雅黑" panose="020B0503020204020204" charset="-122"/>
                <a:ea typeface="微软雅黑" panose="020B0503020204020204" charset="-122"/>
                <a:cs typeface="微软雅黑" panose="020B0503020204020204" charset="-122"/>
              </a:defRPr>
            </a:lvl6pPr>
            <a:lvl7pPr marL="2743200" indent="0">
              <a:buNone/>
              <a:defRPr sz="1600" b="1">
                <a:latin typeface="微软雅黑" panose="020B0503020204020204" charset="-122"/>
                <a:ea typeface="微软雅黑" panose="020B0503020204020204" charset="-122"/>
                <a:cs typeface="微软雅黑" panose="020B0503020204020204" charset="-122"/>
              </a:defRPr>
            </a:lvl7pPr>
            <a:lvl8pPr marL="3200400" indent="0">
              <a:buNone/>
              <a:defRPr sz="1600" b="1">
                <a:latin typeface="微软雅黑" panose="020B0503020204020204" charset="-122"/>
                <a:ea typeface="微软雅黑" panose="020B0503020204020204" charset="-122"/>
                <a:cs typeface="微软雅黑" panose="020B0503020204020204" charset="-122"/>
              </a:defRPr>
            </a:lvl8pPr>
            <a:lvl9pPr marL="3657600" indent="0">
              <a:buNone/>
              <a:defRPr sz="1600" b="1">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p:txBody>
      </p:sp>
      <p:sp>
        <p:nvSpPr>
          <p:cNvPr id="6" name="Content Placeholder 5"/>
          <p:cNvSpPr>
            <a:spLocks noGrp="1"/>
          </p:cNvSpPr>
          <p:nvPr>
            <p:ph sz="quarter" idx="4"/>
          </p:nvPr>
        </p:nvSpPr>
        <p:spPr>
          <a:xfrm>
            <a:off x="4645025" y="2174875"/>
            <a:ext cx="4041775" cy="3951288"/>
          </a:xfrm>
        </p:spPr>
        <p:txBody>
          <a:bodyPr/>
          <a:lstStyle>
            <a:lvl1pPr>
              <a:defRPr sz="2400">
                <a:latin typeface="微软雅黑" panose="020B0503020204020204" charset="-122"/>
                <a:ea typeface="微软雅黑" panose="020B0503020204020204" charset="-122"/>
                <a:cs typeface="微软雅黑" panose="020B0503020204020204" charset="-122"/>
              </a:defRPr>
            </a:lvl1pPr>
            <a:lvl2pPr>
              <a:defRPr sz="2000">
                <a:latin typeface="微软雅黑" panose="020B0503020204020204" charset="-122"/>
                <a:ea typeface="微软雅黑" panose="020B0503020204020204" charset="-122"/>
                <a:cs typeface="微软雅黑" panose="020B0503020204020204" charset="-122"/>
              </a:defRPr>
            </a:lvl2pPr>
            <a:lvl3pPr>
              <a:defRPr sz="1800">
                <a:latin typeface="微软雅黑" panose="020B0503020204020204" charset="-122"/>
                <a:ea typeface="微软雅黑" panose="020B0503020204020204" charset="-122"/>
                <a:cs typeface="微软雅黑" panose="020B0503020204020204" charset="-122"/>
              </a:defRPr>
            </a:lvl3pPr>
            <a:lvl4pPr>
              <a:defRPr sz="1600">
                <a:latin typeface="微软雅黑" panose="020B0503020204020204" charset="-122"/>
                <a:ea typeface="微软雅黑" panose="020B0503020204020204" charset="-122"/>
                <a:cs typeface="微软雅黑" panose="020B0503020204020204" charset="-122"/>
              </a:defRPr>
            </a:lvl4pPr>
            <a:lvl5pPr>
              <a:defRPr sz="1600">
                <a:latin typeface="微软雅黑" panose="020B0503020204020204" charset="-122"/>
                <a:ea typeface="微软雅黑" panose="020B0503020204020204" charset="-122"/>
                <a:cs typeface="微软雅黑" panose="020B0503020204020204" charset="-122"/>
              </a:defRPr>
            </a:lvl5pPr>
            <a:lvl6pPr>
              <a:defRPr sz="1600">
                <a:latin typeface="微软雅黑" panose="020B0503020204020204" charset="-122"/>
                <a:ea typeface="微软雅黑" panose="020B0503020204020204" charset="-122"/>
                <a:cs typeface="微软雅黑" panose="020B0503020204020204" charset="-122"/>
              </a:defRPr>
            </a:lvl6pPr>
            <a:lvl7pPr>
              <a:defRPr sz="1600">
                <a:latin typeface="微软雅黑" panose="020B0503020204020204" charset="-122"/>
                <a:ea typeface="微软雅黑" panose="020B0503020204020204" charset="-122"/>
                <a:cs typeface="微软雅黑" panose="020B0503020204020204" charset="-122"/>
              </a:defRPr>
            </a:lvl7pPr>
            <a:lvl8pPr>
              <a:defRPr sz="1600">
                <a:latin typeface="微软雅黑" panose="020B0503020204020204" charset="-122"/>
                <a:ea typeface="微软雅黑" panose="020B0503020204020204" charset="-122"/>
                <a:cs typeface="微软雅黑" panose="020B0503020204020204" charset="-122"/>
              </a:defRPr>
            </a:lvl8pPr>
            <a:lvl9pPr>
              <a:defRPr sz="16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7" name="Date Placeholder 6"/>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8" name="Footer Placeholder 7"/>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Date Placeholder 2"/>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4" name="Footer Placeholder 3"/>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E0E0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3" name="Footer Placeholder 2"/>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微软雅黑" panose="020B0503020204020204" charset="-122"/>
                <a:ea typeface="微软雅黑" panose="020B0503020204020204" charset="-122"/>
                <a:cs typeface="微软雅黑" panose="020B0503020204020204" charset="-122"/>
              </a:defRPr>
            </a:lvl1p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Content Placeholder 2"/>
          <p:cNvSpPr>
            <a:spLocks noGrp="1"/>
          </p:cNvSpPr>
          <p:nvPr>
            <p:ph idx="1"/>
          </p:nvPr>
        </p:nvSpPr>
        <p:spPr>
          <a:xfrm>
            <a:off x="3575050" y="273050"/>
            <a:ext cx="5111750" cy="5853113"/>
          </a:xfrm>
        </p:spPr>
        <p:txBody>
          <a:bodyPr/>
          <a:lstStyle>
            <a:lvl1pPr>
              <a:defRPr sz="3200">
                <a:latin typeface="微软雅黑" panose="020B0503020204020204" charset="-122"/>
                <a:ea typeface="微软雅黑" panose="020B0503020204020204" charset="-122"/>
                <a:cs typeface="微软雅黑" panose="020B0503020204020204" charset="-122"/>
              </a:defRPr>
            </a:lvl1pPr>
            <a:lvl2pPr>
              <a:defRPr sz="2800">
                <a:latin typeface="微软雅黑" panose="020B0503020204020204" charset="-122"/>
                <a:ea typeface="微软雅黑" panose="020B0503020204020204" charset="-122"/>
                <a:cs typeface="微软雅黑" panose="020B0503020204020204" charset="-122"/>
              </a:defRPr>
            </a:lvl2pPr>
            <a:lvl3pPr>
              <a:defRPr sz="2400">
                <a:latin typeface="微软雅黑" panose="020B0503020204020204" charset="-122"/>
                <a:ea typeface="微软雅黑" panose="020B0503020204020204" charset="-122"/>
                <a:cs typeface="微软雅黑" panose="020B0503020204020204" charset="-122"/>
              </a:defRPr>
            </a:lvl3pPr>
            <a:lvl4pPr>
              <a:defRPr sz="2000">
                <a:latin typeface="微软雅黑" panose="020B0503020204020204" charset="-122"/>
                <a:ea typeface="微软雅黑" panose="020B0503020204020204" charset="-122"/>
                <a:cs typeface="微软雅黑" panose="020B0503020204020204" charset="-122"/>
              </a:defRPr>
            </a:lvl4pPr>
            <a:lvl5pPr>
              <a:defRPr sz="2000">
                <a:latin typeface="微软雅黑" panose="020B0503020204020204" charset="-122"/>
                <a:ea typeface="微软雅黑" panose="020B0503020204020204" charset="-122"/>
                <a:cs typeface="微软雅黑" panose="020B0503020204020204" charset="-122"/>
              </a:defRPr>
            </a:lvl5pPr>
            <a:lvl6pPr>
              <a:defRPr sz="2000">
                <a:latin typeface="微软雅黑" panose="020B0503020204020204" charset="-122"/>
                <a:ea typeface="微软雅黑" panose="020B0503020204020204" charset="-122"/>
                <a:cs typeface="微软雅黑" panose="020B0503020204020204" charset="-122"/>
              </a:defRPr>
            </a:lvl6pPr>
            <a:lvl7pPr>
              <a:defRPr sz="2000">
                <a:latin typeface="微软雅黑" panose="020B0503020204020204" charset="-122"/>
                <a:ea typeface="微软雅黑" panose="020B0503020204020204" charset="-122"/>
                <a:cs typeface="微软雅黑" panose="020B0503020204020204" charset="-122"/>
              </a:defRPr>
            </a:lvl7pPr>
            <a:lvl8pPr>
              <a:defRPr sz="2000">
                <a:latin typeface="微软雅黑" panose="020B0503020204020204" charset="-122"/>
                <a:ea typeface="微软雅黑" panose="020B0503020204020204" charset="-122"/>
                <a:cs typeface="微软雅黑" panose="020B0503020204020204" charset="-122"/>
              </a:defRPr>
            </a:lvl8pPr>
            <a:lvl9pPr>
              <a:defRPr sz="20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微软雅黑" panose="020B0503020204020204" charset="-122"/>
                <a:ea typeface="微软雅黑" panose="020B0503020204020204" charset="-122"/>
                <a:cs typeface="微软雅黑" panose="020B0503020204020204" charset="-122"/>
              </a:defRPr>
            </a:lvl1pPr>
            <a:lvl2pPr marL="457200" indent="0">
              <a:buNone/>
              <a:defRPr sz="1200">
                <a:latin typeface="微软雅黑" panose="020B0503020204020204" charset="-122"/>
                <a:ea typeface="微软雅黑" panose="020B0503020204020204" charset="-122"/>
                <a:cs typeface="微软雅黑" panose="020B0503020204020204" charset="-122"/>
              </a:defRPr>
            </a:lvl2pPr>
            <a:lvl3pPr marL="914400" indent="0">
              <a:buNone/>
              <a:defRPr sz="1000">
                <a:latin typeface="微软雅黑" panose="020B0503020204020204" charset="-122"/>
                <a:ea typeface="微软雅黑" panose="020B0503020204020204" charset="-122"/>
                <a:cs typeface="微软雅黑" panose="020B0503020204020204" charset="-122"/>
              </a:defRPr>
            </a:lvl3pPr>
            <a:lvl4pPr marL="1371600" indent="0">
              <a:buNone/>
              <a:defRPr sz="900">
                <a:latin typeface="微软雅黑" panose="020B0503020204020204" charset="-122"/>
                <a:ea typeface="微软雅黑" panose="020B0503020204020204" charset="-122"/>
                <a:cs typeface="微软雅黑" panose="020B0503020204020204" charset="-122"/>
              </a:defRPr>
            </a:lvl4pPr>
            <a:lvl5pPr marL="1828800" indent="0">
              <a:buNone/>
              <a:defRPr sz="900">
                <a:latin typeface="微软雅黑" panose="020B0503020204020204" charset="-122"/>
                <a:ea typeface="微软雅黑" panose="020B0503020204020204" charset="-122"/>
                <a:cs typeface="微软雅黑" panose="020B0503020204020204" charset="-122"/>
              </a:defRPr>
            </a:lvl5pPr>
            <a:lvl6pPr marL="2286000" indent="0">
              <a:buNone/>
              <a:defRPr sz="900">
                <a:latin typeface="微软雅黑" panose="020B0503020204020204" charset="-122"/>
                <a:ea typeface="微软雅黑" panose="020B0503020204020204" charset="-122"/>
                <a:cs typeface="微软雅黑" panose="020B0503020204020204" charset="-122"/>
              </a:defRPr>
            </a:lvl6pPr>
            <a:lvl7pPr marL="2743200" indent="0">
              <a:buNone/>
              <a:defRPr sz="900">
                <a:latin typeface="微软雅黑" panose="020B0503020204020204" charset="-122"/>
                <a:ea typeface="微软雅黑" panose="020B0503020204020204" charset="-122"/>
                <a:cs typeface="微软雅黑" panose="020B0503020204020204" charset="-122"/>
              </a:defRPr>
            </a:lvl7pPr>
            <a:lvl8pPr marL="3200400" indent="0">
              <a:buNone/>
              <a:defRPr sz="900">
                <a:latin typeface="微软雅黑" panose="020B0503020204020204" charset="-122"/>
                <a:ea typeface="微软雅黑" panose="020B0503020204020204" charset="-122"/>
                <a:cs typeface="微软雅黑" panose="020B0503020204020204" charset="-122"/>
              </a:defRPr>
            </a:lvl8pPr>
            <a:lvl9pPr marL="3657600" indent="0">
              <a:buNone/>
              <a:defRPr sz="9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p:txBody>
      </p:sp>
      <p:sp>
        <p:nvSpPr>
          <p:cNvPr id="5" name="Date Placeholder 4"/>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6" name="Footer Placeholder 5"/>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微软雅黑" panose="020B0503020204020204" charset="-122"/>
                <a:ea typeface="微软雅黑" panose="020B0503020204020204" charset="-122"/>
                <a:cs typeface="微软雅黑" panose="020B0503020204020204" charset="-122"/>
              </a:defRPr>
            </a:lvl1p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微软雅黑" panose="020B0503020204020204" charset="-122"/>
                <a:ea typeface="微软雅黑" panose="020B0503020204020204" charset="-122"/>
                <a:cs typeface="微软雅黑" panose="020B0503020204020204" charset="-122"/>
              </a:defRPr>
            </a:lvl1pPr>
            <a:lvl2pPr marL="457200" indent="0">
              <a:buNone/>
              <a:defRPr sz="2800">
                <a:latin typeface="微软雅黑" panose="020B0503020204020204" charset="-122"/>
                <a:ea typeface="微软雅黑" panose="020B0503020204020204" charset="-122"/>
                <a:cs typeface="微软雅黑" panose="020B0503020204020204" charset="-122"/>
              </a:defRPr>
            </a:lvl2pPr>
            <a:lvl3pPr marL="914400" indent="0">
              <a:buNone/>
              <a:defRPr sz="2400">
                <a:latin typeface="微软雅黑" panose="020B0503020204020204" charset="-122"/>
                <a:ea typeface="微软雅黑" panose="020B0503020204020204" charset="-122"/>
                <a:cs typeface="微软雅黑" panose="020B0503020204020204" charset="-122"/>
              </a:defRPr>
            </a:lvl3pPr>
            <a:lvl4pPr marL="1371600" indent="0">
              <a:buNone/>
              <a:defRPr sz="2000">
                <a:latin typeface="微软雅黑" panose="020B0503020204020204" charset="-122"/>
                <a:ea typeface="微软雅黑" panose="020B0503020204020204" charset="-122"/>
                <a:cs typeface="微软雅黑" panose="020B0503020204020204" charset="-122"/>
              </a:defRPr>
            </a:lvl4pPr>
            <a:lvl5pPr marL="1828800" indent="0">
              <a:buNone/>
              <a:defRPr sz="2000">
                <a:latin typeface="微软雅黑" panose="020B0503020204020204" charset="-122"/>
                <a:ea typeface="微软雅黑" panose="020B0503020204020204" charset="-122"/>
                <a:cs typeface="微软雅黑" panose="020B0503020204020204" charset="-122"/>
              </a:defRPr>
            </a:lvl5pPr>
            <a:lvl6pPr marL="2286000" indent="0">
              <a:buNone/>
              <a:defRPr sz="2000">
                <a:latin typeface="微软雅黑" panose="020B0503020204020204" charset="-122"/>
                <a:ea typeface="微软雅黑" panose="020B0503020204020204" charset="-122"/>
                <a:cs typeface="微软雅黑" panose="020B0503020204020204" charset="-122"/>
              </a:defRPr>
            </a:lvl6pPr>
            <a:lvl7pPr marL="2743200" indent="0">
              <a:buNone/>
              <a:defRPr sz="2000">
                <a:latin typeface="微软雅黑" panose="020B0503020204020204" charset="-122"/>
                <a:ea typeface="微软雅黑" panose="020B0503020204020204" charset="-122"/>
                <a:cs typeface="微软雅黑" panose="020B0503020204020204" charset="-122"/>
              </a:defRPr>
            </a:lvl7pPr>
            <a:lvl8pPr marL="3200400" indent="0">
              <a:buNone/>
              <a:defRPr sz="2000">
                <a:latin typeface="微软雅黑" panose="020B0503020204020204" charset="-122"/>
                <a:ea typeface="微软雅黑" panose="020B0503020204020204" charset="-122"/>
                <a:cs typeface="微软雅黑" panose="020B0503020204020204" charset="-122"/>
              </a:defRPr>
            </a:lvl8pPr>
            <a:lvl9pPr marL="3657600" indent="0">
              <a:buNone/>
              <a:defRPr sz="2000">
                <a:latin typeface="微软雅黑" panose="020B0503020204020204" charset="-122"/>
                <a:ea typeface="微软雅黑" panose="020B0503020204020204" charset="-122"/>
                <a:cs typeface="微软雅黑" panose="020B0503020204020204" charset="-122"/>
              </a:defRPr>
            </a:lvl9pPr>
          </a:lstStyle>
          <a:p>
            <a:endParaRPr lang="en-US">
              <a:latin typeface="微软雅黑" panose="020B0503020204020204" charset="-122"/>
              <a:ea typeface="微软雅黑" panose="020B0503020204020204" charset="-122"/>
              <a:cs typeface="微软雅黑" panose="020B0503020204020204" charset="-122"/>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微软雅黑" panose="020B0503020204020204" charset="-122"/>
                <a:ea typeface="微软雅黑" panose="020B0503020204020204" charset="-122"/>
                <a:cs typeface="微软雅黑" panose="020B0503020204020204" charset="-122"/>
              </a:defRPr>
            </a:lvl1pPr>
            <a:lvl2pPr marL="457200" indent="0">
              <a:buNone/>
              <a:defRPr sz="1200">
                <a:latin typeface="微软雅黑" panose="020B0503020204020204" charset="-122"/>
                <a:ea typeface="微软雅黑" panose="020B0503020204020204" charset="-122"/>
                <a:cs typeface="微软雅黑" panose="020B0503020204020204" charset="-122"/>
              </a:defRPr>
            </a:lvl2pPr>
            <a:lvl3pPr marL="914400" indent="0">
              <a:buNone/>
              <a:defRPr sz="1000">
                <a:latin typeface="微软雅黑" panose="020B0503020204020204" charset="-122"/>
                <a:ea typeface="微软雅黑" panose="020B0503020204020204" charset="-122"/>
                <a:cs typeface="微软雅黑" panose="020B0503020204020204" charset="-122"/>
              </a:defRPr>
            </a:lvl3pPr>
            <a:lvl4pPr marL="1371600" indent="0">
              <a:buNone/>
              <a:defRPr sz="900">
                <a:latin typeface="微软雅黑" panose="020B0503020204020204" charset="-122"/>
                <a:ea typeface="微软雅黑" panose="020B0503020204020204" charset="-122"/>
                <a:cs typeface="微软雅黑" panose="020B0503020204020204" charset="-122"/>
              </a:defRPr>
            </a:lvl4pPr>
            <a:lvl5pPr marL="1828800" indent="0">
              <a:buNone/>
              <a:defRPr sz="900">
                <a:latin typeface="微软雅黑" panose="020B0503020204020204" charset="-122"/>
                <a:ea typeface="微软雅黑" panose="020B0503020204020204" charset="-122"/>
                <a:cs typeface="微软雅黑" panose="020B0503020204020204" charset="-122"/>
              </a:defRPr>
            </a:lvl5pPr>
            <a:lvl6pPr marL="2286000" indent="0">
              <a:buNone/>
              <a:defRPr sz="900">
                <a:latin typeface="微软雅黑" panose="020B0503020204020204" charset="-122"/>
                <a:ea typeface="微软雅黑" panose="020B0503020204020204" charset="-122"/>
                <a:cs typeface="微软雅黑" panose="020B0503020204020204" charset="-122"/>
              </a:defRPr>
            </a:lvl6pPr>
            <a:lvl7pPr marL="2743200" indent="0">
              <a:buNone/>
              <a:defRPr sz="900">
                <a:latin typeface="微软雅黑" panose="020B0503020204020204" charset="-122"/>
                <a:ea typeface="微软雅黑" panose="020B0503020204020204" charset="-122"/>
                <a:cs typeface="微软雅黑" panose="020B0503020204020204" charset="-122"/>
              </a:defRPr>
            </a:lvl7pPr>
            <a:lvl8pPr marL="3200400" indent="0">
              <a:buNone/>
              <a:defRPr sz="900">
                <a:latin typeface="微软雅黑" panose="020B0503020204020204" charset="-122"/>
                <a:ea typeface="微软雅黑" panose="020B0503020204020204" charset="-122"/>
                <a:cs typeface="微软雅黑" panose="020B0503020204020204" charset="-122"/>
              </a:defRPr>
            </a:lvl8pPr>
            <a:lvl9pPr marL="3657600" indent="0">
              <a:buNone/>
              <a:defRPr sz="900">
                <a:latin typeface="微软雅黑" panose="020B0503020204020204" charset="-122"/>
                <a:ea typeface="微软雅黑" panose="020B0503020204020204" charset="-122"/>
                <a:cs typeface="微软雅黑" panose="020B0503020204020204" charset="-122"/>
              </a:defRPr>
            </a:lvl9p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p:txBody>
      </p:sp>
      <p:sp>
        <p:nvSpPr>
          <p:cNvPr id="5" name="Date Placeholder 4"/>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6" name="Footer Placeholder 5"/>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0E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Vertical Text Placeholder 2"/>
          <p:cNvSpPr>
            <a:spLocks noGrp="1"/>
          </p:cNvSpPr>
          <p:nvPr>
            <p:ph type="body" orient="vert" idx="1"/>
          </p:nvPr>
        </p:nvSpPr>
        <p:spPr/>
        <p:txBody>
          <a:bodyPr vert="eaVert"/>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4" name="Date Placeholder 3"/>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5" name="Footer Placeholder 4"/>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0E0E0E"/>
        </a:soli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4" name="Date Placeholder 3"/>
          <p:cNvSpPr>
            <a:spLocks noGrp="1"/>
          </p:cNvSpPr>
          <p:nvPr>
            <p:ph type="dt" sz="half" idx="10"/>
          </p:nvPr>
        </p:nvSpPr>
        <p:spPr/>
        <p:txBody>
          <a:body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5" name="Footer Placeholder 4"/>
          <p:cNvSpPr>
            <a:spLocks noGrp="1"/>
          </p:cNvSpPr>
          <p:nvPr>
            <p:ph type="ftr" sz="quarter" idx="11"/>
          </p:nvPr>
        </p:nvSpPr>
        <p:spPr/>
        <p:txBody>
          <a:bodyPr/>
          <a:lstStyle/>
          <a:p>
            <a:endParaRPr lang="en-US">
              <a:latin typeface="微软雅黑" panose="020B0503020204020204" charset="-122"/>
              <a:ea typeface="微软雅黑" panose="020B0503020204020204" charset="-122"/>
              <a:cs typeface="微软雅黑" panose="020B0503020204020204" charset="-122"/>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0E0E0E"/>
        </a:solidFill>
        <a:effectLst/>
      </p:bgPr>
    </p:bg>
    <p:spTree>
      <p:nvGrpSpPr>
        <p:cNvPr id="1" name=""/>
        <p:cNvGrpSpPr/>
        <p:nvPr/>
      </p:nvGrpSpPr>
      <p:grpSpPr>
        <a:xfrm>
          <a:off x="0" y="0"/>
          <a:ext cx="0" cy="0"/>
          <a:chOff x="0" y="0"/>
          <a:chExt cx="0" cy="0"/>
        </a:xfrm>
      </p:grpSpPr>
      <p:pic>
        <p:nvPicPr>
          <p:cNvPr id="3" name="图片 2" descr="/Users/even/Downloads/未标题-1画板 1_2.jpg未标题-1画板 1_2"/>
          <p:cNvPicPr>
            <a:picLocks noChangeAspect="1"/>
          </p:cNvPicPr>
          <p:nvPr userDrawn="1"/>
        </p:nvPicPr>
        <p:blipFill>
          <a:blip r:embed="rId2"/>
          <a:srcRect/>
          <a:stretch>
            <a:fillRect/>
          </a:stretch>
        </p:blipFill>
        <p:spPr>
          <a:xfrm>
            <a:off x="0" y="0"/>
            <a:ext cx="12191365" cy="6858000"/>
          </a:xfrm>
          <a:prstGeom prst="rect">
            <a:avLst/>
          </a:prstGeom>
          <a:solidFill>
            <a:srgbClr val="0E0E0E"/>
          </a:solid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showMasterSp="0">
  <p:cSld name="3_节标题">
    <p:spTree>
      <p:nvGrpSpPr>
        <p:cNvPr id="1" name=""/>
        <p:cNvGrpSpPr/>
        <p:nvPr/>
      </p:nvGrpSpPr>
      <p:grpSpPr>
        <a:xfrm>
          <a:off x="0" y="0"/>
          <a:ext cx="0" cy="0"/>
          <a:chOff x="0" y="0"/>
          <a:chExt cx="0" cy="0"/>
        </a:xfrm>
      </p:grpSpPr>
      <p:sp>
        <p:nvSpPr>
          <p:cNvPr id="350" name="矩形 2"/>
          <p:cNvSpPr/>
          <p:nvPr/>
        </p:nvSpPr>
        <p:spPr>
          <a:xfrm>
            <a:off x="0" y="0"/>
            <a:ext cx="12191365" cy="663388"/>
          </a:xfrm>
          <a:prstGeom prst="rect">
            <a:avLst/>
          </a:prstGeom>
          <a:solidFill>
            <a:srgbClr val="000000"/>
          </a:solidFill>
          <a:ln w="12700">
            <a:miter lim="400000"/>
          </a:ln>
        </p:spPr>
        <p:txBody>
          <a:bodyPr lIns="45716" rIns="45716" anchor="ct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p:txBody>
      </p:sp>
      <p:pic>
        <p:nvPicPr>
          <p:cNvPr id="351" name="图片 4" descr="图片 4"/>
          <p:cNvPicPr>
            <a:picLocks noChangeAspect="1"/>
          </p:cNvPicPr>
          <p:nvPr/>
        </p:nvPicPr>
        <p:blipFill>
          <a:blip r:embed="rId2"/>
          <a:stretch>
            <a:fillRect/>
          </a:stretch>
        </p:blipFill>
        <p:spPr>
          <a:xfrm>
            <a:off x="9645523" y="103536"/>
            <a:ext cx="2321738" cy="517979"/>
          </a:xfrm>
          <a:prstGeom prst="rect">
            <a:avLst/>
          </a:prstGeom>
          <a:ln w="12700">
            <a:miter lim="400000"/>
            <a:headEnd/>
            <a:tailEnd/>
          </a:ln>
        </p:spPr>
      </p:pic>
      <p:sp>
        <p:nvSpPr>
          <p:cNvPr id="352" name="Slide Number"/>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latin typeface="微软雅黑" panose="020B0503020204020204" charset="-122"/>
                <a:ea typeface="微软雅黑" panose="020B0503020204020204" charset="-122"/>
                <a:cs typeface="微软雅黑" panose="020B0503020204020204" charset="-122"/>
              </a:rPr>
              <a:t>Click to edit Master title style</a:t>
            </a:r>
            <a:endParaRPr lang="en-US">
              <a:latin typeface="微软雅黑" panose="020B0503020204020204" charset="-122"/>
              <a:ea typeface="微软雅黑" panose="020B0503020204020204" charset="-122"/>
              <a:cs typeface="微软雅黑" panose="020B0503020204020204" charset="-122"/>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latin typeface="微软雅黑" panose="020B0503020204020204" charset="-122"/>
                <a:ea typeface="微软雅黑" panose="020B0503020204020204" charset="-122"/>
                <a:cs typeface="微软雅黑" panose="020B0503020204020204" charset="-122"/>
              </a:rPr>
              <a:t>Click to edit Master text styles</a:t>
            </a:r>
            <a:endParaRPr lang="en-US" smtClean="0">
              <a:latin typeface="微软雅黑" panose="020B0503020204020204" charset="-122"/>
              <a:ea typeface="微软雅黑" panose="020B0503020204020204" charset="-122"/>
              <a:cs typeface="微软雅黑" panose="020B0503020204020204" charset="-122"/>
            </a:endParaRPr>
          </a:p>
          <a:p>
            <a:pPr lvl="1"/>
            <a:r>
              <a:rPr lang="en-US" smtClean="0">
                <a:latin typeface="微软雅黑" panose="020B0503020204020204" charset="-122"/>
                <a:ea typeface="微软雅黑" panose="020B0503020204020204" charset="-122"/>
                <a:cs typeface="微软雅黑" panose="020B0503020204020204" charset="-122"/>
              </a:rPr>
              <a:t>Second level</a:t>
            </a:r>
            <a:endParaRPr lang="en-US" smtClean="0">
              <a:latin typeface="微软雅黑" panose="020B0503020204020204" charset="-122"/>
              <a:ea typeface="微软雅黑" panose="020B0503020204020204" charset="-122"/>
              <a:cs typeface="微软雅黑" panose="020B0503020204020204" charset="-122"/>
            </a:endParaRPr>
          </a:p>
          <a:p>
            <a:pPr lvl="2"/>
            <a:r>
              <a:rPr lang="en-US" smtClean="0">
                <a:latin typeface="微软雅黑" panose="020B0503020204020204" charset="-122"/>
                <a:ea typeface="微软雅黑" panose="020B0503020204020204" charset="-122"/>
                <a:cs typeface="微软雅黑" panose="020B0503020204020204" charset="-122"/>
              </a:rPr>
              <a:t>Third level</a:t>
            </a:r>
            <a:endParaRPr lang="en-US" smtClean="0">
              <a:latin typeface="微软雅黑" panose="020B0503020204020204" charset="-122"/>
              <a:ea typeface="微软雅黑" panose="020B0503020204020204" charset="-122"/>
              <a:cs typeface="微软雅黑" panose="020B0503020204020204" charset="-122"/>
            </a:endParaRPr>
          </a:p>
          <a:p>
            <a:pPr lvl="3"/>
            <a:r>
              <a:rPr lang="en-US" smtClean="0">
                <a:latin typeface="微软雅黑" panose="020B0503020204020204" charset="-122"/>
                <a:ea typeface="微软雅黑" panose="020B0503020204020204" charset="-122"/>
                <a:cs typeface="微软雅黑" panose="020B0503020204020204" charset="-122"/>
              </a:rPr>
              <a:t>Fourth level</a:t>
            </a:r>
            <a:endParaRPr lang="en-US" smtClean="0">
              <a:latin typeface="微软雅黑" panose="020B0503020204020204" charset="-122"/>
              <a:ea typeface="微软雅黑" panose="020B0503020204020204" charset="-122"/>
              <a:cs typeface="微软雅黑" panose="020B0503020204020204" charset="-122"/>
            </a:endParaRPr>
          </a:p>
          <a:p>
            <a:pPr lvl="4"/>
            <a:r>
              <a:rPr lang="en-US" smtClean="0">
                <a:latin typeface="微软雅黑" panose="020B0503020204020204" charset="-122"/>
                <a:ea typeface="微软雅黑" panose="020B0503020204020204" charset="-122"/>
                <a:cs typeface="微软雅黑" panose="020B0503020204020204" charset="-122"/>
              </a:rPr>
              <a:t>Fifth level</a:t>
            </a:r>
            <a:endParaRPr lang="en-US">
              <a:latin typeface="微软雅黑" panose="020B0503020204020204" charset="-122"/>
              <a:ea typeface="微软雅黑" panose="020B0503020204020204" charset="-122"/>
              <a:cs typeface="微软雅黑" panose="020B0503020204020204" charset="-122"/>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BCAD085-E8A6-8845-BD4E-CB4CCA059FC4}" type="datetimeFigureOut">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a:latin typeface="微软雅黑" panose="020B0503020204020204" charset="-122"/>
              <a:ea typeface="微软雅黑" panose="020B0503020204020204" charset="-122"/>
              <a:cs typeface="微软雅黑" panose="020B0503020204020204" charset="-122"/>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C1FF6DA9-008F-8B48-92A6-B652298478BF}" type="slidenum">
              <a:rPr lang="en-US" smtClean="0">
                <a:latin typeface="微软雅黑" panose="020B0503020204020204" charset="-122"/>
                <a:ea typeface="微软雅黑" panose="020B0503020204020204" charset="-122"/>
                <a:cs typeface="微软雅黑" panose="020B0503020204020204" charset="-122"/>
              </a:rPr>
            </a:fld>
            <a:endParaRPr 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9pPr>
    </p:bodyStyle>
    <p:otherStyle>
      <a:defPPr>
        <a:defRPr lang="en-US">
          <a:latin typeface="微软雅黑" panose="020B0503020204020204" charset="-122"/>
          <a:ea typeface="微软雅黑" panose="020B0503020204020204" charset="-122"/>
          <a:cs typeface="微软雅黑" panose="020B0503020204020204" charset="-122"/>
        </a:defRPr>
      </a:defPPr>
      <a:lvl1pPr marL="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6pPr>
      <a:lvl7pPr marL="27432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7pPr>
      <a:lvl8pPr marL="32004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8pPr>
      <a:lvl9pPr marL="3657600" algn="l" defTabSz="457200"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1.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chart" Target="../charts/chart2.xml"/><Relationship Id="rId1"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9" Type="http://schemas.openxmlformats.org/officeDocument/2006/relationships/slideLayout" Target="../slideLayouts/slideLayout7.xml"/><Relationship Id="rId18" Type="http://schemas.openxmlformats.org/officeDocument/2006/relationships/image" Target="../media/image10.png"/><Relationship Id="rId17" Type="http://schemas.openxmlformats.org/officeDocument/2006/relationships/image" Target="../media/image9.png"/><Relationship Id="rId16" Type="http://schemas.openxmlformats.org/officeDocument/2006/relationships/image" Target="../media/image8.png"/><Relationship Id="rId15" Type="http://schemas.openxmlformats.org/officeDocument/2006/relationships/tags" Target="../tags/tag26.xml"/><Relationship Id="rId14" Type="http://schemas.openxmlformats.org/officeDocument/2006/relationships/tags" Target="../tags/tag25.xml"/><Relationship Id="rId13" Type="http://schemas.openxmlformats.org/officeDocument/2006/relationships/tags" Target="../tags/tag24.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tags" Target="../tags/tag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7" Type="http://schemas.openxmlformats.org/officeDocument/2006/relationships/slideLayout" Target="../slideLayouts/slideLayout7.xml"/><Relationship Id="rId16" Type="http://schemas.openxmlformats.org/officeDocument/2006/relationships/tags" Target="../tags/tag42.xml"/><Relationship Id="rId15" Type="http://schemas.openxmlformats.org/officeDocument/2006/relationships/tags" Target="../tags/tag41.xml"/><Relationship Id="rId14" Type="http://schemas.openxmlformats.org/officeDocument/2006/relationships/tags" Target="../tags/tag40.xml"/><Relationship Id="rId13" Type="http://schemas.openxmlformats.org/officeDocument/2006/relationships/tags" Target="../tags/tag39.xml"/><Relationship Id="rId12" Type="http://schemas.openxmlformats.org/officeDocument/2006/relationships/tags" Target="../tags/tag38.xml"/><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0" y="0"/>
            <a:ext cx="128016" cy="685800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777240" y="1417320"/>
            <a:ext cx="8229600" cy="320040"/>
          </a:xfrm>
          <a:prstGeom prst="rect">
            <a:avLst/>
          </a:prstGeom>
          <a:noFill/>
        </p:spPr>
        <p:txBody>
          <a:bodyPr wrap="square" lIns="0" tIns="0" rIns="0" bIns="0" anchor="t">
            <a:spAutoFit/>
          </a:bodyPr>
          <a:lstStyle/>
          <a:p>
            <a:pPr algn="l">
              <a:lnSpc>
                <a:spcPct val="122000"/>
              </a:lnSpc>
              <a:spcBef>
                <a:spcPts val="0"/>
              </a:spcBef>
              <a:spcAft>
                <a:spcPts val="300"/>
              </a:spcAft>
            </a:pPr>
            <a:r>
              <a:rPr sz="1250" b="1" i="0">
                <a:solidFill>
                  <a:srgbClr val="E8B04B"/>
                </a:solidFill>
                <a:latin typeface="微软雅黑" panose="020B0503020204020204" charset="-122"/>
                <a:ea typeface="微软雅黑" panose="020B0503020204020204" charset="-122"/>
                <a:cs typeface="微软雅黑" panose="020B0503020204020204" charset="-122"/>
              </a:rPr>
              <a:t>FUGA 大坡王黑山</a:t>
            </a:r>
            <a:endParaRPr sz="12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777240" y="1874519"/>
            <a:ext cx="10058400" cy="914400"/>
          </a:xfrm>
          <a:prstGeom prst="rect">
            <a:avLst/>
          </a:prstGeom>
          <a:noFill/>
        </p:spPr>
        <p:txBody>
          <a:bodyPr wrap="square" lIns="0" tIns="0" rIns="0" bIns="0" anchor="t">
            <a:spAutoFit/>
          </a:bodyPr>
          <a:lstStyle/>
          <a:p>
            <a:pPr algn="l">
              <a:lnSpc>
                <a:spcPct val="122000"/>
              </a:lnSpc>
              <a:spcBef>
                <a:spcPts val="0"/>
              </a:spcBef>
              <a:spcAft>
                <a:spcPts val="300"/>
              </a:spcAft>
            </a:pPr>
            <a:r>
              <a:rPr sz="4400" b="1" i="0">
                <a:solidFill>
                  <a:srgbClr val="FFFFFF"/>
                </a:solidFill>
                <a:latin typeface="微软雅黑" panose="020B0503020204020204" charset="-122"/>
                <a:ea typeface="微软雅黑" panose="020B0503020204020204" charset="-122"/>
                <a:cs typeface="微软雅黑" panose="020B0503020204020204" charset="-122"/>
              </a:rPr>
              <a:t>Q3 阶段复盘</a:t>
            </a:r>
            <a:endParaRPr sz="44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TextBox 5"/>
          <p:cNvSpPr txBox="1"/>
          <p:nvPr/>
        </p:nvSpPr>
        <p:spPr>
          <a:xfrm>
            <a:off x="777240" y="2788920"/>
            <a:ext cx="10058400" cy="822960"/>
          </a:xfrm>
          <a:prstGeom prst="rect">
            <a:avLst/>
          </a:prstGeom>
          <a:noFill/>
        </p:spPr>
        <p:txBody>
          <a:bodyPr wrap="square" lIns="0" tIns="0" rIns="0" bIns="0" anchor="t">
            <a:spAutoFit/>
          </a:bodyPr>
          <a:lstStyle/>
          <a:p>
            <a:pPr algn="l">
              <a:lnSpc>
                <a:spcPct val="122000"/>
              </a:lnSpc>
              <a:spcBef>
                <a:spcPts val="0"/>
              </a:spcBef>
              <a:spcAft>
                <a:spcPts val="300"/>
              </a:spcAft>
            </a:pPr>
            <a:r>
              <a:rPr sz="4400" b="1" i="0">
                <a:solidFill>
                  <a:srgbClr val="FFFFFF"/>
                </a:solidFill>
                <a:latin typeface="微软雅黑" panose="020B0503020204020204" charset="-122"/>
                <a:ea typeface="微软雅黑" panose="020B0503020204020204" charset="-122"/>
                <a:cs typeface="微软雅黑" panose="020B0503020204020204" charset="-122"/>
              </a:rPr>
              <a:t>&amp; Q4 策略规划</a:t>
            </a:r>
            <a:endParaRPr sz="44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Rectangle 6"/>
          <p:cNvSpPr/>
          <p:nvPr/>
        </p:nvSpPr>
        <p:spPr>
          <a:xfrm>
            <a:off x="777240" y="3794760"/>
            <a:ext cx="1463040" cy="32004"/>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8" name="TextBox 7"/>
          <p:cNvSpPr txBox="1"/>
          <p:nvPr/>
        </p:nvSpPr>
        <p:spPr>
          <a:xfrm>
            <a:off x="777240" y="4069080"/>
            <a:ext cx="10058400" cy="243205"/>
          </a:xfrm>
          <a:prstGeom prst="rect">
            <a:avLst/>
          </a:prstGeom>
          <a:noFill/>
        </p:spPr>
        <p:txBody>
          <a:bodyPr wrap="square" lIns="0" tIns="0" rIns="0" bIns="0" anchor="t">
            <a:spAutoFit/>
          </a:bodyPr>
          <a:lstStyle/>
          <a:p>
            <a:pPr algn="l">
              <a:lnSpc>
                <a:spcPct val="122000"/>
              </a:lnSpc>
              <a:spcBef>
                <a:spcPts val="0"/>
              </a:spcBef>
              <a:spcAft>
                <a:spcPts val="300"/>
              </a:spcAft>
            </a:pPr>
            <a:r>
              <a:rPr sz="1300" b="0" i="0">
                <a:solidFill>
                  <a:srgbClr val="B5B5B5"/>
                </a:solidFill>
                <a:latin typeface="微软雅黑" panose="020B0503020204020204" charset="-122"/>
                <a:ea typeface="微软雅黑" panose="020B0503020204020204" charset="-122"/>
                <a:cs typeface="微软雅黑" panose="020B0503020204020204" charset="-122"/>
              </a:rPr>
              <a:t>2026.07 — 2026.09   </a:t>
            </a:r>
            <a:endParaRPr sz="1300" b="0" i="0">
              <a:solidFill>
                <a:srgbClr val="B5B5B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548640" y="2761488"/>
            <a:ext cx="82296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548640" y="1874519"/>
            <a:ext cx="9144000" cy="788035"/>
          </a:xfrm>
          <a:prstGeom prst="rect">
            <a:avLst/>
          </a:prstGeom>
          <a:noFill/>
        </p:spPr>
        <p:txBody>
          <a:bodyPr wrap="square" lIns="0" tIns="0" rIns="0" bIns="0" anchor="t">
            <a:spAutoFit/>
          </a:bodyPr>
          <a:lstStyle/>
          <a:p>
            <a:pPr algn="l">
              <a:lnSpc>
                <a:spcPct val="122000"/>
              </a:lnSpc>
              <a:spcBef>
                <a:spcPts val="0"/>
              </a:spcBef>
              <a:spcAft>
                <a:spcPts val="300"/>
              </a:spcAft>
            </a:pPr>
            <a:r>
              <a:rPr sz="4200" b="1" i="0">
                <a:solidFill>
                  <a:srgbClr val="E8B04B"/>
                </a:solidFill>
                <a:latin typeface="微软雅黑" panose="020B0503020204020204" charset="-122"/>
                <a:ea typeface="微软雅黑" panose="020B0503020204020204" charset="-122"/>
                <a:cs typeface="微软雅黑" panose="020B0503020204020204" charset="-122"/>
              </a:rPr>
              <a:t>PART 0</a:t>
            </a:r>
            <a:r>
              <a:rPr lang="en-US" altLang="zh-CN" sz="4200" b="1" i="0">
                <a:solidFill>
                  <a:srgbClr val="E8B04B"/>
                </a:solidFill>
                <a:latin typeface="微软雅黑" panose="020B0503020204020204" charset="-122"/>
                <a:ea typeface="微软雅黑" panose="020B0503020204020204" charset="-122"/>
                <a:cs typeface="微软雅黑" panose="020B0503020204020204" charset="-122"/>
              </a:rPr>
              <a:t>1</a:t>
            </a:r>
            <a:endParaRPr sz="4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548640" y="2971800"/>
            <a:ext cx="10515600" cy="506095"/>
          </a:xfrm>
          <a:prstGeom prst="rect">
            <a:avLst/>
          </a:prstGeom>
          <a:noFill/>
        </p:spPr>
        <p:txBody>
          <a:bodyPr wrap="square" lIns="0" tIns="0" rIns="0" bIns="0" anchor="t">
            <a:spAutoFit/>
          </a:bodyPr>
          <a:lstStyle/>
          <a:p>
            <a:pPr algn="l">
              <a:lnSpc>
                <a:spcPct val="122000"/>
              </a:lnSpc>
              <a:spcBef>
                <a:spcPts val="0"/>
              </a:spcBef>
              <a:spcAft>
                <a:spcPts val="300"/>
              </a:spcAft>
            </a:pPr>
            <a:r>
              <a:rPr sz="2700" b="1">
                <a:solidFill>
                  <a:srgbClr val="FFFFFF"/>
                </a:solidFill>
                <a:latin typeface="微软雅黑" charset="0"/>
                <a:ea typeface="微软雅黑" charset="0"/>
                <a:cs typeface="微软雅黑" charset="0"/>
              </a:rPr>
              <a:t>阶段传播策略</a:t>
            </a:r>
            <a:r>
              <a:rPr lang="zh-CN" altLang="en-US" sz="2700" b="1">
                <a:solidFill>
                  <a:srgbClr val="FFFFFF"/>
                </a:solidFill>
                <a:latin typeface="微软雅黑" charset="0"/>
                <a:ea typeface="微软雅黑" charset="0"/>
                <a:cs typeface="微软雅黑" charset="0"/>
              </a:rPr>
              <a:t>回顾</a:t>
            </a:r>
            <a:endParaRPr sz="2700" b="1"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23190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1</a:t>
            </a:r>
            <a:r>
              <a:rPr sz="1050" b="1" i="0">
                <a:solidFill>
                  <a:srgbClr val="E8B04B"/>
                </a:solidFill>
                <a:latin typeface="微软雅黑" panose="020B0503020204020204" charset="-122"/>
                <a:ea typeface="微软雅黑" panose="020B0503020204020204" charset="-122"/>
                <a:cs typeface="微软雅黑" panose="020B0503020204020204" charset="-122"/>
              </a:rPr>
              <a:t>｜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3</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470154"/>
            <a:ext cx="11094415" cy="374650"/>
          </a:xfrm>
          <a:prstGeom prst="rect">
            <a:avLst/>
          </a:prstGeom>
          <a:noFill/>
        </p:spPr>
        <p:txBody>
          <a:bodyPr wrap="square" lIns="0" tIns="0" rIns="0" bIns="0" anchor="t">
            <a:spAutoFit/>
          </a:bodyPr>
          <a:lstStyle/>
          <a:p>
            <a:pPr algn="l">
              <a:lnSpc>
                <a:spcPct val="122000"/>
              </a:lnSpc>
              <a:spcBef>
                <a:spcPts val="0"/>
              </a:spcBef>
              <a:spcAft>
                <a:spcPts val="300"/>
              </a:spcAft>
            </a:pPr>
            <a:r>
              <a:rPr sz="2000" b="1" i="0">
                <a:solidFill>
                  <a:srgbClr val="FFFFFF"/>
                </a:solidFill>
                <a:latin typeface="微软雅黑" panose="020B0503020204020204" charset="-122"/>
                <a:ea typeface="微软雅黑" panose="020B0503020204020204" charset="-122"/>
                <a:cs typeface="微软雅黑" panose="020B0503020204020204" charset="-122"/>
              </a:rPr>
              <a:t>Q3 传播策略</a:t>
            </a:r>
            <a:r>
              <a:rPr lang="zh-CN" sz="2000" b="1" i="0">
                <a:solidFill>
                  <a:srgbClr val="FFFFFF"/>
                </a:solidFill>
                <a:latin typeface="微软雅黑" panose="020B0503020204020204" charset="-122"/>
                <a:ea typeface="微软雅黑" panose="020B0503020204020204" charset="-122"/>
                <a:cs typeface="微软雅黑" panose="020B0503020204020204" charset="-122"/>
              </a:rPr>
              <a:t>回顾</a:t>
            </a:r>
            <a:endParaRPr lang="zh-CN" sz="20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Rectangle 5"/>
          <p:cNvSpPr/>
          <p:nvPr/>
        </p:nvSpPr>
        <p:spPr>
          <a:xfrm>
            <a:off x="533400" y="844677"/>
            <a:ext cx="3593592" cy="45720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7" name="TextBox 6"/>
          <p:cNvSpPr txBox="1"/>
          <p:nvPr/>
        </p:nvSpPr>
        <p:spPr>
          <a:xfrm>
            <a:off x="716280" y="954405"/>
            <a:ext cx="3246120" cy="450850"/>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FFFFFF"/>
                </a:solidFill>
                <a:latin typeface="微软雅黑" panose="020B0503020204020204" charset="-122"/>
                <a:ea typeface="微软雅黑" panose="020B0503020204020204" charset="-122"/>
                <a:cs typeface="微软雅黑" panose="020B0503020204020204" charset="-122"/>
              </a:rPr>
              <a:t>7 月 ｜ 场景扩圈</a:t>
            </a:r>
            <a:r>
              <a:rPr lang="en-US" sz="1100" b="1" i="0">
                <a:solidFill>
                  <a:srgbClr val="FFFFFF"/>
                </a:solidFill>
                <a:latin typeface="微软雅黑" panose="020B0503020204020204" charset="-122"/>
                <a:ea typeface="微软雅黑" panose="020B0503020204020204" charset="-122"/>
                <a:cs typeface="微软雅黑" panose="020B0503020204020204" charset="-122"/>
              </a:rPr>
              <a:t>-</a:t>
            </a:r>
            <a:r>
              <a:rPr sz="1100" b="1">
                <a:solidFill>
                  <a:srgbClr val="E8B04B"/>
                </a:solidFill>
                <a:latin typeface="微软雅黑" panose="020B0503020204020204" charset="-122"/>
                <a:ea typeface="微软雅黑" panose="020B0503020204020204" charset="-122"/>
                <a:cs typeface="微软雅黑" panose="020B0503020204020204" charset="-122"/>
                <a:sym typeface="+mn-ea"/>
              </a:rPr>
              <a:t>暑期高质旅行</a:t>
            </a:r>
            <a:endParaRPr sz="110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300"/>
              </a:spcAft>
            </a:pPr>
            <a:endParaRPr lang="en-US" sz="1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Rectangle 14"/>
          <p:cNvSpPr/>
          <p:nvPr/>
        </p:nvSpPr>
        <p:spPr>
          <a:xfrm>
            <a:off x="4282439" y="844677"/>
            <a:ext cx="3593592" cy="45720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6" name="TextBox 15"/>
          <p:cNvSpPr txBox="1"/>
          <p:nvPr/>
        </p:nvSpPr>
        <p:spPr>
          <a:xfrm>
            <a:off x="4465319" y="954405"/>
            <a:ext cx="3246120" cy="450850"/>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FFFFFF"/>
                </a:solidFill>
                <a:latin typeface="微软雅黑" panose="020B0503020204020204" charset="-122"/>
                <a:ea typeface="微软雅黑" panose="020B0503020204020204" charset="-122"/>
                <a:cs typeface="微软雅黑" panose="020B0503020204020204" charset="-122"/>
              </a:rPr>
              <a:t>8 月 ｜ 购买理由放大</a:t>
            </a:r>
            <a:r>
              <a:rPr lang="en-US" sz="1100" b="1" i="0">
                <a:solidFill>
                  <a:srgbClr val="FFFFFF"/>
                </a:solidFill>
                <a:latin typeface="微软雅黑" panose="020B0503020204020204" charset="-122"/>
                <a:ea typeface="微软雅黑" panose="020B0503020204020204" charset="-122"/>
                <a:cs typeface="微软雅黑" panose="020B0503020204020204" charset="-122"/>
              </a:rPr>
              <a:t>-</a:t>
            </a:r>
            <a:r>
              <a:rPr sz="1100" b="1">
                <a:solidFill>
                  <a:srgbClr val="E8B04B"/>
                </a:solidFill>
                <a:latin typeface="微软雅黑" panose="020B0503020204020204" charset="-122"/>
                <a:ea typeface="微软雅黑" panose="020B0503020204020204" charset="-122"/>
                <a:cs typeface="微软雅黑" panose="020B0503020204020204" charset="-122"/>
                <a:sym typeface="+mn-ea"/>
              </a:rPr>
              <a:t>七夕 + 初秋换季</a:t>
            </a:r>
            <a:endParaRPr sz="110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300"/>
              </a:spcAft>
            </a:pPr>
            <a:endParaRPr lang="en-US" sz="1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6187439" y="1378458"/>
            <a:ext cx="1554480" cy="274320"/>
          </a:xfrm>
          <a:prstGeom prst="rect">
            <a:avLst/>
          </a:prstGeom>
          <a:noFill/>
        </p:spPr>
        <p:txBody>
          <a:bodyPr wrap="square" lIns="0" tIns="0" rIns="0" bIns="0" anchor="t">
            <a:spAutoFit/>
          </a:bodyPr>
          <a:lstStyle/>
          <a:p>
            <a:pPr algn="l">
              <a:lnSpc>
                <a:spcPct val="122000"/>
              </a:lnSpc>
              <a:spcBef>
                <a:spcPts val="0"/>
              </a:spcBef>
              <a:spcAft>
                <a:spcPts val="300"/>
              </a:spcAft>
            </a:pPr>
            <a:endParaRPr sz="90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24" name="Rectangle 23"/>
          <p:cNvSpPr/>
          <p:nvPr/>
        </p:nvSpPr>
        <p:spPr>
          <a:xfrm>
            <a:off x="8031479" y="844677"/>
            <a:ext cx="3593592" cy="45720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5" name="TextBox 24"/>
          <p:cNvSpPr txBox="1"/>
          <p:nvPr/>
        </p:nvSpPr>
        <p:spPr>
          <a:xfrm>
            <a:off x="8214359" y="954405"/>
            <a:ext cx="3246120" cy="274320"/>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FFFFFF"/>
                </a:solidFill>
                <a:latin typeface="微软雅黑" panose="020B0503020204020204" charset="-122"/>
                <a:ea typeface="微软雅黑" panose="020B0503020204020204" charset="-122"/>
                <a:cs typeface="微软雅黑" panose="020B0503020204020204" charset="-122"/>
              </a:rPr>
              <a:t>9 月 ｜ 延续高效内容组合</a:t>
            </a:r>
            <a:endParaRPr sz="1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 name="Rectangle 31"/>
          <p:cNvSpPr/>
          <p:nvPr/>
        </p:nvSpPr>
        <p:spPr>
          <a:xfrm>
            <a:off x="534670" y="1301750"/>
            <a:ext cx="11090910" cy="4572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3" name="Rectangle 32"/>
          <p:cNvSpPr/>
          <p:nvPr/>
        </p:nvSpPr>
        <p:spPr>
          <a:xfrm>
            <a:off x="545465" y="1301877"/>
            <a:ext cx="50292" cy="45720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4" name="TextBox 33"/>
          <p:cNvSpPr txBox="1"/>
          <p:nvPr/>
        </p:nvSpPr>
        <p:spPr>
          <a:xfrm>
            <a:off x="657225" y="1378585"/>
            <a:ext cx="10844530" cy="337185"/>
          </a:xfrm>
          <a:prstGeom prst="rect">
            <a:avLst/>
          </a:prstGeom>
          <a:noFill/>
        </p:spPr>
        <p:txBody>
          <a:bodyPr wrap="square" lIns="0" tIns="0" rIns="0" bIns="0" anchor="ctr">
            <a:noAutofit/>
          </a:bodyPr>
          <a:lstStyle/>
          <a:p>
            <a:pPr algn="l">
              <a:lnSpc>
                <a:spcPct val="120000"/>
              </a:lnSpc>
              <a:spcBef>
                <a:spcPts val="0"/>
              </a:spcBef>
              <a:spcAft>
                <a:spcPts val="300"/>
              </a:spcAft>
            </a:pPr>
            <a:r>
              <a:rPr sz="980" b="1" i="0">
                <a:solidFill>
                  <a:srgbClr val="FFFFFF"/>
                </a:solidFill>
                <a:latin typeface="微软雅黑" panose="020B0503020204020204" charset="-122"/>
                <a:ea typeface="微软雅黑" panose="020B0503020204020204" charset="-122"/>
                <a:cs typeface="微软雅黑" panose="020B0503020204020204" charset="-122"/>
              </a:rPr>
              <a:t>实际执行 47 篇：7 月 5 篇 · 8 月 32 篇 · 9 月 10 篇 —— 8 月单月占 68%，达人结构以尾部 37 篇为主（ugc 6 / 素人 2 / 腰部 1），报备 40 : 非报备 6；7—9 月用三个不同场景把黑山从专业跑山鞋带入更广泛的生活方式消费场景。</a:t>
            </a:r>
            <a:endParaRPr sz="98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1" name="Rectangle 40"/>
          <p:cNvSpPr/>
          <p:nvPr/>
        </p:nvSpPr>
        <p:spPr>
          <a:xfrm>
            <a:off x="713740" y="5387213"/>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graphicFrame>
        <p:nvGraphicFramePr>
          <p:cNvPr id="42" name="Table 4"/>
          <p:cNvGraphicFramePr>
            <a:graphicFrameLocks noGrp="1"/>
          </p:cNvGraphicFramePr>
          <p:nvPr>
            <p:custDataLst>
              <p:tags r:id="rId1"/>
            </p:custDataLst>
          </p:nvPr>
        </p:nvGraphicFramePr>
        <p:xfrm>
          <a:off x="548640" y="2235200"/>
          <a:ext cx="11094720" cy="1428750"/>
        </p:xfrm>
        <a:graphic>
          <a:graphicData uri="http://schemas.openxmlformats.org/drawingml/2006/table">
            <a:tbl>
              <a:tblPr/>
              <a:tblGrid>
                <a:gridCol w="1012825"/>
                <a:gridCol w="2611120"/>
                <a:gridCol w="1849755"/>
                <a:gridCol w="2037715"/>
                <a:gridCol w="3583305"/>
              </a:tblGrid>
              <a:tr h="231775">
                <a:tc>
                  <a:txBody>
                    <a:bodyPr wrap="square"/>
                    <a:p>
                      <a:pPr algn="l">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阶段</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内容</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目标人群</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投流任务</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 Q3 </a:t>
                      </a:r>
                      <a:r>
                        <a:rPr lang="zh-CN" sz="950" b="1" i="0">
                          <a:solidFill>
                            <a:srgbClr val="FFFFFF"/>
                          </a:solidFill>
                          <a:latin typeface="微软雅黑" panose="020B0503020204020204" charset="-122"/>
                          <a:ea typeface="微软雅黑" panose="020B0503020204020204" charset="-122"/>
                          <a:cs typeface="微软雅黑" panose="020B0503020204020204" charset="-122"/>
                        </a:rPr>
                        <a:t>执行</a:t>
                      </a:r>
                      <a:r>
                        <a:rPr sz="950" b="1" i="0">
                          <a:solidFill>
                            <a:srgbClr val="FFFFFF"/>
                          </a:solidFill>
                          <a:latin typeface="微软雅黑" panose="020B0503020204020204" charset="-122"/>
                          <a:ea typeface="微软雅黑" panose="020B0503020204020204" charset="-122"/>
                          <a:cs typeface="微软雅黑" panose="020B0503020204020204" charset="-122"/>
                        </a:rPr>
                        <a:t>贡献</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r>
              <a:tr h="398780">
                <a:tc>
                  <a:txBody>
                    <a:bodyPr wrap="squar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7 月</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高质旅行 / 穿搭</a:t>
                      </a:r>
                      <a:endParaRPr sz="90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（时尚大片 · 暑期出行 · 街采 · 情侣穿搭）</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轻户外、高质旅行</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扩新</a:t>
                      </a:r>
                      <a:endParaRPr sz="90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（F 为主，大规模拉新）</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人群破圈：打开轻户外时尚新客，止住 TI 下滑，完成规模起量</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99415">
                <a:tc>
                  <a:txBody>
                    <a:bodyPr wrap="squar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8 月</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礼赠 / 情侣 / 初秋穿搭</a:t>
                      </a:r>
                      <a:endParaRPr sz="90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（初秋轻奢 · 好物分享 · 家族开箱晒鞋）</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七夕、礼赠人群</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追投 / 转 TI</a:t>
                      </a:r>
                      <a:endParaRPr sz="90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（对 7 月浏览收藏互动人群二次追投）</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意向沉淀：泛流量转高价值 TI，8.24 TI 达峰值 59.64 万</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98780">
                <a:tc>
                  <a:txBody>
                    <a:bodyPr wrap="squar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9 月</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都市机能穿搭 </a:t>
                      </a:r>
                      <a:r>
                        <a:rPr lang="zh-CN" sz="900" b="0" i="0">
                          <a:solidFill>
                            <a:srgbClr val="EDEDED"/>
                          </a:solidFill>
                          <a:latin typeface="微软雅黑" panose="020B0503020204020204" charset="-122"/>
                          <a:ea typeface="微软雅黑" panose="020B0503020204020204" charset="-122"/>
                          <a:cs typeface="微软雅黑" panose="020B0503020204020204" charset="-122"/>
                        </a:rPr>
                        <a:t>（</a:t>
                      </a:r>
                      <a:r>
                        <a:rPr sz="900" b="0" i="0">
                          <a:solidFill>
                            <a:srgbClr val="EDEDED"/>
                          </a:solidFill>
                          <a:latin typeface="微软雅黑" panose="020B0503020204020204" charset="-122"/>
                          <a:ea typeface="微软雅黑" panose="020B0503020204020204" charset="-122"/>
                          <a:cs typeface="微软雅黑" panose="020B0503020204020204" charset="-122"/>
                        </a:rPr>
                        <a:t>开箱晒鞋 · </a:t>
                      </a:r>
                      <a:r>
                        <a:rPr lang="zh-CN" sz="900" b="0" i="0">
                          <a:solidFill>
                            <a:srgbClr val="EDEDED"/>
                          </a:solidFill>
                          <a:latin typeface="微软雅黑" panose="020B0503020204020204" charset="-122"/>
                          <a:ea typeface="微软雅黑" panose="020B0503020204020204" charset="-122"/>
                          <a:cs typeface="微软雅黑" panose="020B0503020204020204" charset="-122"/>
                        </a:rPr>
                        <a:t>时尚跑者</a:t>
                      </a:r>
                      <a:r>
                        <a:rPr sz="900" b="0" i="0">
                          <a:solidFill>
                            <a:srgbClr val="EDEDED"/>
                          </a:solidFill>
                          <a:latin typeface="微软雅黑" panose="020B0503020204020204" charset="-122"/>
                          <a:ea typeface="微软雅黑" panose="020B0503020204020204" charset="-122"/>
                          <a:cs typeface="微软雅黑" panose="020B0503020204020204" charset="-122"/>
                        </a:rPr>
                        <a:t>）</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奢品户外、时髦人群</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优化 CPE &amp; CPUV</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引流转化：小红盟 CPUV 64.53（环比 −40.16%）</a:t>
                      </a:r>
                      <a:endParaRPr sz="90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词包搜索累计 8.25 万</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bl>
          </a:graphicData>
        </a:graphic>
      </p:graphicFrame>
      <p:sp>
        <p:nvSpPr>
          <p:cNvPr id="46" name="TextBox 2"/>
          <p:cNvSpPr txBox="1"/>
          <p:nvPr/>
        </p:nvSpPr>
        <p:spPr>
          <a:xfrm>
            <a:off x="530225" y="1897634"/>
            <a:ext cx="11094415" cy="337820"/>
          </a:xfrm>
          <a:prstGeom prst="rect">
            <a:avLst/>
          </a:prstGeom>
          <a:noFill/>
        </p:spPr>
        <p:txBody>
          <a:bodyPr wrap="square" lIns="0" tIns="0" rIns="0" bIns="0" anchor="t">
            <a:spAutoFit/>
          </a:bodyPr>
          <a:p>
            <a:pPr algn="l">
              <a:lnSpc>
                <a:spcPct val="122000"/>
              </a:lnSpc>
              <a:spcBef>
                <a:spcPts val="0"/>
              </a:spcBef>
              <a:spcAft>
                <a:spcPts val="300"/>
              </a:spcAft>
            </a:pPr>
            <a:r>
              <a:rPr lang="zh-CN" b="1" i="0">
                <a:solidFill>
                  <a:srgbClr val="FFFFFF"/>
                </a:solidFill>
                <a:latin typeface="微软雅黑" panose="020B0503020204020204" charset="-122"/>
                <a:ea typeface="微软雅黑" panose="020B0503020204020204" charset="-122"/>
                <a:cs typeface="微软雅黑" panose="020B0503020204020204" charset="-122"/>
              </a:rPr>
              <a:t>执行</a:t>
            </a:r>
            <a:r>
              <a:rPr lang="en-US" altLang="zh-CN" b="1" i="0">
                <a:solidFill>
                  <a:srgbClr val="FFFFFF"/>
                </a:solidFill>
                <a:latin typeface="微软雅黑" panose="020B0503020204020204" charset="-122"/>
                <a:ea typeface="微软雅黑" panose="020B0503020204020204" charset="-122"/>
                <a:cs typeface="微软雅黑" panose="020B0503020204020204" charset="-122"/>
              </a:rPr>
              <a:t>step</a:t>
            </a:r>
            <a:endParaRPr lang="en-US" altLang="zh-CN"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7" name="TextBox 5"/>
          <p:cNvSpPr txBox="1"/>
          <p:nvPr/>
        </p:nvSpPr>
        <p:spPr>
          <a:xfrm>
            <a:off x="530225" y="3851528"/>
            <a:ext cx="11094415" cy="196850"/>
          </a:xfrm>
          <a:prstGeom prst="rect">
            <a:avLst/>
          </a:prstGeom>
          <a:noFill/>
        </p:spPr>
        <p:txBody>
          <a:bodyPr wrap="square" lIns="0" tIns="0" rIns="0" bIns="0" anchor="t">
            <a:spAutoFit/>
          </a:bodyPr>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阶段打法有效的指标｜对照 Q3 KPI 基线</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48" name="Rectangle 6"/>
          <p:cNvSpPr/>
          <p:nvPr/>
        </p:nvSpPr>
        <p:spPr>
          <a:xfrm>
            <a:off x="530225" y="4162425"/>
            <a:ext cx="1742389" cy="841248"/>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49" name="TextBox 7"/>
          <p:cNvSpPr txBox="1"/>
          <p:nvPr/>
        </p:nvSpPr>
        <p:spPr>
          <a:xfrm>
            <a:off x="639953" y="4235577"/>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880" b="1" i="0">
                <a:solidFill>
                  <a:srgbClr val="A8A8A8"/>
                </a:solidFill>
                <a:latin typeface="微软雅黑" panose="020B0503020204020204" charset="-122"/>
                <a:ea typeface="微软雅黑" panose="020B0503020204020204" charset="-122"/>
                <a:cs typeface="微软雅黑" panose="020B0503020204020204" charset="-122"/>
              </a:rPr>
              <a:t>TI 达标</a:t>
            </a:r>
            <a:endParaRPr sz="88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50" name="TextBox 8"/>
          <p:cNvSpPr txBox="1"/>
          <p:nvPr/>
        </p:nvSpPr>
        <p:spPr>
          <a:xfrm>
            <a:off x="639953" y="4455033"/>
            <a:ext cx="1522933" cy="310896"/>
          </a:xfrm>
          <a:prstGeom prst="rect">
            <a:avLst/>
          </a:prstGeom>
          <a:noFill/>
        </p:spPr>
        <p:txBody>
          <a:bodyPr wrap="square" lIns="0" tIns="0" rIns="0" bIns="0" anchor="t">
            <a:spAutoFit/>
          </a:bodyPr>
          <a:p>
            <a:pPr algn="l">
              <a:lnSpc>
                <a:spcPct val="116000"/>
              </a:lnSpc>
              <a:spcBef>
                <a:spcPts val="0"/>
              </a:spcBef>
              <a:spcAft>
                <a:spcPts val="300"/>
              </a:spcAft>
            </a:pPr>
            <a:r>
              <a:rPr sz="900" b="1" i="0">
                <a:solidFill>
                  <a:srgbClr val="EDEDED"/>
                </a:solidFill>
                <a:latin typeface="微软雅黑" panose="020B0503020204020204" charset="-122"/>
                <a:ea typeface="微软雅黑" panose="020B0503020204020204" charset="-122"/>
                <a:cs typeface="微软雅黑" panose="020B0503020204020204" charset="-122"/>
              </a:rPr>
              <a:t>59.64 万 / 目标 55 万</a:t>
            </a:r>
            <a:endParaRPr sz="9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51" name="TextBox 9"/>
          <p:cNvSpPr txBox="1"/>
          <p:nvPr/>
        </p:nvSpPr>
        <p:spPr>
          <a:xfrm>
            <a:off x="639953" y="4765929"/>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1100" b="1" i="0">
                <a:solidFill>
                  <a:srgbClr val="4DBF82"/>
                </a:solidFill>
                <a:latin typeface="微软雅黑" panose="020B0503020204020204" charset="-122"/>
                <a:ea typeface="微软雅黑" panose="020B0503020204020204" charset="-122"/>
                <a:cs typeface="微软雅黑" panose="020B0503020204020204" charset="-122"/>
              </a:rPr>
              <a:t>108.4%</a:t>
            </a:r>
            <a:endParaRPr sz="1100" b="1" i="0">
              <a:solidFill>
                <a:srgbClr val="4DBF82"/>
              </a:solidFill>
              <a:latin typeface="微软雅黑" panose="020B0503020204020204" charset="-122"/>
              <a:ea typeface="微软雅黑" panose="020B0503020204020204" charset="-122"/>
              <a:cs typeface="微软雅黑" panose="020B0503020204020204" charset="-122"/>
            </a:endParaRPr>
          </a:p>
        </p:txBody>
      </p:sp>
      <p:sp>
        <p:nvSpPr>
          <p:cNvPr id="52" name="Rectangle 10"/>
          <p:cNvSpPr/>
          <p:nvPr/>
        </p:nvSpPr>
        <p:spPr>
          <a:xfrm>
            <a:off x="2400630" y="4162425"/>
            <a:ext cx="1742389" cy="841248"/>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53" name="TextBox 11"/>
          <p:cNvSpPr txBox="1"/>
          <p:nvPr/>
        </p:nvSpPr>
        <p:spPr>
          <a:xfrm>
            <a:off x="2510358" y="4235577"/>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880" b="1" i="0">
                <a:solidFill>
                  <a:srgbClr val="A8A8A8"/>
                </a:solidFill>
                <a:latin typeface="微软雅黑" panose="020B0503020204020204" charset="-122"/>
                <a:ea typeface="微软雅黑" panose="020B0503020204020204" charset="-122"/>
                <a:cs typeface="微软雅黑" panose="020B0503020204020204" charset="-122"/>
              </a:rPr>
              <a:t>CPTI 优化</a:t>
            </a:r>
            <a:endParaRPr sz="88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54" name="TextBox 12"/>
          <p:cNvSpPr txBox="1"/>
          <p:nvPr/>
        </p:nvSpPr>
        <p:spPr>
          <a:xfrm>
            <a:off x="2510358" y="4455033"/>
            <a:ext cx="1522933" cy="310896"/>
          </a:xfrm>
          <a:prstGeom prst="rect">
            <a:avLst/>
          </a:prstGeom>
          <a:noFill/>
        </p:spPr>
        <p:txBody>
          <a:bodyPr wrap="square" lIns="0" tIns="0" rIns="0" bIns="0" anchor="t">
            <a:spAutoFit/>
          </a:bodyPr>
          <a:p>
            <a:pPr algn="l">
              <a:lnSpc>
                <a:spcPct val="116000"/>
              </a:lnSpc>
              <a:spcBef>
                <a:spcPts val="0"/>
              </a:spcBef>
              <a:spcAft>
                <a:spcPts val="300"/>
              </a:spcAft>
            </a:pPr>
            <a:r>
              <a:rPr sz="900" b="1" i="0">
                <a:solidFill>
                  <a:srgbClr val="EDEDED"/>
                </a:solidFill>
                <a:latin typeface="微软雅黑" panose="020B0503020204020204" charset="-122"/>
                <a:ea typeface="微软雅黑" panose="020B0503020204020204" charset="-122"/>
                <a:cs typeface="微软雅黑" panose="020B0503020204020204" charset="-122"/>
              </a:rPr>
              <a:t>3.20 → 2.66</a:t>
            </a:r>
            <a:endParaRPr sz="9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55" name="TextBox 13"/>
          <p:cNvSpPr txBox="1"/>
          <p:nvPr/>
        </p:nvSpPr>
        <p:spPr>
          <a:xfrm>
            <a:off x="2510358" y="4765929"/>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1100" b="1" i="0">
                <a:solidFill>
                  <a:srgbClr val="4DBF82"/>
                </a:solidFill>
                <a:latin typeface="微软雅黑" panose="020B0503020204020204" charset="-122"/>
                <a:ea typeface="微软雅黑" panose="020B0503020204020204" charset="-122"/>
                <a:cs typeface="微软雅黑" panose="020B0503020204020204" charset="-122"/>
              </a:rPr>
              <a:t>−16.95%</a:t>
            </a:r>
            <a:endParaRPr sz="1100" b="1" i="0">
              <a:solidFill>
                <a:srgbClr val="4DBF82"/>
              </a:solidFill>
              <a:latin typeface="微软雅黑" panose="020B0503020204020204" charset="-122"/>
              <a:ea typeface="微软雅黑" panose="020B0503020204020204" charset="-122"/>
              <a:cs typeface="微软雅黑" panose="020B0503020204020204" charset="-122"/>
            </a:endParaRPr>
          </a:p>
        </p:txBody>
      </p:sp>
      <p:sp>
        <p:nvSpPr>
          <p:cNvPr id="56" name="Rectangle 14"/>
          <p:cNvSpPr/>
          <p:nvPr/>
        </p:nvSpPr>
        <p:spPr>
          <a:xfrm>
            <a:off x="4271035" y="4162425"/>
            <a:ext cx="1742389" cy="841248"/>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57" name="TextBox 15"/>
          <p:cNvSpPr txBox="1"/>
          <p:nvPr/>
        </p:nvSpPr>
        <p:spPr>
          <a:xfrm>
            <a:off x="4380763" y="4235577"/>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880" b="1" i="0">
                <a:solidFill>
                  <a:srgbClr val="A8A8A8"/>
                </a:solidFill>
                <a:latin typeface="微软雅黑" panose="020B0503020204020204" charset="-122"/>
                <a:ea typeface="微软雅黑" panose="020B0503020204020204" charset="-122"/>
                <a:cs typeface="微软雅黑" panose="020B0503020204020204" charset="-122"/>
              </a:rPr>
              <a:t>转化有效</a:t>
            </a:r>
            <a:endParaRPr sz="88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58" name="TextBox 16"/>
          <p:cNvSpPr txBox="1"/>
          <p:nvPr/>
        </p:nvSpPr>
        <p:spPr>
          <a:xfrm>
            <a:off x="4380763" y="4455033"/>
            <a:ext cx="1522933" cy="310896"/>
          </a:xfrm>
          <a:prstGeom prst="rect">
            <a:avLst/>
          </a:prstGeom>
          <a:noFill/>
        </p:spPr>
        <p:txBody>
          <a:bodyPr wrap="square" lIns="0" tIns="0" rIns="0" bIns="0" anchor="t">
            <a:spAutoFit/>
          </a:bodyPr>
          <a:p>
            <a:pPr algn="l">
              <a:lnSpc>
                <a:spcPct val="116000"/>
              </a:lnSpc>
              <a:spcBef>
                <a:spcPts val="0"/>
              </a:spcBef>
              <a:spcAft>
                <a:spcPts val="300"/>
              </a:spcAft>
            </a:pPr>
            <a:r>
              <a:rPr sz="900" b="1" i="0">
                <a:solidFill>
                  <a:srgbClr val="EDEDED"/>
                </a:solidFill>
                <a:latin typeface="微软雅黑" panose="020B0503020204020204" charset="-122"/>
                <a:ea typeface="微软雅黑" panose="020B0503020204020204" charset="-122"/>
                <a:cs typeface="微软雅黑" panose="020B0503020204020204" charset="-122"/>
              </a:rPr>
              <a:t>CPUV 107.84 → 64.53</a:t>
            </a:r>
            <a:endParaRPr sz="9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59" name="TextBox 17"/>
          <p:cNvSpPr txBox="1"/>
          <p:nvPr/>
        </p:nvSpPr>
        <p:spPr>
          <a:xfrm>
            <a:off x="4380763" y="4765929"/>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1100" b="1" i="0">
                <a:solidFill>
                  <a:srgbClr val="4DBF82"/>
                </a:solidFill>
                <a:latin typeface="微软雅黑" panose="020B0503020204020204" charset="-122"/>
                <a:ea typeface="微软雅黑" panose="020B0503020204020204" charset="-122"/>
                <a:cs typeface="微软雅黑" panose="020B0503020204020204" charset="-122"/>
              </a:rPr>
              <a:t>−40.16%</a:t>
            </a:r>
            <a:endParaRPr sz="1100" b="1" i="0">
              <a:solidFill>
                <a:srgbClr val="4DBF82"/>
              </a:solidFill>
              <a:latin typeface="微软雅黑" panose="020B0503020204020204" charset="-122"/>
              <a:ea typeface="微软雅黑" panose="020B0503020204020204" charset="-122"/>
              <a:cs typeface="微软雅黑" panose="020B0503020204020204" charset="-122"/>
            </a:endParaRPr>
          </a:p>
        </p:txBody>
      </p:sp>
      <p:sp>
        <p:nvSpPr>
          <p:cNvPr id="60" name="Rectangle 18"/>
          <p:cNvSpPr/>
          <p:nvPr/>
        </p:nvSpPr>
        <p:spPr>
          <a:xfrm>
            <a:off x="6141440" y="4162425"/>
            <a:ext cx="1742389" cy="841248"/>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61" name="TextBox 19"/>
          <p:cNvSpPr txBox="1"/>
          <p:nvPr/>
        </p:nvSpPr>
        <p:spPr>
          <a:xfrm>
            <a:off x="6251168" y="4235577"/>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880" b="1" i="0">
                <a:solidFill>
                  <a:srgbClr val="A8A8A8"/>
                </a:solidFill>
                <a:latin typeface="微软雅黑" panose="020B0503020204020204" charset="-122"/>
                <a:ea typeface="微软雅黑" panose="020B0503020204020204" charset="-122"/>
                <a:cs typeface="微软雅黑" panose="020B0503020204020204" charset="-122"/>
              </a:rPr>
              <a:t>搜索缺口</a:t>
            </a:r>
            <a:endParaRPr sz="88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62" name="TextBox 20"/>
          <p:cNvSpPr txBox="1"/>
          <p:nvPr/>
        </p:nvSpPr>
        <p:spPr>
          <a:xfrm>
            <a:off x="6251168" y="4455033"/>
            <a:ext cx="1522933" cy="310896"/>
          </a:xfrm>
          <a:prstGeom prst="rect">
            <a:avLst/>
          </a:prstGeom>
          <a:noFill/>
        </p:spPr>
        <p:txBody>
          <a:bodyPr wrap="square" lIns="0" tIns="0" rIns="0" bIns="0" anchor="t">
            <a:spAutoFit/>
          </a:bodyPr>
          <a:p>
            <a:pPr algn="l">
              <a:lnSpc>
                <a:spcPct val="116000"/>
              </a:lnSpc>
              <a:spcBef>
                <a:spcPts val="0"/>
              </a:spcBef>
              <a:spcAft>
                <a:spcPts val="300"/>
              </a:spcAft>
            </a:pPr>
            <a:r>
              <a:rPr sz="900" b="1" i="0">
                <a:solidFill>
                  <a:srgbClr val="EDEDED"/>
                </a:solidFill>
                <a:latin typeface="微软雅黑" panose="020B0503020204020204" charset="-122"/>
                <a:ea typeface="微软雅黑" panose="020B0503020204020204" charset="-122"/>
                <a:cs typeface="微软雅黑" panose="020B0503020204020204" charset="-122"/>
              </a:rPr>
              <a:t>8.25 万 / 目标 19 万</a:t>
            </a:r>
            <a:endParaRPr sz="9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63" name="TextBox 21"/>
          <p:cNvSpPr txBox="1"/>
          <p:nvPr/>
        </p:nvSpPr>
        <p:spPr>
          <a:xfrm>
            <a:off x="6251168" y="4765929"/>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43.4%</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64" name="Rectangle 22"/>
          <p:cNvSpPr/>
          <p:nvPr/>
        </p:nvSpPr>
        <p:spPr>
          <a:xfrm>
            <a:off x="8011845" y="4162425"/>
            <a:ext cx="1742389" cy="841248"/>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65" name="TextBox 23"/>
          <p:cNvSpPr txBox="1"/>
          <p:nvPr/>
        </p:nvSpPr>
        <p:spPr>
          <a:xfrm>
            <a:off x="8121573" y="4235577"/>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880" b="1" i="0">
                <a:solidFill>
                  <a:srgbClr val="A8A8A8"/>
                </a:solidFill>
                <a:latin typeface="微软雅黑" panose="020B0503020204020204" charset="-122"/>
                <a:ea typeface="微软雅黑" panose="020B0503020204020204" charset="-122"/>
                <a:cs typeface="微软雅黑" panose="020B0503020204020204" charset="-122"/>
              </a:rPr>
              <a:t>互动超标</a:t>
            </a:r>
            <a:endParaRPr sz="88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66" name="TextBox 24"/>
          <p:cNvSpPr txBox="1"/>
          <p:nvPr/>
        </p:nvSpPr>
        <p:spPr>
          <a:xfrm>
            <a:off x="8121573" y="4455033"/>
            <a:ext cx="1522933" cy="310896"/>
          </a:xfrm>
          <a:prstGeom prst="rect">
            <a:avLst/>
          </a:prstGeom>
          <a:noFill/>
        </p:spPr>
        <p:txBody>
          <a:bodyPr wrap="square" lIns="0" tIns="0" rIns="0" bIns="0" anchor="t">
            <a:spAutoFit/>
          </a:bodyPr>
          <a:p>
            <a:pPr algn="l">
              <a:lnSpc>
                <a:spcPct val="116000"/>
              </a:lnSpc>
              <a:spcBef>
                <a:spcPts val="0"/>
              </a:spcBef>
              <a:spcAft>
                <a:spcPts val="300"/>
              </a:spcAft>
            </a:pPr>
            <a:r>
              <a:rPr sz="900" b="1" i="0">
                <a:solidFill>
                  <a:srgbClr val="EDEDED"/>
                </a:solidFill>
                <a:latin typeface="微软雅黑" panose="020B0503020204020204" charset="-122"/>
                <a:ea typeface="微软雅黑" panose="020B0503020204020204" charset="-122"/>
                <a:cs typeface="微软雅黑" panose="020B0503020204020204" charset="-122"/>
              </a:rPr>
              <a:t>CPE 19.61 / 目标 &lt;15</a:t>
            </a:r>
            <a:endParaRPr sz="9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67" name="TextBox 25"/>
          <p:cNvSpPr txBox="1"/>
          <p:nvPr/>
        </p:nvSpPr>
        <p:spPr>
          <a:xfrm>
            <a:off x="8121573" y="4765929"/>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超标 30.7%</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68" name="Rectangle 26"/>
          <p:cNvSpPr/>
          <p:nvPr/>
        </p:nvSpPr>
        <p:spPr>
          <a:xfrm>
            <a:off x="9882251" y="4162425"/>
            <a:ext cx="1742389" cy="841248"/>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69" name="TextBox 27"/>
          <p:cNvSpPr txBox="1"/>
          <p:nvPr/>
        </p:nvSpPr>
        <p:spPr>
          <a:xfrm>
            <a:off x="9991979" y="4235577"/>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880" b="1" i="0">
                <a:solidFill>
                  <a:srgbClr val="A8A8A8"/>
                </a:solidFill>
                <a:latin typeface="微软雅黑" panose="020B0503020204020204" charset="-122"/>
                <a:ea typeface="微软雅黑" panose="020B0503020204020204" charset="-122"/>
                <a:cs typeface="微软雅黑" panose="020B0503020204020204" charset="-122"/>
              </a:rPr>
              <a:t>CTR 未达</a:t>
            </a:r>
            <a:endParaRPr sz="88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70" name="TextBox 28"/>
          <p:cNvSpPr txBox="1"/>
          <p:nvPr/>
        </p:nvSpPr>
        <p:spPr>
          <a:xfrm>
            <a:off x="9991979" y="4455033"/>
            <a:ext cx="1522933" cy="310896"/>
          </a:xfrm>
          <a:prstGeom prst="rect">
            <a:avLst/>
          </a:prstGeom>
          <a:noFill/>
        </p:spPr>
        <p:txBody>
          <a:bodyPr wrap="square" lIns="0" tIns="0" rIns="0" bIns="0" anchor="t">
            <a:spAutoFit/>
          </a:bodyPr>
          <a:p>
            <a:pPr algn="l">
              <a:lnSpc>
                <a:spcPct val="116000"/>
              </a:lnSpc>
              <a:spcBef>
                <a:spcPts val="0"/>
              </a:spcBef>
              <a:spcAft>
                <a:spcPts val="300"/>
              </a:spcAft>
            </a:pPr>
            <a:r>
              <a:rPr sz="900" b="1" i="0">
                <a:solidFill>
                  <a:srgbClr val="EDEDED"/>
                </a:solidFill>
                <a:latin typeface="微软雅黑" panose="020B0503020204020204" charset="-122"/>
                <a:ea typeface="微软雅黑" panose="020B0503020204020204" charset="-122"/>
                <a:cs typeface="微软雅黑" panose="020B0503020204020204" charset="-122"/>
              </a:rPr>
              <a:t>9.77% / 目标 &gt;10%</a:t>
            </a:r>
            <a:endParaRPr sz="9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71" name="TextBox 29"/>
          <p:cNvSpPr txBox="1"/>
          <p:nvPr/>
        </p:nvSpPr>
        <p:spPr>
          <a:xfrm>
            <a:off x="9991979" y="4765929"/>
            <a:ext cx="1522933" cy="219456"/>
          </a:xfrm>
          <a:prstGeom prst="rect">
            <a:avLst/>
          </a:prstGeom>
          <a:noFill/>
        </p:spPr>
        <p:txBody>
          <a:bodyPr wrap="square" lIns="0" tIns="0" rIns="0" bIns="0" anchor="t">
            <a:spAutoFit/>
          </a:bodyPr>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差 0.23pt</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72" name="Rectangle 30"/>
          <p:cNvSpPr/>
          <p:nvPr/>
        </p:nvSpPr>
        <p:spPr>
          <a:xfrm>
            <a:off x="530225" y="5076825"/>
            <a:ext cx="11094415" cy="402336"/>
          </a:xfrm>
          <a:prstGeom prst="rect">
            <a:avLst/>
          </a:prstGeom>
          <a:solidFill>
            <a:srgbClr val="2E271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73" name="Rectangle 31"/>
          <p:cNvSpPr/>
          <p:nvPr/>
        </p:nvSpPr>
        <p:spPr>
          <a:xfrm>
            <a:off x="530225" y="5076825"/>
            <a:ext cx="50292" cy="40233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74" name="TextBox 32"/>
          <p:cNvSpPr txBox="1"/>
          <p:nvPr/>
        </p:nvSpPr>
        <p:spPr>
          <a:xfrm>
            <a:off x="731393" y="5101146"/>
            <a:ext cx="10728655" cy="353695"/>
          </a:xfrm>
          <a:prstGeom prst="rect">
            <a:avLst/>
          </a:prstGeom>
          <a:noFill/>
        </p:spPr>
        <p:txBody>
          <a:bodyPr wrap="square" lIns="0" tIns="0" rIns="0" bIns="0" anchor="ctr">
            <a:spAutoFit/>
          </a:bodyPr>
          <a:p>
            <a:pPr algn="l">
              <a:lnSpc>
                <a:spcPct val="120000"/>
              </a:lnSpc>
              <a:spcBef>
                <a:spcPts val="0"/>
              </a:spcBef>
              <a:spcAft>
                <a:spcPts val="300"/>
              </a:spcAft>
            </a:pPr>
            <a:r>
              <a:rPr sz="960" b="1" i="0">
                <a:solidFill>
                  <a:srgbClr val="FFFFFF"/>
                </a:solidFill>
                <a:latin typeface="微软雅黑" panose="020B0503020204020204" charset="-122"/>
                <a:ea typeface="微软雅黑" panose="020B0503020204020204" charset="-122"/>
                <a:cs typeface="微软雅黑" panose="020B0503020204020204" charset="-122"/>
              </a:rPr>
              <a:t>KPI 基线：CPM 56.64（&lt;120 ✅）· CPC ¥0.58（&lt;0.8 ✅）· TI 59.64 万（&gt;55 万 ✅）· CPE 19.61（&lt;15 ❌）· CTR 9.77%（&gt;10% ❌）· 搜索指数 8.25 万（19 万 ❌）—— 6 项 KPI 达标 3 项，缺口集中在互动成本与搜索。</a:t>
            </a:r>
            <a:endParaRPr sz="96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5" name="Rectangle 33"/>
          <p:cNvSpPr/>
          <p:nvPr/>
        </p:nvSpPr>
        <p:spPr>
          <a:xfrm>
            <a:off x="530225" y="5570601"/>
            <a:ext cx="5446623" cy="914400"/>
          </a:xfrm>
          <a:prstGeom prst="rect">
            <a:avLst/>
          </a:prstGeom>
          <a:solidFill>
            <a:srgbClr val="2B241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76" name="Rectangle 34"/>
          <p:cNvSpPr/>
          <p:nvPr/>
        </p:nvSpPr>
        <p:spPr>
          <a:xfrm>
            <a:off x="530225" y="5570601"/>
            <a:ext cx="45720" cy="91440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77" name="TextBox 35"/>
          <p:cNvSpPr txBox="1"/>
          <p:nvPr/>
        </p:nvSpPr>
        <p:spPr>
          <a:xfrm>
            <a:off x="713105" y="5664200"/>
            <a:ext cx="5117439" cy="745490"/>
          </a:xfrm>
          <a:prstGeom prst="rect">
            <a:avLst/>
          </a:prstGeom>
          <a:noFill/>
        </p:spPr>
        <p:txBody>
          <a:bodyPr wrap="square" lIns="0" tIns="0" rIns="0" bIns="0" anchor="ctr">
            <a:spAutoFit/>
          </a:bodyPr>
          <a:p>
            <a:pPr algn="l">
              <a:lnSpc>
                <a:spcPct val="120000"/>
              </a:lnSpc>
              <a:spcBef>
                <a:spcPts val="0"/>
              </a:spcBef>
              <a:spcAft>
                <a:spcPts val="300"/>
              </a:spcAft>
            </a:pPr>
            <a:r>
              <a:rPr sz="850" b="1" i="0">
                <a:solidFill>
                  <a:srgbClr val="E8B04B"/>
                </a:solidFill>
                <a:latin typeface="微软雅黑" panose="020B0503020204020204" charset="-122"/>
                <a:ea typeface="微软雅黑" panose="020B0503020204020204" charset="-122"/>
                <a:cs typeface="微软雅黑" panose="020B0503020204020204" charset="-122"/>
              </a:rPr>
              <a:t>LEARNING</a:t>
            </a:r>
            <a:endParaRPr sz="85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阶段打法在「人群破圈 → 意向沉淀 → 引流转化」三段上均成立，</a:t>
            </a:r>
            <a:r>
              <a:rPr sz="950" b="0" i="0">
                <a:solidFill>
                  <a:srgbClr val="D8D8D8"/>
                </a:solidFill>
                <a:latin typeface="微软雅黑" panose="020B0503020204020204" charset="-122"/>
                <a:ea typeface="微软雅黑" panose="020B0503020204020204" charset="-122"/>
                <a:cs typeface="微软雅黑" panose="020B0503020204020204" charset="-122"/>
              </a:rPr>
              <a:t>但每一段的指标承接是割裂的：8 月只做 TI、9 月只做转化，同时曝光环比 +90.02%、阅读 +96.93%，互动仅 +11.46%，规模扩张没有同步带来互动质量提升（CPE 环比 +83.29%）。</a:t>
            </a:r>
            <a:endParaRPr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78" name="Rectangle 36"/>
          <p:cNvSpPr/>
          <p:nvPr/>
        </p:nvSpPr>
        <p:spPr>
          <a:xfrm>
            <a:off x="6178016" y="5570601"/>
            <a:ext cx="5446623" cy="9144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79" name="Rectangle 37"/>
          <p:cNvSpPr/>
          <p:nvPr/>
        </p:nvSpPr>
        <p:spPr>
          <a:xfrm>
            <a:off x="6178016" y="5570601"/>
            <a:ext cx="45720" cy="91440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
        <p:nvSpPr>
          <p:cNvPr id="80" name="TextBox 38"/>
          <p:cNvSpPr txBox="1"/>
          <p:nvPr/>
        </p:nvSpPr>
        <p:spPr>
          <a:xfrm>
            <a:off x="6360896" y="5652897"/>
            <a:ext cx="5117439" cy="768096"/>
          </a:xfrm>
          <a:prstGeom prst="rect">
            <a:avLst/>
          </a:prstGeom>
          <a:noFill/>
        </p:spPr>
        <p:txBody>
          <a:bodyPr wrap="square" lIns="0" tIns="0" rIns="0" bIns="0" anchor="ctr">
            <a:spAutoFit/>
          </a:bodyPr>
          <a:p>
            <a:pPr algn="l">
              <a:lnSpc>
                <a:spcPct val="120000"/>
              </a:lnSpc>
              <a:spcBef>
                <a:spcPts val="0"/>
              </a:spcBef>
              <a:spcAft>
                <a:spcPts val="300"/>
              </a:spcAft>
            </a:pPr>
            <a:r>
              <a:rPr sz="850" b="1" i="0">
                <a:solidFill>
                  <a:srgbClr val="FFFFFF"/>
                </a:solidFill>
                <a:latin typeface="微软雅黑" panose="020B0503020204020204" charset="-122"/>
                <a:ea typeface="微软雅黑" panose="020B0503020204020204" charset="-122"/>
                <a:cs typeface="微软雅黑" panose="020B0503020204020204" charset="-122"/>
              </a:rPr>
              <a:t>NEXT STEP</a:t>
            </a:r>
            <a:endParaRPr sz="850" b="1" i="0">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Q4 每个阶段同时挂 TI / 搜索 / 转化三个目标，只调整配比不空置目标：验证期 3:3:4 释放搜索预算、放量期补 CPUV、占位期回补核心人群渗透，并联动合作广场稳住搜索赛道热度。</a:t>
            </a:r>
            <a:endParaRPr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81" name="Rectangle 39"/>
          <p:cNvSpPr/>
          <p:nvPr/>
        </p:nvSpPr>
        <p:spPr>
          <a:xfrm>
            <a:off x="657225" y="6776593"/>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80334"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548640" y="2761488"/>
            <a:ext cx="82296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548640" y="1884044"/>
            <a:ext cx="9144000" cy="788035"/>
          </a:xfrm>
          <a:prstGeom prst="rect">
            <a:avLst/>
          </a:prstGeom>
          <a:noFill/>
        </p:spPr>
        <p:txBody>
          <a:bodyPr wrap="square" lIns="0" tIns="0" rIns="0" bIns="0" anchor="t">
            <a:spAutoFit/>
          </a:bodyPr>
          <a:lstStyle/>
          <a:p>
            <a:pPr algn="l">
              <a:lnSpc>
                <a:spcPct val="122000"/>
              </a:lnSpc>
              <a:spcBef>
                <a:spcPts val="0"/>
              </a:spcBef>
              <a:spcAft>
                <a:spcPts val="300"/>
              </a:spcAft>
            </a:pPr>
            <a:r>
              <a:rPr sz="4200" b="1" i="0">
                <a:solidFill>
                  <a:srgbClr val="E8B04B"/>
                </a:solidFill>
                <a:latin typeface="微软雅黑" panose="020B0503020204020204" charset="-122"/>
                <a:ea typeface="微软雅黑" panose="020B0503020204020204" charset="-122"/>
                <a:cs typeface="微软雅黑" panose="020B0503020204020204" charset="-122"/>
              </a:rPr>
              <a:t>PART 0</a:t>
            </a:r>
            <a:r>
              <a:rPr sz="4200" b="1">
                <a:solidFill>
                  <a:srgbClr val="E8B04B"/>
                </a:solidFill>
                <a:latin typeface="微软雅黑" charset="0"/>
                <a:ea typeface="微软雅黑" charset="0"/>
                <a:cs typeface="微软雅黑" charset="0"/>
              </a:rPr>
              <a:t>2</a:t>
            </a:r>
            <a:endParaRPr>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548640" y="2971800"/>
            <a:ext cx="10515600" cy="506095"/>
          </a:xfrm>
          <a:prstGeom prst="rect">
            <a:avLst/>
          </a:prstGeom>
          <a:noFill/>
        </p:spPr>
        <p:txBody>
          <a:bodyPr wrap="square" lIns="0" tIns="0" rIns="0" bIns="0" anchor="t">
            <a:spAutoFit/>
          </a:bodyPr>
          <a:lstStyle/>
          <a:p>
            <a:pPr algn="l">
              <a:lnSpc>
                <a:spcPct val="122000"/>
              </a:lnSpc>
              <a:spcBef>
                <a:spcPts val="0"/>
              </a:spcBef>
              <a:spcAft>
                <a:spcPts val="300"/>
              </a:spcAft>
            </a:pPr>
            <a:r>
              <a:rPr lang="zh-CN" altLang="en-US" sz="2700" b="1">
                <a:solidFill>
                  <a:srgbClr val="FFFFFF"/>
                </a:solidFill>
                <a:latin typeface="微软雅黑" panose="020B0503020204020204" charset="-122"/>
                <a:ea typeface="微软雅黑" panose="020B0503020204020204" charset="-122"/>
                <a:cs typeface="微软雅黑" panose="020B0503020204020204" charset="-122"/>
              </a:rPr>
              <a:t>核心</a:t>
            </a:r>
            <a:r>
              <a:rPr lang="zh-CN" altLang="en-US" sz="2700" b="1">
                <a:solidFill>
                  <a:srgbClr val="FFFFFF"/>
                </a:solidFill>
                <a:latin typeface="微软雅黑" panose="020B0503020204020204" charset="-122"/>
                <a:ea typeface="微软雅黑" panose="020B0503020204020204" charset="-122"/>
                <a:cs typeface="Arial" panose="020B0604020202020204" pitchFamily="34" charset="0"/>
              </a:rPr>
              <a:t>投放效果展现</a:t>
            </a:r>
            <a:endParaRPr>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2</a:t>
            </a:r>
            <a:r>
              <a:rPr sz="1050" b="1" i="0">
                <a:solidFill>
                  <a:srgbClr val="E8B04B"/>
                </a:solidFill>
                <a:latin typeface="微软雅黑" panose="020B0503020204020204" charset="-122"/>
                <a:ea typeface="微软雅黑" panose="020B0503020204020204" charset="-122"/>
                <a:cs typeface="微软雅黑" panose="020B0503020204020204" charset="-122"/>
              </a:rPr>
              <a:t>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5</a:t>
            </a:r>
            <a:endParaRPr>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结果拆解：</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品牌人群渗透加深，奢品人群持续扩圈</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graphicFrame>
        <p:nvGraphicFramePr>
          <p:cNvPr id="5" name="Table 4"/>
          <p:cNvGraphicFramePr>
            <a:graphicFrameLocks noGrp="1"/>
          </p:cNvGraphicFramePr>
          <p:nvPr/>
        </p:nvGraphicFramePr>
        <p:xfrm>
          <a:off x="548640" y="1371600"/>
          <a:ext cx="11091672" cy="1911604"/>
        </p:xfrm>
        <a:graphic>
          <a:graphicData uri="http://schemas.openxmlformats.org/drawingml/2006/table">
            <a:tbl>
              <a:tblPr/>
              <a:tblGrid>
                <a:gridCol w="1417320"/>
                <a:gridCol w="3200400"/>
                <a:gridCol w="3200400"/>
                <a:gridCol w="3273552"/>
              </a:tblGrid>
              <a:tr h="365760">
                <a:tc>
                  <a:txBody>
                    <a:bodyPr wrap="square"/>
                    <a:lstStyle/>
                    <a:p>
                      <a:pPr algn="l">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维度</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行业人群竞争力</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行业内容竞争力</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50" b="1" i="0">
                          <a:solidFill>
                            <a:srgbClr val="FFFFFF"/>
                          </a:solidFill>
                          <a:latin typeface="微软雅黑" panose="020B0503020204020204" charset="-122"/>
                          <a:ea typeface="微软雅黑" panose="020B0503020204020204" charset="-122"/>
                          <a:cs typeface="微软雅黑" panose="020B0503020204020204" charset="-122"/>
                        </a:rPr>
                        <a:t>目标人群竞争力</a:t>
                      </a:r>
                      <a:endParaRPr sz="95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r>
              <a:tr h="384048">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核心指标</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TI 行业排名</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内容渗透率 / 排名</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核心人群渗透变化</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93700">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Q2 → Q3</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lang="en-US" sz="900" b="0" i="0">
                          <a:solidFill>
                            <a:srgbClr val="EDEDED"/>
                          </a:solidFill>
                          <a:highlight>
                            <a:srgbClr val="000000">
                              <a:alpha val="0"/>
                            </a:srgbClr>
                          </a:highlight>
                          <a:latin typeface="微软雅黑" panose="020B0503020204020204" charset="-122"/>
                          <a:ea typeface="微软雅黑" panose="020B0503020204020204" charset="-122"/>
                          <a:cs typeface="微软雅黑" panose="020B0503020204020204" charset="-122"/>
                        </a:rPr>
                        <a:t>TOP 1</a:t>
                      </a:r>
                      <a:r>
                        <a:rPr lang="zh-CN" altLang="en-US" sz="900" b="0" i="0">
                          <a:solidFill>
                            <a:srgbClr val="EDEDED"/>
                          </a:solidFill>
                          <a:highlight>
                            <a:srgbClr val="000000">
                              <a:alpha val="0"/>
                            </a:srgbClr>
                          </a:highlight>
                          <a:latin typeface="微软雅黑" panose="020B0503020204020204" charset="-122"/>
                          <a:ea typeface="微软雅黑" panose="020B0503020204020204" charset="-122"/>
                          <a:cs typeface="微软雅黑" panose="020B0503020204020204" charset="-122"/>
                        </a:rPr>
                        <a:t>维稳</a:t>
                      </a:r>
                      <a:endParaRPr lang="zh-CN" altLang="en-US" sz="900" b="0" i="0">
                        <a:solidFill>
                          <a:srgbClr val="EDEDED"/>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SPU 资产 1,008 万 → 1,403 万；</a:t>
                      </a:r>
                      <a:endParaRPr sz="90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I→TI 流转率 3.45% → 4.53%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品牌人群 64.98%｜竞品人群 </a:t>
                      </a:r>
                      <a:r>
                        <a:rPr lang="en-US" altLang="zh-CN" sz="900" b="0" i="0">
                          <a:solidFill>
                            <a:srgbClr val="EDEDED"/>
                          </a:solidFill>
                          <a:latin typeface="微软雅黑" panose="020B0503020204020204" charset="-122"/>
                          <a:ea typeface="微软雅黑" panose="020B0503020204020204" charset="-122"/>
                          <a:cs typeface="微软雅黑" panose="020B0503020204020204" charset="-122"/>
                        </a:rPr>
                        <a:t>22.78</a:t>
                      </a:r>
                      <a:r>
                        <a:rPr sz="900" b="0" i="0">
                          <a:solidFill>
                            <a:srgbClr val="EDEDED"/>
                          </a:solidFill>
                          <a:latin typeface="微软雅黑" panose="020B0503020204020204" charset="-122"/>
                          <a:ea typeface="微软雅黑" panose="020B0503020204020204" charset="-122"/>
                          <a:cs typeface="微软雅黑" panose="020B0503020204020204" charset="-122"/>
                        </a:rPr>
                        <a:t>%</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84048">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变化幅度</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TI 规模 32.85 万 → 59.64 万（+81.53%）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lang="zh-CN" sz="900" b="0" i="0">
                          <a:solidFill>
                            <a:srgbClr val="EDEDED"/>
                          </a:solidFill>
                          <a:latin typeface="微软雅黑" panose="020B0503020204020204" charset="-122"/>
                          <a:ea typeface="微软雅黑" panose="020B0503020204020204" charset="-122"/>
                          <a:cs typeface="微软雅黑" panose="020B0503020204020204" charset="-122"/>
                        </a:rPr>
                        <a:t>笔记发布量</a:t>
                      </a:r>
                      <a:r>
                        <a:rPr sz="900" b="0" i="0">
                          <a:solidFill>
                            <a:srgbClr val="EDEDED"/>
                          </a:solidFill>
                          <a:latin typeface="微软雅黑" panose="020B0503020204020204" charset="-122"/>
                          <a:ea typeface="微软雅黑" panose="020B0503020204020204" charset="-122"/>
                          <a:cs typeface="微软雅黑" panose="020B0503020204020204" charset="-122"/>
                        </a:rPr>
                        <a:t>+39.19%</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暑期奢旅 21.90% → 32%；七夕节点 10.35% → 12.19%</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84048">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判断</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行业人群位置前移 ✅</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行业内容存在感增强 ✅</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新增人群符合黑山时尚化方向 ✅</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bl>
          </a:graphicData>
        </a:graphic>
      </p:graphicFrame>
      <p:sp>
        <p:nvSpPr>
          <p:cNvPr id="6" name="TextBox 5"/>
          <p:cNvSpPr txBox="1"/>
          <p:nvPr/>
        </p:nvSpPr>
        <p:spPr>
          <a:xfrm>
            <a:off x="548640" y="3310128"/>
            <a:ext cx="11094415" cy="27432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Q3 黑山的基本盘是谁？真正新增的又是谁？</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7" name="Rectangle 6"/>
          <p:cNvSpPr/>
          <p:nvPr/>
        </p:nvSpPr>
        <p:spPr>
          <a:xfrm>
            <a:off x="548640" y="3611880"/>
            <a:ext cx="11094415" cy="73152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8" name="Rectangle 7"/>
          <p:cNvSpPr/>
          <p:nvPr/>
        </p:nvSpPr>
        <p:spPr>
          <a:xfrm>
            <a:off x="548640" y="3611880"/>
            <a:ext cx="45720" cy="7315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9" name="TextBox 8"/>
          <p:cNvSpPr txBox="1"/>
          <p:nvPr/>
        </p:nvSpPr>
        <p:spPr>
          <a:xfrm>
            <a:off x="731520" y="3685032"/>
            <a:ext cx="2148840" cy="27432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基本盘（已有优势）</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731520" y="3941064"/>
            <a:ext cx="2148840" cy="365760"/>
          </a:xfrm>
          <a:prstGeom prst="rect">
            <a:avLst/>
          </a:prstGeom>
          <a:noFill/>
        </p:spPr>
        <p:txBody>
          <a:bodyPr wrap="square" lIns="0" tIns="0" rIns="0" bIns="0" anchor="t">
            <a:spAutoFit/>
          </a:bodyPr>
          <a:lstStyle/>
          <a:p>
            <a:pPr algn="l">
              <a:lnSpc>
                <a:spcPct val="120000"/>
              </a:lnSpc>
              <a:spcBef>
                <a:spcPts val="0"/>
              </a:spcBef>
              <a:spcAft>
                <a:spcPts val="300"/>
              </a:spcAft>
            </a:pPr>
            <a:r>
              <a:rPr sz="850" b="0" i="0">
                <a:solidFill>
                  <a:srgbClr val="A8A8A8"/>
                </a:solidFill>
                <a:latin typeface="微软雅黑" panose="020B0503020204020204" charset="-122"/>
                <a:ea typeface="微软雅黑" panose="020B0503020204020204" charset="-122"/>
                <a:cs typeface="微软雅黑" panose="020B0503020204020204" charset="-122"/>
              </a:rPr>
              <a:t>品牌人群渗透 64.98%｜暑期奢旅圈层 21.90% → 32%</a:t>
            </a:r>
            <a:endParaRPr sz="85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1" name="TextBox 10"/>
          <p:cNvSpPr txBox="1"/>
          <p:nvPr/>
        </p:nvSpPr>
        <p:spPr>
          <a:xfrm>
            <a:off x="3063240" y="3893757"/>
            <a:ext cx="8396935" cy="186055"/>
          </a:xfrm>
          <a:prstGeom prst="rect">
            <a:avLst/>
          </a:prstGeom>
          <a:noFill/>
        </p:spPr>
        <p:txBody>
          <a:bodyPr wrap="square" lIns="0" tIns="0" rIns="0" bIns="0" anchor="ctr">
            <a:spAutoFit/>
          </a:bodyPr>
          <a:lstStyle/>
          <a:p>
            <a:pPr algn="l">
              <a:lnSpc>
                <a:spcPct val="128000"/>
              </a:lnSpc>
              <a:spcBef>
                <a:spcPts val="0"/>
              </a:spcBef>
              <a:spcAft>
                <a:spcPts val="300"/>
              </a:spcAft>
            </a:pPr>
            <a:r>
              <a:rPr sz="950" b="0" i="0">
                <a:solidFill>
                  <a:srgbClr val="D8D8D8"/>
                </a:solidFill>
                <a:latin typeface="微软雅黑" panose="020B0503020204020204" charset="-122"/>
                <a:ea typeface="微软雅黑" panose="020B0503020204020204" charset="-122"/>
                <a:cs typeface="微软雅黑" panose="020B0503020204020204" charset="-122"/>
              </a:rPr>
              <a:t>品牌人群是消耗</a:t>
            </a:r>
            <a:r>
              <a:rPr lang="zh-CN" sz="950" b="0" i="0">
                <a:solidFill>
                  <a:srgbClr val="D8D8D8"/>
                </a:solidFill>
                <a:latin typeface="微软雅黑" panose="020B0503020204020204" charset="-122"/>
                <a:ea typeface="微软雅黑" panose="020B0503020204020204" charset="-122"/>
                <a:cs typeface="微软雅黑" panose="020B0503020204020204" charset="-122"/>
              </a:rPr>
              <a:t>核心人群</a:t>
            </a:r>
            <a:r>
              <a:rPr sz="950" b="0" i="0">
                <a:solidFill>
                  <a:srgbClr val="D8D8D8"/>
                </a:solidFill>
                <a:latin typeface="微软雅黑" panose="020B0503020204020204" charset="-122"/>
                <a:ea typeface="微软雅黑" panose="020B0503020204020204" charset="-122"/>
                <a:cs typeface="微软雅黑" panose="020B0503020204020204" charset="-122"/>
              </a:rPr>
              <a:t>，CPTI 2.36 优于大盘 2.66</a:t>
            </a:r>
            <a:r>
              <a:rPr lang="zh-CN" sz="950" b="0" i="0">
                <a:solidFill>
                  <a:srgbClr val="D8D8D8"/>
                </a:solidFill>
                <a:latin typeface="微软雅黑" panose="020B0503020204020204" charset="-122"/>
                <a:ea typeface="微软雅黑" panose="020B0503020204020204" charset="-122"/>
                <a:cs typeface="微软雅黑" panose="020B0503020204020204" charset="-122"/>
              </a:rPr>
              <a:t>，</a:t>
            </a:r>
            <a:r>
              <a:rPr sz="950">
                <a:solidFill>
                  <a:srgbClr val="D8D8D8"/>
                </a:solidFill>
                <a:latin typeface="微软雅黑" panose="020B0503020204020204" charset="-122"/>
                <a:ea typeface="微软雅黑" panose="020B0503020204020204" charset="-122"/>
                <a:cs typeface="微软雅黑" panose="020B0503020204020204" charset="-122"/>
                <a:sym typeface="+mn-ea"/>
              </a:rPr>
              <a:t>Q3 属于“做得更深”。</a:t>
            </a:r>
            <a:endParaRPr lang="zh-CN"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2" name="Rectangle 11"/>
          <p:cNvSpPr/>
          <p:nvPr/>
        </p:nvSpPr>
        <p:spPr>
          <a:xfrm>
            <a:off x="548640" y="4407408"/>
            <a:ext cx="11094415" cy="73152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3" name="Rectangle 12"/>
          <p:cNvSpPr/>
          <p:nvPr/>
        </p:nvSpPr>
        <p:spPr>
          <a:xfrm>
            <a:off x="548640" y="4407408"/>
            <a:ext cx="45720" cy="7315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4" name="TextBox 13"/>
          <p:cNvSpPr txBox="1"/>
          <p:nvPr/>
        </p:nvSpPr>
        <p:spPr>
          <a:xfrm>
            <a:off x="731520" y="4480560"/>
            <a:ext cx="2148840" cy="27432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Q3 真正新增的是谁</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731520" y="4736592"/>
            <a:ext cx="2148840" cy="365760"/>
          </a:xfrm>
          <a:prstGeom prst="rect">
            <a:avLst/>
          </a:prstGeom>
          <a:noFill/>
        </p:spPr>
        <p:txBody>
          <a:bodyPr wrap="square" lIns="0" tIns="0" rIns="0" bIns="0" anchor="t">
            <a:spAutoFit/>
          </a:bodyPr>
          <a:lstStyle/>
          <a:p>
            <a:pPr algn="l">
              <a:lnSpc>
                <a:spcPct val="120000"/>
              </a:lnSpc>
              <a:spcBef>
                <a:spcPts val="0"/>
              </a:spcBef>
              <a:spcAft>
                <a:spcPts val="300"/>
              </a:spcAft>
            </a:pPr>
            <a:r>
              <a:rPr sz="850" b="0" i="0">
                <a:solidFill>
                  <a:srgbClr val="A8A8A8"/>
                </a:solidFill>
                <a:latin typeface="微软雅黑" panose="020B0503020204020204" charset="-122"/>
                <a:ea typeface="微软雅黑" panose="020B0503020204020204" charset="-122"/>
                <a:cs typeface="微软雅黑" panose="020B0503020204020204" charset="-122"/>
              </a:rPr>
              <a:t>时尚池：奢品人群 / 时髦·时尚人群 / 时装周圈层 / 辛芷蕾人群</a:t>
            </a:r>
            <a:endParaRPr sz="85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3063240" y="4595940"/>
            <a:ext cx="8396935" cy="372745"/>
          </a:xfrm>
          <a:prstGeom prst="rect">
            <a:avLst/>
          </a:prstGeom>
          <a:noFill/>
        </p:spPr>
        <p:txBody>
          <a:bodyPr wrap="square" lIns="0" tIns="0" rIns="0" bIns="0" anchor="ctr">
            <a:spAutoFit/>
          </a:bodyPr>
          <a:lstStyle/>
          <a:p>
            <a:pPr algn="l">
              <a:lnSpc>
                <a:spcPct val="128000"/>
              </a:lnSpc>
              <a:spcBef>
                <a:spcPts val="0"/>
              </a:spcBef>
              <a:spcAft>
                <a:spcPts val="300"/>
              </a:spcAft>
            </a:pPr>
            <a:r>
              <a:rPr sz="950" b="0" i="0">
                <a:solidFill>
                  <a:srgbClr val="D8D8D8"/>
                </a:solidFill>
                <a:latin typeface="微软雅黑" panose="020B0503020204020204" charset="-122"/>
                <a:ea typeface="微软雅黑" panose="020B0503020204020204" charset="-122"/>
                <a:cs typeface="微软雅黑" panose="020B0503020204020204" charset="-122"/>
              </a:rPr>
              <a:t>奢品人群 CPTI 1.34（全场最优）、时髦·时尚人群 2.65、辛芷蕾人群 2.99、时装周圈层 CTR 12.91% / CPC ¥0.22（最低点击成本）</a:t>
            </a:r>
            <a:r>
              <a:rPr lang="zh-CN" sz="950" b="0" i="0">
                <a:solidFill>
                  <a:srgbClr val="D8D8D8"/>
                </a:solidFill>
                <a:latin typeface="微软雅黑" panose="020B0503020204020204" charset="-122"/>
                <a:ea typeface="微软雅黑" panose="020B0503020204020204" charset="-122"/>
                <a:cs typeface="微软雅黑" panose="020B0503020204020204" charset="-122"/>
              </a:rPr>
              <a:t>；</a:t>
            </a:r>
            <a:r>
              <a:rPr sz="950">
                <a:solidFill>
                  <a:srgbClr val="D8D8D8"/>
                </a:solidFill>
                <a:latin typeface="微软雅黑" panose="020B0503020204020204" charset="-122"/>
                <a:ea typeface="微软雅黑" panose="020B0503020204020204" charset="-122"/>
                <a:cs typeface="微软雅黑" panose="020B0503020204020204" charset="-122"/>
                <a:sym typeface="+mn-ea"/>
              </a:rPr>
              <a:t>暑期奢旅圈层超额完成目标（32% vs 26.58%）</a:t>
            </a:r>
            <a:r>
              <a:rPr lang="zh-CN" sz="950">
                <a:solidFill>
                  <a:srgbClr val="D8D8D8"/>
                </a:solidFill>
                <a:latin typeface="微软雅黑" panose="020B0503020204020204" charset="-122"/>
                <a:ea typeface="微软雅黑" panose="020B0503020204020204" charset="-122"/>
                <a:cs typeface="微软雅黑" panose="020B0503020204020204" charset="-122"/>
                <a:sym typeface="+mn-ea"/>
              </a:rPr>
              <a:t>，</a:t>
            </a:r>
            <a:r>
              <a:rPr sz="950">
                <a:solidFill>
                  <a:srgbClr val="D8D8D8"/>
                </a:solidFill>
                <a:latin typeface="微软雅黑" panose="020B0503020204020204" charset="-122"/>
                <a:ea typeface="微软雅黑" panose="020B0503020204020204" charset="-122"/>
                <a:cs typeface="微软雅黑" panose="020B0503020204020204" charset="-122"/>
                <a:sym typeface="+mn-ea"/>
              </a:rPr>
              <a:t>这是 Q3 真正打开的新圈层</a:t>
            </a:r>
            <a:r>
              <a:rPr lang="zh-CN" sz="950">
                <a:solidFill>
                  <a:srgbClr val="D8D8D8"/>
                </a:solidFill>
                <a:latin typeface="微软雅黑" panose="020B0503020204020204" charset="-122"/>
                <a:ea typeface="微软雅黑" panose="020B0503020204020204" charset="-122"/>
                <a:cs typeface="微软雅黑" panose="020B0503020204020204" charset="-122"/>
                <a:sym typeface="+mn-ea"/>
              </a:rPr>
              <a:t>。</a:t>
            </a:r>
            <a:endParaRPr lang="zh-CN" sz="950" b="0" i="0">
              <a:solidFill>
                <a:srgbClr val="D8D8D8"/>
              </a:solidFill>
              <a:latin typeface="微软雅黑" panose="020B0503020204020204" charset="-122"/>
              <a:ea typeface="微软雅黑" panose="020B0503020204020204" charset="-122"/>
              <a:cs typeface="微软雅黑" panose="020B0503020204020204" charset="-122"/>
              <a:sym typeface="+mn-ea"/>
            </a:endParaRPr>
          </a:p>
        </p:txBody>
      </p:sp>
      <p:sp>
        <p:nvSpPr>
          <p:cNvPr id="17" name="Rectangle 16"/>
          <p:cNvSpPr/>
          <p:nvPr/>
        </p:nvSpPr>
        <p:spPr>
          <a:xfrm>
            <a:off x="548640" y="5202936"/>
            <a:ext cx="11094415" cy="731520"/>
          </a:xfrm>
          <a:prstGeom prst="rect">
            <a:avLst/>
          </a:prstGeom>
          <a:solidFill>
            <a:srgbClr val="2E271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8" name="Rectangle 17"/>
          <p:cNvSpPr/>
          <p:nvPr/>
        </p:nvSpPr>
        <p:spPr>
          <a:xfrm>
            <a:off x="548640" y="5202936"/>
            <a:ext cx="45720" cy="7315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9" name="TextBox 18"/>
          <p:cNvSpPr txBox="1"/>
          <p:nvPr/>
        </p:nvSpPr>
        <p:spPr>
          <a:xfrm>
            <a:off x="731520" y="5276088"/>
            <a:ext cx="2148840" cy="27432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关键判断</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a:xfrm>
            <a:off x="731520" y="5532120"/>
            <a:ext cx="2148840" cy="365760"/>
          </a:xfrm>
          <a:prstGeom prst="rect">
            <a:avLst/>
          </a:prstGeom>
          <a:noFill/>
        </p:spPr>
        <p:txBody>
          <a:bodyPr wrap="square" lIns="0" tIns="0" rIns="0" bIns="0" anchor="t">
            <a:spAutoFit/>
          </a:bodyPr>
          <a:lstStyle/>
          <a:p>
            <a:pPr algn="l">
              <a:lnSpc>
                <a:spcPct val="120000"/>
              </a:lnSpc>
              <a:spcBef>
                <a:spcPts val="0"/>
              </a:spcBef>
              <a:spcAft>
                <a:spcPts val="300"/>
              </a:spcAft>
            </a:pPr>
            <a:r>
              <a:rPr sz="850" b="0" i="0">
                <a:solidFill>
                  <a:srgbClr val="A8A8A8"/>
                </a:solidFill>
                <a:latin typeface="微软雅黑" panose="020B0503020204020204" charset="-122"/>
                <a:ea typeface="微软雅黑" panose="020B0503020204020204" charset="-122"/>
                <a:cs typeface="微软雅黑" panose="020B0503020204020204" charset="-122"/>
              </a:rPr>
              <a:t>原有人群做深 + 新人群扩张，但扩张尚未放量</a:t>
            </a:r>
            <a:endParaRPr sz="85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3063240" y="5294376"/>
            <a:ext cx="8396935" cy="566928"/>
          </a:xfrm>
          <a:prstGeom prst="rect">
            <a:avLst/>
          </a:prstGeom>
          <a:noFill/>
        </p:spPr>
        <p:txBody>
          <a:bodyPr wrap="square" lIns="0" tIns="0" rIns="0" bIns="0" anchor="ctr">
            <a:spAutoFit/>
          </a:bodyPr>
          <a:lstStyle/>
          <a:p>
            <a:pPr algn="l">
              <a:lnSpc>
                <a:spcPct val="128000"/>
              </a:lnSpc>
              <a:spcBef>
                <a:spcPts val="0"/>
              </a:spcBef>
              <a:spcAft>
                <a:spcPts val="300"/>
              </a:spcAft>
            </a:pPr>
            <a:r>
              <a:rPr sz="950" b="0" i="0">
                <a:solidFill>
                  <a:srgbClr val="D8D8D8"/>
                </a:solidFill>
                <a:latin typeface="微软雅黑" panose="020B0503020204020204" charset="-122"/>
                <a:ea typeface="微软雅黑" panose="020B0503020204020204" charset="-122"/>
                <a:cs typeface="微软雅黑" panose="020B0503020204020204" charset="-122"/>
              </a:rPr>
              <a:t>TI 增长由“品牌基本盘做深”与“时尚/奢品新人群扩张”共同驱动；但新人群预算严重不足 —— 奢品仅占 2.4% 消耗、时髦·时尚 11.2%，合计不足 14%。Q3 完成了新人群的“验证”，尚未完成“放量”。</a:t>
            </a:r>
            <a:endParaRPr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2" name="Rectangle 21"/>
          <p:cNvSpPr/>
          <p:nvPr/>
        </p:nvSpPr>
        <p:spPr>
          <a:xfrm>
            <a:off x="548640" y="6510528"/>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4" name="TextBox 23"/>
          <p:cNvSpPr txBox="1"/>
          <p:nvPr/>
        </p:nvSpPr>
        <p:spPr>
          <a:xfrm>
            <a:off x="10545775" y="6565392"/>
            <a:ext cx="1097280" cy="201168"/>
          </a:xfrm>
          <a:prstGeom prst="rect">
            <a:avLst/>
          </a:prstGeom>
          <a:noFill/>
        </p:spPr>
        <p:txBody>
          <a:bodyPr wrap="square" lIns="0" tIns="0" rIns="0" bIns="0" anchor="t">
            <a:spAutoFit/>
          </a:bodyPr>
          <a:lstStyle/>
          <a:p>
            <a:pPr algn="r">
              <a:lnSpc>
                <a:spcPct val="122000"/>
              </a:lnSpc>
              <a:spcBef>
                <a:spcPts val="0"/>
              </a:spcBef>
              <a:spcAft>
                <a:spcPts val="300"/>
              </a:spcAft>
            </a:pPr>
            <a:r>
              <a:rPr sz="800" b="1" i="0">
                <a:solidFill>
                  <a:srgbClr val="8C8C8C"/>
                </a:solidFill>
                <a:latin typeface="微软雅黑" panose="020B0503020204020204" charset="-122"/>
                <a:ea typeface="微软雅黑" panose="020B0503020204020204" charset="-122"/>
                <a:cs typeface="微软雅黑" panose="020B0503020204020204" charset="-122"/>
              </a:rPr>
              <a:t>P2</a:t>
            </a:r>
            <a:endParaRPr sz="800" b="1" i="0">
              <a:solidFill>
                <a:srgbClr val="8C8C8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2</a:t>
            </a:r>
            <a:r>
              <a:rPr sz="1050" b="1" i="0">
                <a:solidFill>
                  <a:srgbClr val="E8B04B"/>
                </a:solidFill>
                <a:latin typeface="微软雅黑" panose="020B0503020204020204" charset="-122"/>
                <a:ea typeface="微软雅黑" panose="020B0503020204020204" charset="-122"/>
                <a:cs typeface="微软雅黑" panose="020B0503020204020204" charset="-122"/>
              </a:rPr>
              <a:t>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6</a:t>
            </a:r>
            <a:endParaRPr>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Q3 核心成果总览</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a:t>
            </a:r>
            <a:r>
              <a:rPr lang="zh-CN" altLang="en-US" sz="2300" b="1" i="0">
                <a:solidFill>
                  <a:srgbClr val="FFC000"/>
                </a:solidFill>
                <a:latin typeface="微软雅黑" panose="020B0503020204020204" charset="-122"/>
                <a:ea typeface="微软雅黑" panose="020B0503020204020204" charset="-122"/>
                <a:cs typeface="微软雅黑" panose="020B0503020204020204" charset="-122"/>
              </a:rPr>
              <a:t>徒步鞋行业下稳居</a:t>
            </a:r>
            <a:r>
              <a:rPr lang="en-US" altLang="zh-CN" sz="2300" b="1" i="0">
                <a:solidFill>
                  <a:srgbClr val="FFC000"/>
                </a:solidFill>
                <a:latin typeface="微软雅黑" panose="020B0503020204020204" charset="-122"/>
                <a:ea typeface="微软雅黑" panose="020B0503020204020204" charset="-122"/>
                <a:cs typeface="微软雅黑" panose="020B0503020204020204" charset="-122"/>
              </a:rPr>
              <a:t>TOP1</a:t>
            </a:r>
            <a:endParaRPr sz="2300" b="1" i="0">
              <a:solidFill>
                <a:srgbClr val="FFC000"/>
              </a:solidFill>
              <a:latin typeface="微软雅黑" panose="020B0503020204020204" charset="-122"/>
              <a:ea typeface="微软雅黑" panose="020B0503020204020204" charset="-122"/>
              <a:cs typeface="微软雅黑" panose="020B0503020204020204" charset="-122"/>
            </a:endParaRPr>
          </a:p>
        </p:txBody>
      </p:sp>
      <p:pic>
        <p:nvPicPr>
          <p:cNvPr id="32" name="图片 31" descr="post_object_image_1842612646"/>
          <p:cNvPicPr>
            <a:picLocks noChangeAspect="1"/>
          </p:cNvPicPr>
          <p:nvPr/>
        </p:nvPicPr>
        <p:blipFill>
          <a:blip r:embed="rId1"/>
          <a:stretch>
            <a:fillRect/>
          </a:stretch>
        </p:blipFill>
        <p:spPr>
          <a:xfrm>
            <a:off x="548632" y="1409377"/>
            <a:ext cx="5072268" cy="2479253"/>
          </a:xfrm>
          <a:prstGeom prst="rect">
            <a:avLst/>
          </a:prstGeom>
        </p:spPr>
      </p:pic>
      <p:sp>
        <p:nvSpPr>
          <p:cNvPr id="37" name="TextBox 5"/>
          <p:cNvSpPr txBox="1"/>
          <p:nvPr/>
        </p:nvSpPr>
        <p:spPr>
          <a:xfrm>
            <a:off x="548632" y="1121864"/>
            <a:ext cx="3503355" cy="274320"/>
          </a:xfrm>
          <a:prstGeom prst="rect">
            <a:avLst/>
          </a:prstGeom>
          <a:noFill/>
        </p:spPr>
        <p:txBody>
          <a:bodyPr wrap="square" lIns="0" tIns="0" rIns="0" bIns="0" anchor="t">
            <a:noAutofit/>
          </a:bodyPr>
          <a:lstStyle/>
          <a:p>
            <a:pPr algn="l">
              <a:lnSpc>
                <a:spcPct val="122000"/>
              </a:lnSpc>
              <a:spcBef>
                <a:spcPts val="0"/>
              </a:spcBef>
              <a:spcAft>
                <a:spcPts val="300"/>
              </a:spcAft>
            </a:pPr>
            <a:r>
              <a:rPr lang="zh-CN" altLang="en-US" sz="1400" b="1">
                <a:solidFill>
                  <a:srgbClr val="E8B04B"/>
                </a:solidFill>
                <a:latin typeface="微软雅黑" charset="0"/>
                <a:ea typeface="微软雅黑" charset="0"/>
                <a:cs typeface="Arial" panose="020B0604020202020204" pitchFamily="34" charset="0"/>
              </a:rPr>
              <a:t>行业下</a:t>
            </a:r>
            <a:r>
              <a:rPr lang="en-US" altLang="zh-CN" sz="1400" b="1">
                <a:solidFill>
                  <a:srgbClr val="E8B04B"/>
                </a:solidFill>
                <a:latin typeface="微软雅黑" charset="0"/>
                <a:ea typeface="微软雅黑" charset="0"/>
                <a:cs typeface="Arial" panose="020B0604020202020204" pitchFamily="34" charset="0"/>
              </a:rPr>
              <a:t>TI</a:t>
            </a:r>
            <a:r>
              <a:rPr lang="zh-CN" altLang="en-US" sz="1400" b="1">
                <a:solidFill>
                  <a:srgbClr val="E8B04B"/>
                </a:solidFill>
                <a:latin typeface="微软雅黑" charset="0"/>
                <a:ea typeface="微软雅黑" charset="0"/>
                <a:cs typeface="Arial" panose="020B0604020202020204" pitchFamily="34" charset="0"/>
              </a:rPr>
              <a:t>规模排名</a:t>
            </a:r>
            <a:r>
              <a:rPr lang="en-US" altLang="zh-CN" sz="1400" b="1">
                <a:solidFill>
                  <a:srgbClr val="E8B04B"/>
                </a:solidFill>
                <a:latin typeface="微软雅黑" charset="0"/>
                <a:ea typeface="微软雅黑" charset="0"/>
                <a:cs typeface="Arial" panose="020B0604020202020204" pitchFamily="34" charset="0"/>
              </a:rPr>
              <a:t>top1</a:t>
            </a:r>
            <a:endParaRPr sz="1400">
              <a:latin typeface="微软雅黑" panose="020B0503020204020204" charset="-122"/>
              <a:ea typeface="微软雅黑" panose="020B0503020204020204" charset="-122"/>
              <a:cs typeface="微软雅黑" panose="020B0503020204020204" charset="-122"/>
            </a:endParaRPr>
          </a:p>
        </p:txBody>
      </p:sp>
      <p:pic>
        <p:nvPicPr>
          <p:cNvPr id="38" name="图片 37" descr="post_object_image_2060937494"/>
          <p:cNvPicPr>
            <a:picLocks noChangeAspect="1"/>
          </p:cNvPicPr>
          <p:nvPr/>
        </p:nvPicPr>
        <p:blipFill>
          <a:blip r:embed="rId2"/>
          <a:stretch>
            <a:fillRect/>
          </a:stretch>
        </p:blipFill>
        <p:spPr>
          <a:xfrm>
            <a:off x="6274567" y="1409377"/>
            <a:ext cx="4845104" cy="2479305"/>
          </a:xfrm>
          <a:prstGeom prst="rect">
            <a:avLst/>
          </a:prstGeom>
        </p:spPr>
      </p:pic>
      <p:pic>
        <p:nvPicPr>
          <p:cNvPr id="39" name="图片 38" descr="post_object_image_1409957217"/>
          <p:cNvPicPr>
            <a:picLocks noChangeAspect="1"/>
          </p:cNvPicPr>
          <p:nvPr/>
        </p:nvPicPr>
        <p:blipFill>
          <a:blip r:embed="rId3"/>
          <a:stretch>
            <a:fillRect/>
          </a:stretch>
        </p:blipFill>
        <p:spPr>
          <a:xfrm>
            <a:off x="548632" y="4202458"/>
            <a:ext cx="5072235" cy="2479305"/>
          </a:xfrm>
          <a:prstGeom prst="rect">
            <a:avLst/>
          </a:prstGeom>
        </p:spPr>
      </p:pic>
      <p:pic>
        <p:nvPicPr>
          <p:cNvPr id="40" name="图片 39" descr="post_object_image_2827652195"/>
          <p:cNvPicPr>
            <a:picLocks noChangeAspect="1"/>
          </p:cNvPicPr>
          <p:nvPr/>
        </p:nvPicPr>
        <p:blipFill>
          <a:blip r:embed="rId4"/>
          <a:stretch>
            <a:fillRect/>
          </a:stretch>
        </p:blipFill>
        <p:spPr>
          <a:xfrm>
            <a:off x="6274567" y="4202458"/>
            <a:ext cx="4845136" cy="2479305"/>
          </a:xfrm>
          <a:prstGeom prst="rect">
            <a:avLst/>
          </a:prstGeom>
        </p:spPr>
      </p:pic>
      <p:sp>
        <p:nvSpPr>
          <p:cNvPr id="41" name="TextBox 5"/>
          <p:cNvSpPr txBox="1"/>
          <p:nvPr/>
        </p:nvSpPr>
        <p:spPr>
          <a:xfrm>
            <a:off x="548632" y="3928138"/>
            <a:ext cx="3503355" cy="274320"/>
          </a:xfrm>
          <a:prstGeom prst="rect">
            <a:avLst/>
          </a:prstGeom>
          <a:noFill/>
        </p:spPr>
        <p:txBody>
          <a:bodyPr wrap="square" lIns="0" tIns="0" rIns="0" bIns="0" anchor="t">
            <a:noAutofit/>
          </a:bodyPr>
          <a:lstStyle/>
          <a:p>
            <a:pPr algn="l">
              <a:lnSpc>
                <a:spcPct val="122000"/>
              </a:lnSpc>
              <a:spcBef>
                <a:spcPts val="0"/>
              </a:spcBef>
              <a:spcAft>
                <a:spcPts val="300"/>
              </a:spcAft>
            </a:pPr>
            <a:r>
              <a:rPr lang="zh-CN" altLang="en-US" sz="1400" b="1">
                <a:solidFill>
                  <a:srgbClr val="E8B04B"/>
                </a:solidFill>
                <a:latin typeface="微软雅黑" charset="0"/>
                <a:ea typeface="微软雅黑" charset="0"/>
                <a:cs typeface="Arial" panose="020B0604020202020204" pitchFamily="34" charset="0"/>
              </a:rPr>
              <a:t>行业下搜后曝光率品牌、</a:t>
            </a:r>
            <a:r>
              <a:rPr lang="en-US" altLang="zh-CN" sz="1400" b="1">
                <a:solidFill>
                  <a:srgbClr val="E8B04B"/>
                </a:solidFill>
                <a:latin typeface="微软雅黑" charset="0"/>
                <a:ea typeface="微软雅黑" charset="0"/>
                <a:cs typeface="Arial" panose="020B0604020202020204" pitchFamily="34" charset="0"/>
              </a:rPr>
              <a:t>SPU</a:t>
            </a:r>
            <a:r>
              <a:rPr lang="zh-CN" altLang="en-US" sz="1400" b="1">
                <a:solidFill>
                  <a:srgbClr val="E8B04B"/>
                </a:solidFill>
                <a:latin typeface="微软雅黑" charset="0"/>
                <a:ea typeface="微软雅黑" charset="0"/>
                <a:cs typeface="Arial" panose="020B0604020202020204" pitchFamily="34" charset="0"/>
              </a:rPr>
              <a:t>排名</a:t>
            </a:r>
            <a:r>
              <a:rPr lang="en-US" altLang="zh-CN" sz="1400" b="1">
                <a:solidFill>
                  <a:srgbClr val="E8B04B"/>
                </a:solidFill>
                <a:latin typeface="微软雅黑" charset="0"/>
                <a:ea typeface="微软雅黑" charset="0"/>
                <a:cs typeface="Arial" panose="020B0604020202020204" pitchFamily="34" charset="0"/>
              </a:rPr>
              <a:t>top1</a:t>
            </a:r>
            <a:endParaRPr sz="1400">
              <a:latin typeface="微软雅黑" panose="020B0503020204020204" charset="-122"/>
              <a:ea typeface="微软雅黑" panose="020B0503020204020204" charset="-122"/>
              <a:cs typeface="微软雅黑" panose="020B0503020204020204" charset="-122"/>
            </a:endParaRPr>
          </a:p>
        </p:txBody>
      </p:sp>
      <p:sp>
        <p:nvSpPr>
          <p:cNvPr id="43" name="TextBox 5"/>
          <p:cNvSpPr txBox="1"/>
          <p:nvPr/>
        </p:nvSpPr>
        <p:spPr>
          <a:xfrm>
            <a:off x="6274567" y="1135057"/>
            <a:ext cx="3503355" cy="274320"/>
          </a:xfrm>
          <a:prstGeom prst="rect">
            <a:avLst/>
          </a:prstGeom>
          <a:noFill/>
        </p:spPr>
        <p:txBody>
          <a:bodyPr wrap="square" lIns="0" tIns="0" rIns="0" bIns="0" anchor="t">
            <a:noAutofit/>
          </a:bodyPr>
          <a:lstStyle/>
          <a:p>
            <a:pPr algn="l">
              <a:lnSpc>
                <a:spcPct val="122000"/>
              </a:lnSpc>
              <a:spcBef>
                <a:spcPts val="0"/>
              </a:spcBef>
              <a:spcAft>
                <a:spcPts val="300"/>
              </a:spcAft>
            </a:pPr>
            <a:r>
              <a:rPr lang="zh-CN" altLang="en-US" sz="1400" b="1">
                <a:solidFill>
                  <a:srgbClr val="E8B04B"/>
                </a:solidFill>
                <a:latin typeface="微软雅黑" charset="0"/>
                <a:ea typeface="微软雅黑" charset="0"/>
                <a:cs typeface="Arial" panose="020B0604020202020204" pitchFamily="34" charset="0"/>
              </a:rPr>
              <a:t>行业下搜索量品牌、</a:t>
            </a:r>
            <a:r>
              <a:rPr lang="en-US" altLang="zh-CN" sz="1400" b="1">
                <a:solidFill>
                  <a:srgbClr val="E8B04B"/>
                </a:solidFill>
                <a:latin typeface="微软雅黑" charset="0"/>
                <a:ea typeface="微软雅黑" charset="0"/>
                <a:cs typeface="Arial" panose="020B0604020202020204" pitchFamily="34" charset="0"/>
              </a:rPr>
              <a:t>SPU</a:t>
            </a:r>
            <a:r>
              <a:rPr lang="zh-CN" altLang="en-US" sz="1400" b="1">
                <a:solidFill>
                  <a:srgbClr val="E8B04B"/>
                </a:solidFill>
                <a:latin typeface="微软雅黑" charset="0"/>
                <a:ea typeface="微软雅黑" charset="0"/>
                <a:cs typeface="Arial" panose="020B0604020202020204" pitchFamily="34" charset="0"/>
              </a:rPr>
              <a:t>排名</a:t>
            </a:r>
            <a:r>
              <a:rPr lang="en-US" altLang="zh-CN" sz="1400" b="1">
                <a:solidFill>
                  <a:srgbClr val="E8B04B"/>
                </a:solidFill>
                <a:latin typeface="微软雅黑" charset="0"/>
                <a:ea typeface="微软雅黑" charset="0"/>
                <a:cs typeface="Arial" panose="020B0604020202020204" pitchFamily="34" charset="0"/>
              </a:rPr>
              <a:t>top1</a:t>
            </a:r>
            <a:endParaRPr sz="1400">
              <a:latin typeface="微软雅黑" panose="020B0503020204020204" charset="-122"/>
              <a:ea typeface="微软雅黑" panose="020B0503020204020204" charset="-122"/>
              <a:cs typeface="微软雅黑" panose="020B0503020204020204" charset="-122"/>
            </a:endParaRPr>
          </a:p>
        </p:txBody>
      </p:sp>
      <p:sp>
        <p:nvSpPr>
          <p:cNvPr id="44" name="TextBox 5"/>
          <p:cNvSpPr txBox="1"/>
          <p:nvPr/>
        </p:nvSpPr>
        <p:spPr>
          <a:xfrm>
            <a:off x="6274567" y="3928141"/>
            <a:ext cx="3503355" cy="274320"/>
          </a:xfrm>
          <a:prstGeom prst="rect">
            <a:avLst/>
          </a:prstGeom>
          <a:noFill/>
        </p:spPr>
        <p:txBody>
          <a:bodyPr wrap="square" lIns="0" tIns="0" rIns="0" bIns="0" anchor="t">
            <a:noAutofit/>
          </a:bodyPr>
          <a:lstStyle/>
          <a:p>
            <a:pPr algn="l">
              <a:lnSpc>
                <a:spcPct val="122000"/>
              </a:lnSpc>
              <a:spcBef>
                <a:spcPts val="0"/>
              </a:spcBef>
              <a:spcAft>
                <a:spcPts val="300"/>
              </a:spcAft>
            </a:pPr>
            <a:r>
              <a:rPr lang="zh-CN" altLang="en-US" sz="1400" b="1">
                <a:solidFill>
                  <a:srgbClr val="E8B04B"/>
                </a:solidFill>
                <a:latin typeface="微软雅黑" charset="0"/>
                <a:ea typeface="微软雅黑" charset="0"/>
                <a:cs typeface="Arial" panose="020B0604020202020204" pitchFamily="34" charset="0"/>
              </a:rPr>
              <a:t>行业下阅读渗透率品牌、</a:t>
            </a:r>
            <a:r>
              <a:rPr lang="en-US" altLang="zh-CN" sz="1400" b="1">
                <a:solidFill>
                  <a:srgbClr val="E8B04B"/>
                </a:solidFill>
                <a:latin typeface="微软雅黑" charset="0"/>
                <a:ea typeface="微软雅黑" charset="0"/>
                <a:cs typeface="Arial" panose="020B0604020202020204" pitchFamily="34" charset="0"/>
              </a:rPr>
              <a:t>SPU</a:t>
            </a:r>
            <a:r>
              <a:rPr lang="zh-CN" altLang="en-US" sz="1400" b="1">
                <a:solidFill>
                  <a:srgbClr val="E8B04B"/>
                </a:solidFill>
                <a:latin typeface="微软雅黑" charset="0"/>
                <a:ea typeface="微软雅黑" charset="0"/>
                <a:cs typeface="Arial" panose="020B0604020202020204" pitchFamily="34" charset="0"/>
              </a:rPr>
              <a:t>排名</a:t>
            </a:r>
            <a:r>
              <a:rPr lang="en-US" altLang="zh-CN" sz="1400" b="1">
                <a:solidFill>
                  <a:srgbClr val="E8B04B"/>
                </a:solidFill>
                <a:latin typeface="微软雅黑" charset="0"/>
                <a:ea typeface="微软雅黑" charset="0"/>
                <a:cs typeface="Arial" panose="020B0604020202020204" pitchFamily="34" charset="0"/>
              </a:rPr>
              <a:t>top1</a:t>
            </a:r>
            <a:endParaRPr sz="1400">
              <a:latin typeface="微软雅黑" panose="020B0503020204020204" charset="-122"/>
              <a:ea typeface="微软雅黑" panose="020B0503020204020204" charset="-122"/>
              <a:cs typeface="微软雅黑" panose="020B0503020204020204" charset="-122"/>
            </a:endParaRPr>
          </a:p>
        </p:txBody>
      </p:sp>
      <p:sp>
        <p:nvSpPr>
          <p:cNvPr id="45" name="矩形 44"/>
          <p:cNvSpPr/>
          <p:nvPr userDrawn="1"/>
        </p:nvSpPr>
        <p:spPr>
          <a:xfrm>
            <a:off x="414020" y="1081405"/>
            <a:ext cx="5455285" cy="2864485"/>
          </a:xfrm>
          <a:prstGeom prst="rect">
            <a:avLst/>
          </a:prstGeom>
          <a:noFill/>
          <a:ln w="12700" cmpd="sng">
            <a:solidFill>
              <a:schemeClr val="bg2">
                <a:lumMod val="25000"/>
                <a:lumOff val="75000"/>
                <a:alpha val="100000"/>
              </a:schemeClr>
            </a:solidFill>
            <a:prstDash val="solid"/>
          </a:ln>
        </p:spPr>
        <p:style>
          <a:lnRef idx="1">
            <a:schemeClr val="accent1"/>
          </a:lnRef>
          <a:fillRef idx="3">
            <a:schemeClr val="accent1"/>
          </a:fillRef>
          <a:effectRef idx="2">
            <a:schemeClr val="accent1"/>
          </a:effectRef>
          <a:fontRef idx="minor">
            <a:schemeClr val="lt1"/>
          </a:fontRef>
        </p:style>
        <p:txBody>
          <a:bodyPr rtlCol="0" anchor="ctr">
            <a:noAutofit/>
          </a:bodyPr>
          <a:p>
            <a:endParaRPr lang="zh-CN" altLang="en-US">
              <a:solidFill>
                <a:schemeClr val="tx1">
                  <a:lumMod val="85000"/>
                </a:schemeClr>
              </a:solidFill>
            </a:endParaRPr>
          </a:p>
        </p:txBody>
      </p:sp>
      <p:sp>
        <p:nvSpPr>
          <p:cNvPr id="46" name="矩形 45"/>
          <p:cNvSpPr/>
          <p:nvPr userDrawn="1"/>
        </p:nvSpPr>
        <p:spPr>
          <a:xfrm>
            <a:off x="5869366" y="1081457"/>
            <a:ext cx="5455290" cy="2864457"/>
          </a:xfrm>
          <a:prstGeom prst="rect">
            <a:avLst/>
          </a:prstGeom>
          <a:noFill/>
          <a:ln w="12700">
            <a:solidFill>
              <a:schemeClr val="bg2">
                <a:lumMod val="25000"/>
                <a:lumOff val="75000"/>
                <a:alpha val="100000"/>
              </a:schemeClr>
            </a:solidFill>
          </a:ln>
        </p:spPr>
        <p:style>
          <a:lnRef idx="1">
            <a:schemeClr val="accent1"/>
          </a:lnRef>
          <a:fillRef idx="3">
            <a:schemeClr val="accent1"/>
          </a:fillRef>
          <a:effectRef idx="2">
            <a:schemeClr val="accent1"/>
          </a:effectRef>
          <a:fontRef idx="minor">
            <a:schemeClr val="lt1"/>
          </a:fontRef>
        </p:style>
        <p:txBody>
          <a:bodyPr rtlCol="0" anchor="ctr">
            <a:noAutofit/>
          </a:bodyPr>
          <a:p>
            <a:endParaRPr lang="zh-CN" altLang="en-US">
              <a:solidFill>
                <a:srgbClr val="000000"/>
              </a:solidFill>
            </a:endParaRPr>
          </a:p>
        </p:txBody>
      </p:sp>
      <p:sp>
        <p:nvSpPr>
          <p:cNvPr id="47" name="矩形 46"/>
          <p:cNvSpPr/>
          <p:nvPr userDrawn="1"/>
        </p:nvSpPr>
        <p:spPr>
          <a:xfrm>
            <a:off x="413970" y="3945851"/>
            <a:ext cx="5455285" cy="2864485"/>
          </a:xfrm>
          <a:prstGeom prst="rect">
            <a:avLst/>
          </a:prstGeom>
          <a:noFill/>
          <a:ln w="12700">
            <a:solidFill>
              <a:schemeClr val="bg2">
                <a:lumMod val="25000"/>
                <a:lumOff val="75000"/>
                <a:alpha val="100000"/>
              </a:schemeClr>
            </a:solidFill>
          </a:ln>
        </p:spPr>
        <p:style>
          <a:lnRef idx="1">
            <a:schemeClr val="accent1"/>
          </a:lnRef>
          <a:fillRef idx="3">
            <a:schemeClr val="accent1"/>
          </a:fillRef>
          <a:effectRef idx="2">
            <a:schemeClr val="accent1"/>
          </a:effectRef>
          <a:fontRef idx="minor">
            <a:schemeClr val="lt1"/>
          </a:fontRef>
        </p:style>
        <p:txBody>
          <a:bodyPr rtlCol="0" anchor="ctr">
            <a:noAutofit/>
          </a:bodyPr>
          <a:p>
            <a:endParaRPr lang="zh-CN" altLang="en-US">
              <a:solidFill>
                <a:srgbClr val="000000"/>
              </a:solidFill>
            </a:endParaRPr>
          </a:p>
        </p:txBody>
      </p:sp>
      <p:sp>
        <p:nvSpPr>
          <p:cNvPr id="48" name="矩形 47"/>
          <p:cNvSpPr/>
          <p:nvPr userDrawn="1"/>
        </p:nvSpPr>
        <p:spPr>
          <a:xfrm>
            <a:off x="5869366" y="3945914"/>
            <a:ext cx="5455285" cy="2864485"/>
          </a:xfrm>
          <a:prstGeom prst="rect">
            <a:avLst/>
          </a:prstGeom>
          <a:noFill/>
          <a:ln w="12700">
            <a:solidFill>
              <a:schemeClr val="bg2">
                <a:lumMod val="25000"/>
                <a:lumOff val="75000"/>
                <a:alpha val="100000"/>
              </a:schemeClr>
            </a:solidFill>
          </a:ln>
        </p:spPr>
        <p:style>
          <a:lnRef idx="1">
            <a:schemeClr val="accent1"/>
          </a:lnRef>
          <a:fillRef idx="3">
            <a:schemeClr val="accent1"/>
          </a:fillRef>
          <a:effectRef idx="2">
            <a:schemeClr val="accent1"/>
          </a:effectRef>
          <a:fontRef idx="minor">
            <a:schemeClr val="lt1"/>
          </a:fontRef>
        </p:style>
        <p:txBody>
          <a:bodyPr rtlCol="0" anchor="ctr">
            <a:noAutofit/>
          </a:bodyPr>
          <a:p>
            <a:endParaRPr lang="zh-CN" altLang="en-US">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548640" y="2761488"/>
            <a:ext cx="82296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548640" y="1874519"/>
            <a:ext cx="9144000" cy="548640"/>
          </a:xfrm>
          <a:prstGeom prst="rect">
            <a:avLst/>
          </a:prstGeom>
          <a:noFill/>
        </p:spPr>
        <p:txBody>
          <a:bodyPr wrap="square" lIns="0" tIns="0" rIns="0" bIns="0" anchor="t">
            <a:spAutoFit/>
          </a:bodyPr>
          <a:lstStyle/>
          <a:p>
            <a:pPr algn="l">
              <a:lnSpc>
                <a:spcPct val="122000"/>
              </a:lnSpc>
              <a:spcBef>
                <a:spcPts val="0"/>
              </a:spcBef>
              <a:spcAft>
                <a:spcPts val="300"/>
              </a:spcAft>
            </a:pPr>
            <a:r>
              <a:rPr sz="4200" b="1" i="0">
                <a:solidFill>
                  <a:srgbClr val="E8B04B"/>
                </a:solidFill>
                <a:latin typeface="微软雅黑" panose="020B0503020204020204" charset="-122"/>
                <a:ea typeface="微软雅黑" panose="020B0503020204020204" charset="-122"/>
                <a:cs typeface="微软雅黑" panose="020B0503020204020204" charset="-122"/>
              </a:rPr>
              <a:t>PART 03</a:t>
            </a:r>
            <a:endParaRPr sz="4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548640" y="2971800"/>
            <a:ext cx="10515600" cy="506095"/>
          </a:xfrm>
          <a:prstGeom prst="rect">
            <a:avLst/>
          </a:prstGeom>
          <a:noFill/>
        </p:spPr>
        <p:txBody>
          <a:bodyPr wrap="square" lIns="0" tIns="0" rIns="0" bIns="0" anchor="t">
            <a:spAutoFit/>
          </a:bodyPr>
          <a:lstStyle/>
          <a:p>
            <a:pPr algn="l">
              <a:lnSpc>
                <a:spcPct val="122000"/>
              </a:lnSpc>
              <a:spcBef>
                <a:spcPts val="0"/>
              </a:spcBef>
              <a:spcAft>
                <a:spcPts val="300"/>
              </a:spcAft>
            </a:pPr>
            <a:r>
              <a:rPr sz="2700" b="1" i="0">
                <a:solidFill>
                  <a:srgbClr val="FFFFFF"/>
                </a:solidFill>
                <a:latin typeface="微软雅黑" panose="020B0503020204020204" charset="-122"/>
                <a:ea typeface="微软雅黑" panose="020B0503020204020204" charset="-122"/>
                <a:cs typeface="微软雅黑" panose="020B0503020204020204" charset="-122"/>
              </a:rPr>
              <a:t>Q3 </a:t>
            </a:r>
            <a:r>
              <a:rPr sz="2700" b="1">
                <a:solidFill>
                  <a:srgbClr val="FFFFFF"/>
                </a:solidFill>
                <a:latin typeface="微软雅黑" charset="0"/>
                <a:ea typeface="微软雅黑" charset="0"/>
                <a:cs typeface="微软雅黑" charset="0"/>
              </a:rPr>
              <a:t>优质组合沉淀</a:t>
            </a:r>
            <a:endParaRPr>
              <a:latin typeface="微软雅黑" charset="0"/>
              <a:ea typeface="微软雅黑" charset="0"/>
              <a:cs typeface="微软雅黑"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图片 17" descr="post_object_image_3393248936"/>
          <p:cNvPicPr>
            <a:picLocks noChangeAspect="1"/>
          </p:cNvPicPr>
          <p:nvPr/>
        </p:nvPicPr>
        <p:blipFill>
          <a:blip r:embed="rId1"/>
          <a:stretch>
            <a:fillRect/>
          </a:stretch>
        </p:blipFill>
        <p:spPr>
          <a:xfrm>
            <a:off x="8582415" y="1628478"/>
            <a:ext cx="4328065" cy="2712150"/>
          </a:xfrm>
          <a:prstGeom prst="rect">
            <a:avLst/>
          </a:prstGeom>
        </p:spPr>
      </p:pic>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03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8</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内容类型效率总览</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：产品开箱进店效果好，夏日灵感种草效率高</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graphicFrame>
        <p:nvGraphicFramePr>
          <p:cNvPr id="5" name="Table 4"/>
          <p:cNvGraphicFramePr>
            <a:graphicFrameLocks noGrp="1"/>
          </p:cNvGraphicFramePr>
          <p:nvPr/>
        </p:nvGraphicFramePr>
        <p:xfrm>
          <a:off x="294335" y="1348799"/>
          <a:ext cx="8288020" cy="3081020"/>
        </p:xfrm>
        <a:graphic>
          <a:graphicData uri="http://schemas.openxmlformats.org/drawingml/2006/table">
            <a:tbl>
              <a:tblPr/>
              <a:tblGrid>
                <a:gridCol w="1169035"/>
                <a:gridCol w="503555"/>
                <a:gridCol w="371475"/>
                <a:gridCol w="728980"/>
                <a:gridCol w="557530"/>
                <a:gridCol w="514350"/>
                <a:gridCol w="585470"/>
                <a:gridCol w="716915"/>
                <a:gridCol w="3140710"/>
              </a:tblGrid>
              <a:tr h="310145">
                <a:tc>
                  <a:txBody>
                    <a:bodyPr wrap="square"/>
                    <a:lstStyle/>
                    <a:p>
                      <a:pPr algn="l">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内容类型</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归属</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笔记</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FS 消耗</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占比</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CPTI</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CPUV</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传播角色</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880" b="1" i="0">
                          <a:solidFill>
                            <a:srgbClr val="FFFFFF"/>
                          </a:solidFill>
                          <a:latin typeface="微软雅黑" panose="020B0503020204020204" charset="-122"/>
                          <a:ea typeface="微软雅黑" panose="020B0503020204020204" charset="-122"/>
                          <a:cs typeface="微软雅黑" panose="020B0503020204020204" charset="-122"/>
                        </a:rPr>
                        <a:t>判定</a:t>
                      </a:r>
                      <a:endParaRPr sz="88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r>
              <a:tr h="304165">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时尚大片</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常规</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23</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¥114,660</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55.6%</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3.41</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79.24</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种草型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主力基本盘</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30200">
                <a:tc>
                  <a:txBody>
                    <a:bodyPr wrap="square"/>
                    <a:lstStyle/>
                    <a:p>
                      <a:pPr algn="l">
                        <a:lnSpc>
                          <a:spcPct val="112000"/>
                        </a:lnSpc>
                      </a:pPr>
                      <a:r>
                        <a:rPr sz="860" b="1" i="0">
                          <a:solidFill>
                            <a:srgbClr val="FFC000"/>
                          </a:solidFill>
                          <a:latin typeface="微软雅黑" panose="020B0503020204020204" charset="-122"/>
                          <a:ea typeface="微软雅黑" panose="020B0503020204020204" charset="-122"/>
                          <a:cs typeface="微软雅黑" panose="020B0503020204020204" charset="-122"/>
                        </a:rPr>
                        <a:t>暑期出行 / 夏日灵感</a:t>
                      </a:r>
                      <a:endParaRPr sz="860" b="1" i="0">
                        <a:solidFill>
                          <a:srgbClr val="FFC000"/>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常规</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10</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¥45,733</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22.2%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FFC000"/>
                          </a:solidFill>
                          <a:latin typeface="微软雅黑" panose="020B0503020204020204" charset="-122"/>
                          <a:ea typeface="微软雅黑" panose="020B0503020204020204" charset="-122"/>
                          <a:cs typeface="微软雅黑" panose="020B0503020204020204" charset="-122"/>
                        </a:rPr>
                        <a:t>2.93</a:t>
                      </a:r>
                      <a:endParaRPr sz="860" b="0" i="0">
                        <a:solidFill>
                          <a:srgbClr val="FFC000"/>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112.91</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扩圈型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CPTI 全场最优，能拉 TI 但接不住站外流量</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04165">
                <a:tc>
                  <a:txBody>
                    <a:bodyPr wrap="square"/>
                    <a:lstStyle/>
                    <a:p>
                      <a:pPr algn="l">
                        <a:lnSpc>
                          <a:spcPct val="112000"/>
                        </a:lnSpc>
                      </a:pPr>
                      <a:r>
                        <a:rPr sz="860" b="1" i="0">
                          <a:solidFill>
                            <a:srgbClr val="FFC000"/>
                          </a:solidFill>
                          <a:latin typeface="微软雅黑" panose="020B0503020204020204" charset="-122"/>
                          <a:ea typeface="微软雅黑" panose="020B0503020204020204" charset="-122"/>
                          <a:cs typeface="微软雅黑" panose="020B0503020204020204" charset="-122"/>
                        </a:rPr>
                        <a:t>产品开箱</a:t>
                      </a:r>
                      <a:endParaRPr sz="860" b="1" i="0">
                        <a:solidFill>
                          <a:srgbClr val="FFC000"/>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常规</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6</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¥21,679</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10.5%</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19.82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FFC000"/>
                          </a:solidFill>
                          <a:latin typeface="微软雅黑" panose="020B0503020204020204" charset="-122"/>
                          <a:ea typeface="微软雅黑" panose="020B0503020204020204" charset="-122"/>
                          <a:cs typeface="微软雅黑" panose="020B0503020204020204" charset="-122"/>
                        </a:rPr>
                        <a:t>34.25</a:t>
                      </a:r>
                      <a:endParaRPr sz="860" b="0" i="0">
                        <a:solidFill>
                          <a:srgbClr val="FFC000"/>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转化型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10.5% 预算仅换 1,094 TI，须补 TI 计划</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03530">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街拍大片</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chemeClr val="tx1"/>
                          </a:solidFill>
                          <a:latin typeface="微软雅黑" panose="020B0503020204020204" charset="-122"/>
                          <a:ea typeface="微软雅黑" panose="020B0503020204020204" charset="-122"/>
                          <a:cs typeface="微软雅黑" panose="020B0503020204020204" charset="-122"/>
                        </a:rPr>
                        <a:t>创新</a:t>
                      </a:r>
                      <a:endParaRPr sz="860" b="0" i="0">
                        <a:solidFill>
                          <a:schemeClr val="tx1"/>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¥16,917</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8.2%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3.46</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704.87</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扩圈型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声量向：CPUV 是均值 9.2 倍，不考核转化</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13055">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情侣创意短片</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chemeClr val="tx1"/>
                          </a:solidFill>
                          <a:latin typeface="微软雅黑" panose="020B0503020204020204" charset="-122"/>
                          <a:ea typeface="微软雅黑" panose="020B0503020204020204" charset="-122"/>
                          <a:cs typeface="微软雅黑" panose="020B0503020204020204" charset="-122"/>
                        </a:rPr>
                        <a:t>创新</a:t>
                      </a:r>
                      <a:endParaRPr sz="860" b="0" i="0">
                        <a:solidFill>
                          <a:schemeClr val="tx1"/>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¥3,526</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1.7%</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7.85</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80.13</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扩圈型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鞋是配角，脚本须改造：产品前 5 秒露出</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03530">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创意插画</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chemeClr val="tx1"/>
                          </a:solidFill>
                          <a:latin typeface="微软雅黑" panose="020B0503020204020204" charset="-122"/>
                          <a:ea typeface="微软雅黑" panose="020B0503020204020204" charset="-122"/>
                          <a:cs typeface="微软雅黑" panose="020B0503020204020204" charset="-122"/>
                        </a:rPr>
                        <a:t>创新</a:t>
                      </a:r>
                      <a:endParaRPr sz="860" b="0" i="0">
                        <a:solidFill>
                          <a:schemeClr val="tx1"/>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¥2,099</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1.0%</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3.07</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27.62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扩圈型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唯一双优，形式差异化 + 黑山精神内核，待验证可复制性</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04165">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时尚跑者</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chemeClr val="tx1"/>
                          </a:solidFill>
                          <a:latin typeface="微软雅黑" panose="020B0503020204020204" charset="-122"/>
                          <a:ea typeface="微软雅黑" panose="020B0503020204020204" charset="-122"/>
                          <a:cs typeface="微软雅黑" panose="020B0503020204020204" charset="-122"/>
                        </a:rPr>
                        <a:t>常规</a:t>
                      </a:r>
                      <a:endParaRPr sz="860" b="0" i="0">
                        <a:solidFill>
                          <a:schemeClr val="tx1"/>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¥2,349</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1.1%</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3.25</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27.62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双优型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唯一双优象限，消耗仅 1.1%，严重欠投</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04165">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UGC 晒鞋</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常规</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¥1,475</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0.7%</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4.15</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40.96</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转化型</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能引流、难种草：CPUV 次优但 CPTI 最差</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04165">
                <a:tc>
                  <a:txBody>
                    <a:bodyPr wrap="square"/>
                    <a:lstStyle/>
                    <a:p>
                      <a:pPr algn="l">
                        <a:lnSpc>
                          <a:spcPct val="112000"/>
                        </a:lnSpc>
                      </a:pPr>
                      <a:r>
                        <a:rPr sz="860" b="1" i="0">
                          <a:solidFill>
                            <a:srgbClr val="EDEDED"/>
                          </a:solidFill>
                          <a:latin typeface="微软雅黑" panose="020B0503020204020204" charset="-122"/>
                          <a:ea typeface="微软雅黑" panose="020B0503020204020204" charset="-122"/>
                          <a:cs typeface="微软雅黑" panose="020B0503020204020204" charset="-122"/>
                        </a:rPr>
                        <a:t>合计 / 均值</a:t>
                      </a:r>
                      <a:endParaRPr sz="86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47</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¥206,339</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100%</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3.64</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76.82</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860" b="0" i="0">
                          <a:solidFill>
                            <a:srgbClr val="EDEDED"/>
                          </a:solidFill>
                          <a:latin typeface="微软雅黑" panose="020B0503020204020204" charset="-122"/>
                          <a:ea typeface="微软雅黑" panose="020B0503020204020204" charset="-122"/>
                          <a:cs typeface="微软雅黑" panose="020B0503020204020204" charset="-122"/>
                        </a:rPr>
                        <a:t>口径：本波新笔记（不含旧笔记续投）</a:t>
                      </a:r>
                      <a:endParaRPr sz="86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bl>
          </a:graphicData>
        </a:graphic>
      </p:graphicFrame>
      <p:sp>
        <p:nvSpPr>
          <p:cNvPr id="7" name="Rectangle 6"/>
          <p:cNvSpPr/>
          <p:nvPr/>
        </p:nvSpPr>
        <p:spPr>
          <a:xfrm>
            <a:off x="294335" y="4630954"/>
            <a:ext cx="11094415" cy="493776"/>
          </a:xfrm>
          <a:prstGeom prst="rect">
            <a:avLst/>
          </a:prstGeom>
          <a:solidFill>
            <a:srgbClr val="2E271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8" name="Rectangle 7"/>
          <p:cNvSpPr/>
          <p:nvPr/>
        </p:nvSpPr>
        <p:spPr>
          <a:xfrm>
            <a:off x="294335" y="4630954"/>
            <a:ext cx="50292" cy="49377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9" name="TextBox 8"/>
          <p:cNvSpPr txBox="1"/>
          <p:nvPr/>
        </p:nvSpPr>
        <p:spPr>
          <a:xfrm>
            <a:off x="495503" y="4656862"/>
            <a:ext cx="10728655" cy="441960"/>
          </a:xfrm>
          <a:prstGeom prst="rect">
            <a:avLst/>
          </a:prstGeom>
          <a:noFill/>
        </p:spPr>
        <p:txBody>
          <a:bodyPr wrap="square" lIns="0" tIns="0" rIns="0" bIns="0" anchor="ctr">
            <a:spAutoFit/>
          </a:bodyPr>
          <a:lstStyle/>
          <a:p>
            <a:pPr algn="l">
              <a:lnSpc>
                <a:spcPct val="120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传播角色 = 扩圈型看 CTR / 爆文率，种草型看 CPTI，转化型看 CPUV，搜索型看 CP 搜组 —— 街采 CTR 好</a:t>
            </a:r>
            <a:r>
              <a:rPr lang="zh-CN" sz="1200" b="1" i="0">
                <a:solidFill>
                  <a:srgbClr val="FFFFFF"/>
                </a:solidFill>
                <a:latin typeface="微软雅黑" panose="020B0503020204020204" charset="-122"/>
                <a:ea typeface="微软雅黑" panose="020B0503020204020204" charset="-122"/>
                <a:cs typeface="微软雅黑" panose="020B0503020204020204" charset="-122"/>
              </a:rPr>
              <a:t>，但难转化，属于扩圈型笔记，适用于</a:t>
            </a:r>
            <a:r>
              <a:rPr lang="en-US" altLang="zh-CN" sz="1200" b="1" i="0">
                <a:solidFill>
                  <a:srgbClr val="FFFFFF"/>
                </a:solidFill>
                <a:latin typeface="微软雅黑" panose="020B0503020204020204" charset="-122"/>
                <a:ea typeface="微软雅黑" panose="020B0503020204020204" charset="-122"/>
                <a:cs typeface="微软雅黑" panose="020B0503020204020204" charset="-122"/>
              </a:rPr>
              <a:t>campaign</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话题造势。</a:t>
            </a:r>
            <a:endParaRPr lang="zh-CN" altLang="en-US"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Rectangle 9"/>
          <p:cNvSpPr/>
          <p:nvPr>
            <p:custDataLst>
              <p:tags r:id="rId2"/>
            </p:custDataLst>
          </p:nvPr>
        </p:nvSpPr>
        <p:spPr>
          <a:xfrm>
            <a:off x="294335" y="5179594"/>
            <a:ext cx="5446623" cy="877824"/>
          </a:xfrm>
          <a:prstGeom prst="rect">
            <a:avLst/>
          </a:prstGeom>
          <a:solidFill>
            <a:srgbClr val="2B241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1" name="Rectangle 10"/>
          <p:cNvSpPr/>
          <p:nvPr>
            <p:custDataLst>
              <p:tags r:id="rId3"/>
            </p:custDataLst>
          </p:nvPr>
        </p:nvSpPr>
        <p:spPr>
          <a:xfrm>
            <a:off x="294335" y="5179594"/>
            <a:ext cx="45720" cy="877824"/>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2" name="TextBox 11"/>
          <p:cNvSpPr txBox="1"/>
          <p:nvPr>
            <p:custDataLst>
              <p:tags r:id="rId4"/>
            </p:custDataLst>
          </p:nvPr>
        </p:nvSpPr>
        <p:spPr>
          <a:xfrm>
            <a:off x="477215" y="5261890"/>
            <a:ext cx="5117439" cy="731519"/>
          </a:xfrm>
          <a:prstGeom prst="rect">
            <a:avLst/>
          </a:prstGeom>
          <a:noFill/>
        </p:spPr>
        <p:txBody>
          <a:bodyPr wrap="square" lIns="0" tIns="0" rIns="0" bIns="0" anchor="ctr">
            <a:spAutoFit/>
          </a:bodyPr>
          <a:lstStyle/>
          <a:p>
            <a:pPr algn="l">
              <a:lnSpc>
                <a:spcPct val="120000"/>
              </a:lnSpc>
              <a:spcBef>
                <a:spcPts val="0"/>
              </a:spcBef>
              <a:spcAft>
                <a:spcPts val="300"/>
              </a:spcAft>
            </a:pPr>
            <a:r>
              <a:rPr sz="850" b="1" i="0">
                <a:solidFill>
                  <a:srgbClr val="E8B04B"/>
                </a:solidFill>
                <a:latin typeface="微软雅黑" panose="020B0503020204020204" charset="-122"/>
                <a:ea typeface="微软雅黑" panose="020B0503020204020204" charset="-122"/>
                <a:cs typeface="微软雅黑" panose="020B0503020204020204" charset="-122"/>
              </a:rPr>
              <a:t>LEARNING</a:t>
            </a:r>
            <a:endParaRPr sz="85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时尚穿搭一级标签吃掉 89.9% 消耗、CPTI 3.66 / CPUV 72.55 几乎踩在均值线上，均值被它定义；真正双优的创意插画（3.07 / 27.62）与时尚跑者（3.25 / 27.62）合计只占 2.1% 预算，预算与效率严重倒挂。</a:t>
            </a:r>
            <a:endParaRPr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3" name="Rectangle 12"/>
          <p:cNvSpPr/>
          <p:nvPr>
            <p:custDataLst>
              <p:tags r:id="rId5"/>
            </p:custDataLst>
          </p:nvPr>
        </p:nvSpPr>
        <p:spPr>
          <a:xfrm>
            <a:off x="5942126" y="5179594"/>
            <a:ext cx="5446623" cy="877824"/>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4" name="Rectangle 13"/>
          <p:cNvSpPr/>
          <p:nvPr>
            <p:custDataLst>
              <p:tags r:id="rId6"/>
            </p:custDataLst>
          </p:nvPr>
        </p:nvSpPr>
        <p:spPr>
          <a:xfrm>
            <a:off x="5942126" y="5179594"/>
            <a:ext cx="45720" cy="877824"/>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5" name="TextBox 14"/>
          <p:cNvSpPr txBox="1"/>
          <p:nvPr>
            <p:custDataLst>
              <p:tags r:id="rId7"/>
            </p:custDataLst>
          </p:nvPr>
        </p:nvSpPr>
        <p:spPr>
          <a:xfrm>
            <a:off x="6125006" y="5329517"/>
            <a:ext cx="5117439" cy="596265"/>
          </a:xfrm>
          <a:prstGeom prst="rect">
            <a:avLst/>
          </a:prstGeom>
          <a:noFill/>
        </p:spPr>
        <p:txBody>
          <a:bodyPr wrap="square" lIns="0" tIns="0" rIns="0" bIns="0" anchor="ctr">
            <a:spAutoFit/>
          </a:bodyPr>
          <a:lstStyle/>
          <a:p>
            <a:pPr algn="l">
              <a:lnSpc>
                <a:spcPct val="120000"/>
              </a:lnSpc>
              <a:spcBef>
                <a:spcPts val="0"/>
              </a:spcBef>
              <a:spcAft>
                <a:spcPts val="300"/>
              </a:spcAft>
            </a:pPr>
            <a:r>
              <a:rPr sz="850" b="1" i="0">
                <a:solidFill>
                  <a:srgbClr val="FFFFFF"/>
                </a:solidFill>
                <a:latin typeface="微软雅黑" panose="020B0503020204020204" charset="-122"/>
                <a:ea typeface="微软雅黑" panose="020B0503020204020204" charset="-122"/>
                <a:cs typeface="微软雅黑" panose="020B0503020204020204" charset="-122"/>
              </a:rPr>
              <a:t>NEXT STEP</a:t>
            </a:r>
            <a:endParaRPr sz="850" b="1" i="0">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创意插画扩至 3—5 篇验证可复制性；时尚跑者提至 13—14% 预算；</a:t>
            </a:r>
            <a:endParaRPr sz="950" b="0" i="0">
              <a:solidFill>
                <a:srgbClr val="D8D8D8"/>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产品开箱补 TI 计划；街拍大片结合 campaign 做声量、不考核 CPU</a:t>
            </a:r>
            <a:r>
              <a:rPr lang="en-US" sz="950" b="0" i="0">
                <a:solidFill>
                  <a:srgbClr val="D8D8D8"/>
                </a:solidFill>
                <a:latin typeface="微软雅黑" panose="020B0503020204020204" charset="-122"/>
                <a:ea typeface="微软雅黑" panose="020B0503020204020204" charset="-122"/>
                <a:cs typeface="微软雅黑" panose="020B0503020204020204" charset="-122"/>
              </a:rPr>
              <a:t>V</a:t>
            </a:r>
            <a:r>
              <a:rPr lang="zh-CN" altLang="en-US" sz="950" b="0" i="0">
                <a:solidFill>
                  <a:srgbClr val="D8D8D8"/>
                </a:solidFill>
                <a:latin typeface="微软雅黑" panose="020B0503020204020204" charset="-122"/>
                <a:ea typeface="微软雅黑" panose="020B0503020204020204" charset="-122"/>
                <a:cs typeface="微软雅黑" panose="020B0503020204020204" charset="-122"/>
              </a:rPr>
              <a:t>。</a:t>
            </a:r>
            <a:endParaRPr lang="zh-CN" altLang="en-US"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6" name="Rectangle 15"/>
          <p:cNvSpPr/>
          <p:nvPr>
            <p:custDataLst>
              <p:tags r:id="rId8"/>
            </p:custDataLst>
          </p:nvPr>
        </p:nvSpPr>
        <p:spPr>
          <a:xfrm>
            <a:off x="294335" y="6496330"/>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7" name="TextBox 5"/>
          <p:cNvSpPr txBox="1"/>
          <p:nvPr/>
        </p:nvSpPr>
        <p:spPr>
          <a:xfrm>
            <a:off x="8690025" y="1348786"/>
            <a:ext cx="3232760" cy="201168"/>
          </a:xfrm>
          <a:prstGeom prst="rect">
            <a:avLst/>
          </a:prstGeom>
          <a:noFill/>
        </p:spPr>
        <p:txBody>
          <a:bodyPr wrap="square" lIns="0" tIns="0" rIns="0" bIns="0" anchor="t">
            <a:noAutofit/>
          </a:bodyPr>
          <a:lstStyle/>
          <a:p>
            <a:pPr algn="l">
              <a:lnSpc>
                <a:spcPct val="122000"/>
              </a:lnSpc>
              <a:spcBef>
                <a:spcPts val="0"/>
              </a:spcBef>
              <a:spcAft>
                <a:spcPts val="300"/>
              </a:spcAft>
            </a:pPr>
            <a:r>
              <a:rPr sz="820">
                <a:solidFill>
                  <a:srgbClr val="8C8C8C"/>
                </a:solidFill>
                <a:latin typeface="微软雅黑" charset="0"/>
                <a:ea typeface="微软雅黑" charset="0"/>
                <a:cs typeface="微软雅黑" charset="0"/>
              </a:rPr>
              <a:t>各内容类型 CPTI（越低越优｜绿&lt;3.5 金&lt;8 蓝≥8）</a:t>
            </a:r>
            <a:endParaRPr>
              <a:latin typeface="微软雅黑" charset="0"/>
              <a:ea typeface="微软雅黑" charset="0"/>
              <a:cs typeface="微软雅黑"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垂类＋竞品/品牌占51%；户外＋路跑占25%。女性60%，33—50岁综合效率优于23—3"/>
          <p:cNvSpPr>
            <a:spLocks noGrp="1"/>
          </p:cNvSpPr>
          <p:nvPr/>
        </p:nvSpPr>
        <p:spPr>
          <a:xfrm>
            <a:off x="171717" y="1109506"/>
            <a:ext cx="5356649" cy="276211"/>
          </a:xfrm>
          <a:prstGeom prst="rect">
            <a:avLst/>
          </a:prstGeom>
          <a:noFill/>
          <a:ln w="0">
            <a:noFill/>
          </a:ln>
        </p:spPr>
        <p:txBody>
          <a:bodyPr wrap="square" lIns="0" tIns="0" rIns="0" bIns="0" anchor="ctr">
            <a:noAutofit/>
          </a:bodyPr>
          <a:lstStyle/>
          <a:p>
            <a:pPr>
              <a:defRPr sz="1300" b="0">
                <a:solidFill>
                  <a:srgbClr val="B9B3BA"/>
                </a:solidFill>
                <a:latin typeface="微软雅黑" panose="020B0503020204020204" charset="-122"/>
                <a:ea typeface="微软雅黑" panose="020B0503020204020204" charset="-122"/>
                <a:cs typeface="微软雅黑" panose="020B0503020204020204" charset="-122"/>
              </a:defRPr>
            </a:pPr>
            <a:r>
              <a:rPr lang="zh-CN" sz="1100" b="0">
                <a:solidFill>
                  <a:srgbClr val="B9B3BA"/>
                </a:solidFill>
                <a:latin typeface="微软雅黑" panose="020B0503020204020204" charset="-122"/>
                <a:ea typeface="微软雅黑" panose="020B0503020204020204" charset="-122"/>
                <a:cs typeface="微软雅黑" panose="020B0503020204020204" charset="-122"/>
              </a:rPr>
              <a:t>核心人群【</a:t>
            </a:r>
            <a:r>
              <a:rPr lang="en-US" altLang="zh-CN" sz="1100" b="0">
                <a:solidFill>
                  <a:srgbClr val="B9B3BA"/>
                </a:solidFill>
                <a:latin typeface="微软雅黑" panose="020B0503020204020204" charset="-122"/>
                <a:ea typeface="微软雅黑" panose="020B0503020204020204" charset="-122"/>
                <a:cs typeface="微软雅黑" panose="020B0503020204020204" charset="-122"/>
              </a:rPr>
              <a:t>48</a:t>
            </a:r>
            <a:r>
              <a:rPr sz="1100" b="0">
                <a:solidFill>
                  <a:srgbClr val="B9B3BA"/>
                </a:solidFill>
                <a:latin typeface="微软雅黑" panose="020B0503020204020204" charset="-122"/>
                <a:ea typeface="微软雅黑" panose="020B0503020204020204" charset="-122"/>
                <a:cs typeface="微软雅黑" panose="020B0503020204020204" charset="-122"/>
              </a:rPr>
              <a:t>%</a:t>
            </a:r>
            <a:r>
              <a:rPr lang="zh-CN" sz="1100" b="0">
                <a:solidFill>
                  <a:srgbClr val="B9B3BA"/>
                </a:solidFill>
                <a:latin typeface="微软雅黑" panose="020B0503020204020204" charset="-122"/>
                <a:ea typeface="微软雅黑" panose="020B0503020204020204" charset="-122"/>
                <a:cs typeface="微软雅黑" panose="020B0503020204020204" charset="-122"/>
              </a:rPr>
              <a:t>】</a:t>
            </a:r>
            <a:r>
              <a:rPr lang="en-US" altLang="zh-CN" sz="1100" b="0">
                <a:solidFill>
                  <a:srgbClr val="B9B3BA"/>
                </a:solidFill>
                <a:latin typeface="微软雅黑" panose="020B0503020204020204" charset="-122"/>
                <a:ea typeface="微软雅黑" panose="020B0503020204020204" charset="-122"/>
                <a:cs typeface="微软雅黑" panose="020B0503020204020204" charset="-122"/>
              </a:rPr>
              <a:t>+</a:t>
            </a:r>
            <a:r>
              <a:rPr lang="zh-CN" sz="1100" b="0">
                <a:solidFill>
                  <a:srgbClr val="B9B3BA"/>
                </a:solidFill>
                <a:latin typeface="微软雅黑" panose="020B0503020204020204" charset="-122"/>
                <a:ea typeface="微软雅黑" panose="020B0503020204020204" charset="-122"/>
                <a:cs typeface="微软雅黑" panose="020B0503020204020204" charset="-122"/>
              </a:rPr>
              <a:t>破圈人群【</a:t>
            </a:r>
            <a:r>
              <a:rPr lang="en-US" altLang="zh-CN" sz="1100" b="0">
                <a:solidFill>
                  <a:srgbClr val="B9B3BA"/>
                </a:solidFill>
                <a:latin typeface="微软雅黑" panose="020B0503020204020204" charset="-122"/>
                <a:ea typeface="微软雅黑" panose="020B0503020204020204" charset="-122"/>
                <a:cs typeface="微软雅黑" panose="020B0503020204020204" charset="-122"/>
              </a:rPr>
              <a:t>52</a:t>
            </a:r>
            <a:r>
              <a:rPr sz="1100" b="0">
                <a:solidFill>
                  <a:srgbClr val="B9B3BA"/>
                </a:solidFill>
                <a:latin typeface="微软雅黑" panose="020B0503020204020204" charset="-122"/>
                <a:ea typeface="微软雅黑" panose="020B0503020204020204" charset="-122"/>
                <a:cs typeface="微软雅黑" panose="020B0503020204020204" charset="-122"/>
              </a:rPr>
              <a:t>%</a:t>
            </a:r>
            <a:r>
              <a:rPr lang="zh-CN" sz="1100" b="0">
                <a:solidFill>
                  <a:srgbClr val="B9B3BA"/>
                </a:solidFill>
                <a:latin typeface="微软雅黑" panose="020B0503020204020204" charset="-122"/>
                <a:ea typeface="微软雅黑" panose="020B0503020204020204" charset="-122"/>
                <a:cs typeface="微软雅黑" panose="020B0503020204020204" charset="-122"/>
              </a:rPr>
              <a:t>】</a:t>
            </a:r>
            <a:r>
              <a:rPr lang="en-US" altLang="zh-CN" sz="1100" b="0">
                <a:solidFill>
                  <a:srgbClr val="B9B3BA"/>
                </a:solidFill>
                <a:latin typeface="微软雅黑" panose="020B0503020204020204" charset="-122"/>
                <a:ea typeface="微软雅黑" panose="020B0503020204020204" charset="-122"/>
                <a:cs typeface="微软雅黑" panose="020B0503020204020204" charset="-122"/>
              </a:rPr>
              <a:t>|</a:t>
            </a:r>
            <a:r>
              <a:rPr lang="en-US" altLang="zh-CN" sz="1100">
                <a:solidFill>
                  <a:srgbClr val="B9B3BA"/>
                </a:solidFill>
                <a:latin typeface="微软雅黑" charset="0"/>
                <a:ea typeface="微软雅黑" charset="0"/>
                <a:cs typeface="微软雅黑" charset="0"/>
              </a:rPr>
              <a:t>核心人群&amp;破圈人群</a:t>
            </a:r>
            <a:r>
              <a:rPr lang="zh-CN" altLang="en-US" sz="1100">
                <a:solidFill>
                  <a:srgbClr val="B9B3BA"/>
                </a:solidFill>
                <a:latin typeface="微软雅黑" charset="0"/>
                <a:ea typeface="微软雅黑" charset="0"/>
                <a:cs typeface="微软雅黑" charset="0"/>
              </a:rPr>
              <a:t>高效渗透</a:t>
            </a:r>
            <a:r>
              <a:rPr lang="en-US" altLang="zh-CN" sz="1100" b="0">
                <a:solidFill>
                  <a:srgbClr val="B9B3BA"/>
                </a:solidFill>
                <a:latin typeface="微软雅黑" panose="020B0503020204020204" charset="-122"/>
                <a:ea typeface="微软雅黑" panose="020B0503020204020204" charset="-122"/>
                <a:cs typeface="微软雅黑" panose="020B0503020204020204" charset="-122"/>
              </a:rPr>
              <a:t> </a:t>
            </a:r>
            <a:endParaRPr sz="1100" b="0">
              <a:solidFill>
                <a:srgbClr val="B9B3BA"/>
              </a:solidFill>
              <a:latin typeface="微软雅黑" panose="020B0503020204020204" charset="-122"/>
              <a:ea typeface="微软雅黑" panose="020B0503020204020204" charset="-122"/>
              <a:cs typeface="微软雅黑" panose="020B0503020204020204" charset="-122"/>
            </a:endParaRPr>
          </a:p>
        </p:txBody>
      </p:sp>
      <p:sp>
        <p:nvSpPr>
          <p:cNvPr id="8" name="细分人群包｜原图数据展开"/>
          <p:cNvSpPr>
            <a:spLocks noGrp="1"/>
          </p:cNvSpPr>
          <p:nvPr/>
        </p:nvSpPr>
        <p:spPr>
          <a:xfrm>
            <a:off x="6284903" y="1768561"/>
            <a:ext cx="2104915" cy="228588"/>
          </a:xfrm>
          <a:prstGeom prst="rect">
            <a:avLst/>
          </a:prstGeom>
          <a:noFill/>
          <a:ln w="0">
            <a:noFill/>
          </a:ln>
        </p:spPr>
        <p:txBody>
          <a:bodyPr wrap="square" lIns="0" tIns="0" rIns="0" bIns="0" anchor="t">
            <a:noAutofit/>
          </a:bodyPr>
          <a:lstStyle/>
          <a:p>
            <a:pPr>
              <a:lnSpc>
                <a:spcPct val="110000"/>
              </a:lnSpc>
              <a:defRPr sz="1275" b="1">
                <a:solidFill>
                  <a:srgbClr val="E38FD8"/>
                </a:solidFill>
                <a:latin typeface="微软雅黑" panose="020B0503020204020204" charset="-122"/>
                <a:ea typeface="微软雅黑" panose="020B0503020204020204" charset="-122"/>
                <a:cs typeface="微软雅黑" panose="020B0503020204020204" charset="-122"/>
              </a:defRPr>
            </a:pPr>
            <a:r>
              <a:rPr lang="zh-CN" b="1">
                <a:solidFill>
                  <a:schemeClr val="bg2">
                    <a:lumMod val="50000"/>
                  </a:schemeClr>
                </a:solidFill>
                <a:latin typeface="微软雅黑" panose="020B0503020204020204" charset="-122"/>
                <a:ea typeface="微软雅黑" panose="020B0503020204020204" charset="-122"/>
                <a:cs typeface="微软雅黑" panose="020B0503020204020204" charset="-122"/>
              </a:rPr>
              <a:t>优质</a:t>
            </a:r>
            <a:r>
              <a:rPr b="1">
                <a:solidFill>
                  <a:schemeClr val="bg2">
                    <a:lumMod val="50000"/>
                  </a:schemeClr>
                </a:solidFill>
                <a:latin typeface="微软雅黑" panose="020B0503020204020204" charset="-122"/>
                <a:ea typeface="微软雅黑" panose="020B0503020204020204" charset="-122"/>
                <a:cs typeface="微软雅黑" panose="020B0503020204020204" charset="-122"/>
              </a:rPr>
              <a:t>人群包｜</a:t>
            </a:r>
            <a:r>
              <a:rPr lang="zh-CN" b="1">
                <a:solidFill>
                  <a:schemeClr val="bg2">
                    <a:lumMod val="50000"/>
                  </a:schemeClr>
                </a:solidFill>
                <a:latin typeface="微软雅黑" panose="020B0503020204020204" charset="-122"/>
                <a:ea typeface="微软雅黑" panose="020B0503020204020204" charset="-122"/>
                <a:cs typeface="微软雅黑" panose="020B0503020204020204" charset="-122"/>
              </a:rPr>
              <a:t>增量</a:t>
            </a:r>
            <a:endParaRPr lang="zh-CN" b="1">
              <a:solidFill>
                <a:schemeClr val="bg2">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1" name="内容×人群完整对照｜列头为“人群 / 内容”，原图12组均保留"/>
          <p:cNvSpPr>
            <a:spLocks noGrp="1"/>
          </p:cNvSpPr>
          <p:nvPr/>
        </p:nvSpPr>
        <p:spPr>
          <a:xfrm>
            <a:off x="171717" y="4333776"/>
            <a:ext cx="11429405" cy="191760"/>
          </a:xfrm>
          <a:prstGeom prst="rect">
            <a:avLst/>
          </a:prstGeom>
          <a:noFill/>
          <a:ln w="0">
            <a:noFill/>
          </a:ln>
        </p:spPr>
        <p:txBody>
          <a:bodyPr wrap="square" lIns="0" tIns="0" rIns="0" bIns="0" anchor="t">
            <a:noAutofit/>
          </a:bodyPr>
          <a:lstStyle/>
          <a:p>
            <a:pPr>
              <a:defRPr sz="1215" b="1">
                <a:solidFill>
                  <a:srgbClr val="E38FD8"/>
                </a:solidFill>
                <a:latin typeface="微软雅黑" panose="020B0503020204020204" charset="-122"/>
                <a:ea typeface="微软雅黑" panose="020B0503020204020204" charset="-122"/>
                <a:cs typeface="微软雅黑" panose="020B0503020204020204" charset="-122"/>
              </a:defRPr>
            </a:pPr>
            <a:r>
              <a:rPr lang="zh-CN" b="1">
                <a:solidFill>
                  <a:srgbClr val="FFC000"/>
                </a:solidFill>
                <a:latin typeface="微软雅黑" panose="020B0503020204020204" charset="-122"/>
                <a:ea typeface="微软雅黑" panose="020B0503020204020204" charset="-122"/>
                <a:cs typeface="微软雅黑" panose="020B0503020204020204" charset="-122"/>
              </a:rPr>
              <a:t>优质</a:t>
            </a:r>
            <a:r>
              <a:rPr b="1">
                <a:solidFill>
                  <a:srgbClr val="FFC000"/>
                </a:solidFill>
                <a:latin typeface="微软雅黑" panose="020B0503020204020204" charset="-122"/>
                <a:ea typeface="微软雅黑" panose="020B0503020204020204" charset="-122"/>
                <a:cs typeface="微软雅黑" panose="020B0503020204020204" charset="-122"/>
              </a:rPr>
              <a:t>人群</a:t>
            </a:r>
            <a:r>
              <a:rPr lang="zh-CN" b="1">
                <a:solidFill>
                  <a:srgbClr val="FFC000"/>
                </a:solidFill>
                <a:latin typeface="微软雅黑" panose="020B0503020204020204" charset="-122"/>
                <a:ea typeface="微软雅黑" panose="020B0503020204020204" charset="-122"/>
                <a:cs typeface="微软雅黑" panose="020B0503020204020204" charset="-122"/>
              </a:rPr>
              <a:t>×高效内容</a:t>
            </a:r>
            <a:r>
              <a:rPr b="1">
                <a:solidFill>
                  <a:srgbClr val="FFC000"/>
                </a:solidFill>
                <a:latin typeface="微软雅黑" panose="020B0503020204020204" charset="-122"/>
                <a:ea typeface="微软雅黑" panose="020B0503020204020204" charset="-122"/>
                <a:cs typeface="微软雅黑" panose="020B0503020204020204" charset="-122"/>
              </a:rPr>
              <a:t>｜</a:t>
            </a:r>
            <a:r>
              <a:rPr lang="zh-CN" b="1">
                <a:solidFill>
                  <a:srgbClr val="FFC000"/>
                </a:solidFill>
                <a:latin typeface="微软雅黑" panose="020B0503020204020204" charset="-122"/>
                <a:ea typeface="微软雅黑" panose="020B0503020204020204" charset="-122"/>
                <a:cs typeface="微软雅黑" panose="020B0503020204020204" charset="-122"/>
              </a:rPr>
              <a:t>高效破圈</a:t>
            </a:r>
            <a:r>
              <a:rPr lang="en-US" altLang="zh-CN" b="1">
                <a:solidFill>
                  <a:srgbClr val="FFC000"/>
                </a:solidFill>
                <a:latin typeface="微软雅黑" panose="020B0503020204020204" charset="-122"/>
                <a:ea typeface="微软雅黑" panose="020B0503020204020204" charset="-122"/>
                <a:cs typeface="微软雅黑" panose="020B0503020204020204" charset="-122"/>
              </a:rPr>
              <a:t>    </a:t>
            </a:r>
            <a:r>
              <a:rPr>
                <a:solidFill>
                  <a:srgbClr val="FFC000"/>
                </a:solidFill>
                <a:latin typeface="微软雅黑" panose="020B0503020204020204" charset="-122"/>
                <a:ea typeface="微软雅黑" panose="020B0503020204020204" charset="-122"/>
                <a:cs typeface="微软雅黑" panose="020B0503020204020204" charset="-122"/>
                <a:sym typeface="+mn-ea"/>
              </a:rPr>
              <a:t>竞品&amp;品牌&amp;</a:t>
            </a:r>
            <a:r>
              <a:rPr lang="zh-CN">
                <a:solidFill>
                  <a:srgbClr val="FFC000"/>
                </a:solidFill>
                <a:latin typeface="微软雅黑" panose="020B0503020204020204" charset="-122"/>
                <a:ea typeface="微软雅黑" panose="020B0503020204020204" charset="-122"/>
                <a:cs typeface="微软雅黑" panose="020B0503020204020204" charset="-122"/>
                <a:sym typeface="+mn-ea"/>
              </a:rPr>
              <a:t>时尚人群</a:t>
            </a:r>
            <a:r>
              <a:rPr>
                <a:solidFill>
                  <a:srgbClr val="FFC000"/>
                </a:solidFill>
                <a:latin typeface="微软雅黑" panose="020B0503020204020204" charset="-122"/>
                <a:ea typeface="微软雅黑" panose="020B0503020204020204" charset="-122"/>
                <a:cs typeface="微软雅黑" panose="020B0503020204020204" charset="-122"/>
                <a:sym typeface="+mn-ea"/>
              </a:rPr>
              <a:t>×【</a:t>
            </a:r>
            <a:r>
              <a:rPr lang="zh-CN">
                <a:solidFill>
                  <a:srgbClr val="FFC000"/>
                </a:solidFill>
                <a:latin typeface="微软雅黑" panose="020B0503020204020204" charset="-122"/>
                <a:ea typeface="微软雅黑" panose="020B0503020204020204" charset="-122"/>
                <a:cs typeface="微软雅黑" panose="020B0503020204020204" charset="-122"/>
                <a:sym typeface="+mn-ea"/>
              </a:rPr>
              <a:t>时尚跑者</a:t>
            </a:r>
            <a:r>
              <a:rPr>
                <a:solidFill>
                  <a:srgbClr val="FFC000"/>
                </a:solidFill>
                <a:latin typeface="微软雅黑" panose="020B0503020204020204" charset="-122"/>
                <a:ea typeface="微软雅黑" panose="020B0503020204020204" charset="-122"/>
                <a:cs typeface="微软雅黑" panose="020B0503020204020204" charset="-122"/>
                <a:sym typeface="+mn-ea"/>
              </a:rPr>
              <a:t>】</a:t>
            </a:r>
            <a:r>
              <a:rPr lang="zh-CN">
                <a:solidFill>
                  <a:srgbClr val="FFC000"/>
                </a:solidFill>
                <a:latin typeface="微软雅黑" panose="020B0503020204020204" charset="-122"/>
                <a:ea typeface="微软雅黑" panose="020B0503020204020204" charset="-122"/>
                <a:cs typeface="微软雅黑" panose="020B0503020204020204" charset="-122"/>
                <a:sym typeface="+mn-ea"/>
              </a:rPr>
              <a:t>；奢品人群</a:t>
            </a:r>
            <a:r>
              <a:rPr>
                <a:solidFill>
                  <a:srgbClr val="FFC000"/>
                </a:solidFill>
                <a:latin typeface="微软雅黑" panose="020B0503020204020204" charset="-122"/>
                <a:ea typeface="微软雅黑" panose="020B0503020204020204" charset="-122"/>
                <a:cs typeface="微软雅黑" panose="020B0503020204020204" charset="-122"/>
                <a:sym typeface="+mn-ea"/>
              </a:rPr>
              <a:t>、</a:t>
            </a:r>
            <a:r>
              <a:rPr lang="zh-CN">
                <a:solidFill>
                  <a:srgbClr val="FFC000"/>
                </a:solidFill>
                <a:latin typeface="微软雅黑" panose="020B0503020204020204" charset="-122"/>
                <a:ea typeface="微软雅黑" panose="020B0503020204020204" charset="-122"/>
                <a:cs typeface="微软雅黑" panose="020B0503020204020204" charset="-122"/>
                <a:sym typeface="+mn-ea"/>
              </a:rPr>
              <a:t>辛芷蕾人群、七夕节点圈层</a:t>
            </a:r>
            <a:r>
              <a:rPr>
                <a:solidFill>
                  <a:srgbClr val="FFC000"/>
                </a:solidFill>
                <a:latin typeface="微软雅黑" panose="020B0503020204020204" charset="-122"/>
                <a:ea typeface="微软雅黑" panose="020B0503020204020204" charset="-122"/>
                <a:cs typeface="微软雅黑" panose="020B0503020204020204" charset="-122"/>
                <a:sym typeface="+mn-ea"/>
              </a:rPr>
              <a:t>×【</a:t>
            </a:r>
            <a:r>
              <a:rPr lang="zh-CN">
                <a:solidFill>
                  <a:srgbClr val="FFC000"/>
                </a:solidFill>
                <a:latin typeface="微软雅黑" panose="020B0503020204020204" charset="-122"/>
                <a:ea typeface="微软雅黑" panose="020B0503020204020204" charset="-122"/>
                <a:cs typeface="微软雅黑" panose="020B0503020204020204" charset="-122"/>
                <a:sym typeface="+mn-ea"/>
              </a:rPr>
              <a:t>时尚穿搭</a:t>
            </a:r>
            <a:r>
              <a:rPr>
                <a:solidFill>
                  <a:srgbClr val="FFC000"/>
                </a:solidFill>
                <a:latin typeface="微软雅黑" panose="020B0503020204020204" charset="-122"/>
                <a:ea typeface="微软雅黑" panose="020B0503020204020204" charset="-122"/>
                <a:cs typeface="微软雅黑" panose="020B0503020204020204" charset="-122"/>
                <a:sym typeface="+mn-ea"/>
              </a:rPr>
              <a:t>】</a:t>
            </a:r>
            <a:endParaRPr b="0">
              <a:solidFill>
                <a:srgbClr val="FFC000"/>
              </a:solidFill>
              <a:latin typeface="微软雅黑" panose="020B0503020204020204" charset="-122"/>
              <a:ea typeface="微软雅黑" panose="020B0503020204020204" charset="-122"/>
              <a:cs typeface="微软雅黑" panose="020B0503020204020204" charset="-122"/>
              <a:sym typeface="+mn-ea"/>
            </a:endParaRPr>
          </a:p>
          <a:p>
            <a:pPr>
              <a:defRPr sz="1215" b="1">
                <a:solidFill>
                  <a:srgbClr val="E38FD8"/>
                </a:solidFill>
                <a:latin typeface="微软雅黑" panose="020B0503020204020204" charset="-122"/>
                <a:ea typeface="微软雅黑" panose="020B0503020204020204" charset="-122"/>
                <a:cs typeface="微软雅黑" panose="020B0503020204020204" charset="-122"/>
              </a:defRPr>
            </a:pPr>
            <a:r>
              <a:rPr lang="en-US" altLang="zh-CN" b="1">
                <a:solidFill>
                  <a:srgbClr val="FFC000"/>
                </a:solidFill>
                <a:latin typeface="微软雅黑" panose="020B0503020204020204" charset="-122"/>
                <a:ea typeface="微软雅黑" panose="020B0503020204020204" charset="-122"/>
                <a:cs typeface="微软雅黑" panose="020B0503020204020204" charset="-122"/>
              </a:rPr>
              <a:t> </a:t>
            </a:r>
            <a:endParaRPr lang="en-US" altLang="zh-CN" b="1">
              <a:solidFill>
                <a:srgbClr val="FFC000"/>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61931" y="5733930"/>
            <a:ext cx="11486552" cy="9525"/>
          </a:xfrm>
          <a:prstGeom prst="rect">
            <a:avLst/>
          </a:prstGeom>
          <a:solidFill>
            <a:srgbClr val="554455"/>
          </a:solidFill>
          <a:ln w="0">
            <a:noFill/>
          </a:ln>
        </p:spPr>
      </p:sp>
      <p:sp>
        <p:nvSpPr>
          <p:cNvPr id="9" name="垂类＋竞品/品牌占51%；户外＋路跑占25%。女性60%，33—50岁综合效率优于23—3"/>
          <p:cNvSpPr>
            <a:spLocks noGrp="1"/>
          </p:cNvSpPr>
          <p:nvPr/>
        </p:nvSpPr>
        <p:spPr>
          <a:xfrm>
            <a:off x="6246814" y="1126657"/>
            <a:ext cx="5601669" cy="259060"/>
          </a:xfrm>
          <a:prstGeom prst="rect">
            <a:avLst/>
          </a:prstGeom>
          <a:noFill/>
          <a:ln w="0">
            <a:noFill/>
          </a:ln>
        </p:spPr>
        <p:txBody>
          <a:bodyPr wrap="square" lIns="0" tIns="0" rIns="0" bIns="0" anchor="ctr">
            <a:noAutofit/>
          </a:bodyPr>
          <a:lstStyle/>
          <a:p>
            <a:pPr indent="0" algn="l">
              <a:lnSpc>
                <a:spcPct val="150000"/>
              </a:lnSpc>
              <a:buFont typeface="Arial" panose="020B0604020202020204" pitchFamily="34" charset="0"/>
              <a:buNone/>
            </a:pPr>
            <a:r>
              <a:rPr sz="1100">
                <a:solidFill>
                  <a:srgbClr val="B9B3BA"/>
                </a:solidFill>
                <a:latin typeface="微软雅黑" panose="020B0503020204020204" charset="-122"/>
                <a:ea typeface="微软雅黑" panose="020B0503020204020204" charset="-122"/>
                <a:cs typeface="微软雅黑" panose="020B0503020204020204" charset="-122"/>
                <a:sym typeface="+mn-ea"/>
              </a:rPr>
              <a:t>【</a:t>
            </a:r>
            <a:r>
              <a:rPr lang="en-US" altLang="zh-CN" sz="1100">
                <a:solidFill>
                  <a:srgbClr val="B9B3BA"/>
                </a:solidFill>
                <a:latin typeface="微软雅黑" panose="020B0503020204020204" charset="-122"/>
                <a:ea typeface="微软雅黑" panose="020B0503020204020204" charset="-122"/>
                <a:cs typeface="微软雅黑" panose="020B0503020204020204" charset="-122"/>
                <a:sym typeface="+mn-ea"/>
              </a:rPr>
              <a:t>TI </a:t>
            </a:r>
            <a:r>
              <a:rPr lang="zh-CN" altLang="en-US" sz="1100">
                <a:solidFill>
                  <a:srgbClr val="B9B3BA"/>
                </a:solidFill>
                <a:latin typeface="微软雅黑" panose="020B0503020204020204" charset="-122"/>
                <a:ea typeface="微软雅黑" panose="020B0503020204020204" charset="-122"/>
                <a:cs typeface="微软雅黑" panose="020B0503020204020204" charset="-122"/>
                <a:sym typeface="+mn-ea"/>
              </a:rPr>
              <a:t>扩圈池（核心/ 品牌）做种草拉新，搜索沉淀池（品类 / 辛芷蕾 / 时装周）做卡位承接 </a:t>
            </a:r>
            <a:endParaRPr lang="zh-CN" sz="1100">
              <a:solidFill>
                <a:srgbClr val="B9B3BA"/>
              </a:solidFill>
              <a:latin typeface="微软雅黑" panose="020B0503020204020204" charset="-122"/>
              <a:ea typeface="微软雅黑" panose="020B0503020204020204" charset="-122"/>
              <a:cs typeface="微软雅黑" panose="020B0503020204020204" charset="-122"/>
              <a:sym typeface="+mn-ea"/>
            </a:endParaRPr>
          </a:p>
        </p:txBody>
      </p:sp>
      <p:sp>
        <p:nvSpPr>
          <p:cNvPr id="10" name="不足｜前端兴趣不等于转化"/>
          <p:cNvSpPr>
            <a:spLocks noGrp="1"/>
          </p:cNvSpPr>
          <p:nvPr/>
        </p:nvSpPr>
        <p:spPr>
          <a:xfrm>
            <a:off x="171717" y="5791077"/>
            <a:ext cx="11676130" cy="247803"/>
          </a:xfrm>
          <a:prstGeom prst="rect">
            <a:avLst/>
          </a:prstGeom>
          <a:noFill/>
          <a:ln w="0">
            <a:noFill/>
          </a:ln>
        </p:spPr>
        <p:txBody>
          <a:bodyPr wrap="square" lIns="0" tIns="0" rIns="0" bIns="0" anchor="t">
            <a:noAutofit/>
          </a:bodyPr>
          <a:lstStyle/>
          <a:p>
            <a:pPr>
              <a:defRPr sz="1240" b="1">
                <a:solidFill>
                  <a:srgbClr val="E38FD8"/>
                </a:solidFill>
                <a:latin typeface="微软雅黑" panose="020B0503020204020204" charset="-122"/>
                <a:ea typeface="微软雅黑" panose="020B0503020204020204" charset="-122"/>
                <a:cs typeface="微软雅黑" panose="020B0503020204020204" charset="-122"/>
              </a:defRPr>
            </a:pPr>
            <a:r>
              <a:rPr lang="en-US" altLang="zh-CN" sz="1400" b="1">
                <a:solidFill>
                  <a:srgbClr val="FFC000"/>
                </a:solidFill>
                <a:latin typeface="微软雅黑" panose="020B0503020204020204" charset="-122"/>
                <a:ea typeface="微软雅黑" panose="020B0503020204020204" charset="-122"/>
                <a:cs typeface="微软雅黑" panose="020B0503020204020204" charset="-122"/>
              </a:rPr>
              <a:t>NEXT STEP</a:t>
            </a:r>
            <a:r>
              <a:rPr sz="1400" b="1">
                <a:solidFill>
                  <a:srgbClr val="FFC000"/>
                </a:solidFill>
                <a:latin typeface="微软雅黑" panose="020B0503020204020204" charset="-122"/>
                <a:ea typeface="微软雅黑" panose="020B0503020204020204" charset="-122"/>
                <a:cs typeface="微软雅黑" panose="020B0503020204020204" charset="-122"/>
              </a:rPr>
              <a:t>｜</a:t>
            </a:r>
            <a:r>
              <a:rPr lang="zh-CN" sz="1400" b="1">
                <a:solidFill>
                  <a:srgbClr val="FFC000"/>
                </a:solidFill>
                <a:latin typeface="微软雅黑" panose="020B0503020204020204" charset="-122"/>
                <a:ea typeface="微软雅黑" panose="020B0503020204020204" charset="-122"/>
                <a:cs typeface="微软雅黑" panose="020B0503020204020204" charset="-122"/>
              </a:rPr>
              <a:t>【</a:t>
            </a:r>
            <a:r>
              <a:rPr lang="zh-CN" sz="1400">
                <a:solidFill>
                  <a:srgbClr val="FFC000"/>
                </a:solidFill>
                <a:latin typeface="微软雅黑" panose="020B0503020204020204" charset="-122"/>
                <a:ea typeface="微软雅黑" panose="020B0503020204020204" charset="-122"/>
                <a:cs typeface="微软雅黑" panose="020B0503020204020204" charset="-122"/>
                <a:sym typeface="+mn-ea"/>
              </a:rPr>
              <a:t>扩圈</a:t>
            </a:r>
            <a:r>
              <a:rPr lang="en-US" altLang="zh-CN" sz="1400">
                <a:solidFill>
                  <a:srgbClr val="FFC000"/>
                </a:solidFill>
                <a:latin typeface="微软雅黑" panose="020B0503020204020204" charset="-122"/>
                <a:ea typeface="微软雅黑" panose="020B0503020204020204" charset="-122"/>
                <a:cs typeface="微软雅黑" panose="020B0503020204020204" charset="-122"/>
                <a:sym typeface="+mn-ea"/>
              </a:rPr>
              <a:t>35%+</a:t>
            </a:r>
            <a:r>
              <a:rPr lang="zh-CN" altLang="en-US" sz="1400">
                <a:solidFill>
                  <a:srgbClr val="FFC000"/>
                </a:solidFill>
                <a:latin typeface="微软雅黑" panose="020B0503020204020204" charset="-122"/>
                <a:ea typeface="微软雅黑" panose="020B0503020204020204" charset="-122"/>
                <a:cs typeface="微软雅黑" panose="020B0503020204020204" charset="-122"/>
                <a:sym typeface="+mn-ea"/>
              </a:rPr>
              <a:t>垂类品牌基本盘</a:t>
            </a:r>
            <a:r>
              <a:rPr lang="en-US" altLang="zh-CN" sz="1400">
                <a:solidFill>
                  <a:srgbClr val="FFC000"/>
                </a:solidFill>
                <a:latin typeface="微软雅黑" panose="020B0503020204020204" charset="-122"/>
                <a:ea typeface="微软雅黑" panose="020B0503020204020204" charset="-122"/>
                <a:cs typeface="微软雅黑" panose="020B0503020204020204" charset="-122"/>
                <a:sym typeface="+mn-ea"/>
              </a:rPr>
              <a:t>65%</a:t>
            </a:r>
            <a:r>
              <a:rPr lang="zh-CN" altLang="en-US" sz="1400">
                <a:solidFill>
                  <a:srgbClr val="FFC000"/>
                </a:solidFill>
                <a:latin typeface="微软雅黑" panose="020B0503020204020204" charset="-122"/>
                <a:ea typeface="微软雅黑" panose="020B0503020204020204" charset="-122"/>
                <a:cs typeface="微软雅黑" panose="020B0503020204020204" charset="-122"/>
                <a:sym typeface="+mn-ea"/>
              </a:rPr>
              <a:t>】</a:t>
            </a:r>
            <a:r>
              <a:rPr lang="zh-CN" sz="1400" b="1">
                <a:solidFill>
                  <a:srgbClr val="FFC000"/>
                </a:solidFill>
                <a:latin typeface="微软雅黑" panose="020B0503020204020204" charset="-122"/>
                <a:ea typeface="微软雅黑" panose="020B0503020204020204" charset="-122"/>
                <a:cs typeface="微软雅黑" panose="020B0503020204020204" charset="-122"/>
              </a:rPr>
              <a:t>高潜人群聚焦高效内容促流传，配合内容</a:t>
            </a:r>
            <a:r>
              <a:rPr lang="en-US" altLang="zh-CN" sz="1400" b="1">
                <a:solidFill>
                  <a:srgbClr val="FFC000"/>
                </a:solidFill>
                <a:latin typeface="微软雅黑" panose="020B0503020204020204" charset="-122"/>
                <a:ea typeface="微软雅黑" panose="020B0503020204020204" charset="-122"/>
                <a:cs typeface="微软雅黑" panose="020B0503020204020204" charset="-122"/>
              </a:rPr>
              <a:t>[</a:t>
            </a:r>
            <a:r>
              <a:rPr lang="zh-CN" altLang="en-US" sz="1400" b="1">
                <a:solidFill>
                  <a:srgbClr val="FFC000"/>
                </a:solidFill>
                <a:latin typeface="微软雅黑" panose="020B0503020204020204" charset="-122"/>
                <a:ea typeface="微软雅黑" panose="020B0503020204020204" charset="-122"/>
                <a:cs typeface="微软雅黑" panose="020B0503020204020204" charset="-122"/>
              </a:rPr>
              <a:t>徒步</a:t>
            </a:r>
            <a:r>
              <a:rPr lang="en-US" altLang="zh-CN" sz="1400" b="1">
                <a:solidFill>
                  <a:srgbClr val="FFC000"/>
                </a:solidFill>
                <a:latin typeface="微软雅黑" panose="020B0503020204020204" charset="-122"/>
                <a:ea typeface="微软雅黑" panose="020B0503020204020204" charset="-122"/>
                <a:cs typeface="微软雅黑" panose="020B0503020204020204" charset="-122"/>
              </a:rPr>
              <a:t>]</a:t>
            </a:r>
            <a:r>
              <a:rPr lang="zh-CN" altLang="en-US" sz="1400" b="1">
                <a:solidFill>
                  <a:srgbClr val="FFC000"/>
                </a:solidFill>
                <a:latin typeface="微软雅黑" panose="020B0503020204020204" charset="-122"/>
                <a:ea typeface="微软雅黑" panose="020B0503020204020204" charset="-122"/>
                <a:cs typeface="微软雅黑" panose="020B0503020204020204" charset="-122"/>
              </a:rPr>
              <a:t>测试。</a:t>
            </a:r>
            <a:endParaRPr lang="zh-CN" altLang="en-US" sz="1400" b="1">
              <a:solidFill>
                <a:srgbClr val="FFC000"/>
              </a:solidFill>
              <a:latin typeface="微软雅黑" panose="020B0503020204020204" charset="-122"/>
              <a:ea typeface="微软雅黑" panose="020B0503020204020204" charset="-122"/>
              <a:cs typeface="微软雅黑" panose="020B0503020204020204" charset="-122"/>
            </a:endParaRPr>
          </a:p>
        </p:txBody>
      </p:sp>
      <p:sp>
        <p:nvSpPr>
          <p:cNvPr id="12" name="奢品健身、质享精英∩户外、时尚中高消&#10;及城市跑仍需教育，关注搜索/站外流转。"/>
          <p:cNvSpPr>
            <a:spLocks noGrp="1"/>
          </p:cNvSpPr>
          <p:nvPr/>
        </p:nvSpPr>
        <p:spPr>
          <a:xfrm>
            <a:off x="171717" y="6038850"/>
            <a:ext cx="10340073" cy="669925"/>
          </a:xfrm>
          <a:prstGeom prst="rect">
            <a:avLst/>
          </a:prstGeom>
          <a:noFill/>
          <a:ln w="0">
            <a:noFill/>
          </a:ln>
        </p:spPr>
        <p:txBody>
          <a:bodyPr wrap="square" lIns="0" tIns="0" rIns="0" bIns="0" anchor="t">
            <a:noAutofit/>
          </a:bodyPr>
          <a:lstStyle/>
          <a:p>
            <a:pPr marL="171450" indent="-171450" algn="l">
              <a:lnSpc>
                <a:spcPct val="110000"/>
              </a:lnSpc>
              <a:buClrTx/>
              <a:buSzTx/>
              <a:buFont typeface="Arial" panose="020B0604020202020204" pitchFamily="34" charset="0"/>
              <a:buChar char="•"/>
              <a:defRPr sz="1060" b="0">
                <a:solidFill>
                  <a:srgbClr val="FFFFFF"/>
                </a:solidFill>
                <a:latin typeface="微软雅黑" panose="020B0503020204020204" charset="-122"/>
                <a:ea typeface="微软雅黑" panose="020B0503020204020204" charset="-122"/>
                <a:cs typeface="微软雅黑" panose="020B0503020204020204" charset="-122"/>
              </a:defRPr>
            </a:pPr>
            <a:r>
              <a:rPr lang="zh-CN" altLang="en-US">
                <a:latin typeface="微软雅黑" panose="020B0503020204020204" charset="-122"/>
                <a:ea typeface="微软雅黑" panose="020B0503020204020204" charset="-122"/>
                <a:cs typeface="微软雅黑" panose="020B0503020204020204" charset="-122"/>
                <a:sym typeface="+mn-ea"/>
              </a:rPr>
              <a:t> 垂类基本盘（品牌  + 竞品 ）</a:t>
            </a:r>
            <a:r>
              <a:rPr>
                <a:latin typeface="微软雅黑" panose="020B0503020204020204" charset="-122"/>
                <a:ea typeface="微软雅黑" panose="020B0503020204020204" charset="-122"/>
                <a:cs typeface="微软雅黑" panose="020B0503020204020204" charset="-122"/>
                <a:sym typeface="+mn-ea"/>
              </a:rPr>
              <a:t> </a:t>
            </a:r>
            <a:r>
              <a:rPr lang="en-US">
                <a:latin typeface="微软雅黑" panose="020B0503020204020204" charset="-122"/>
                <a:ea typeface="微软雅黑" panose="020B0503020204020204" charset="-122"/>
                <a:cs typeface="微软雅黑" panose="020B0503020204020204" charset="-122"/>
                <a:sym typeface="+mn-ea"/>
              </a:rPr>
              <a:t>——</a:t>
            </a:r>
            <a:r>
              <a:rPr lang="zh-CN" altLang="en-US">
                <a:latin typeface="微软雅黑" panose="020B0503020204020204" charset="-122"/>
                <a:ea typeface="微软雅黑" panose="020B0503020204020204" charset="-122"/>
                <a:cs typeface="微软雅黑" panose="020B0503020204020204" charset="-122"/>
                <a:sym typeface="+mn-ea"/>
              </a:rPr>
              <a:t>时尚跑者 × 竞品 </a:t>
            </a:r>
            <a:r>
              <a:rPr lang="en-US" altLang="zh-CN">
                <a:latin typeface="微软雅黑" panose="020B0503020204020204" charset="-122"/>
                <a:ea typeface="微软雅黑" panose="020B0503020204020204" charset="-122"/>
                <a:cs typeface="微软雅黑" panose="020B0503020204020204" charset="-122"/>
                <a:sym typeface="+mn-ea"/>
              </a:rPr>
              <a:t>CPTI 1.73</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CPUV14.17</a:t>
            </a:r>
            <a:endParaRPr lang="en-US" altLang="zh-CN">
              <a:latin typeface="微软雅黑" panose="020B0503020204020204" charset="-122"/>
              <a:ea typeface="微软雅黑" panose="020B0503020204020204" charset="-122"/>
              <a:cs typeface="微软雅黑" panose="020B0503020204020204" charset="-122"/>
              <a:sym typeface="+mn-ea"/>
            </a:endParaRPr>
          </a:p>
          <a:p>
            <a:pPr marL="171450" indent="-171450" algn="l">
              <a:lnSpc>
                <a:spcPct val="110000"/>
              </a:lnSpc>
              <a:buClrTx/>
              <a:buSzTx/>
              <a:buFont typeface="Arial" panose="020B0604020202020204" pitchFamily="34" charset="0"/>
              <a:buChar char="•"/>
              <a:defRPr sz="1060" b="0">
                <a:solidFill>
                  <a:srgbClr val="FFFFFF"/>
                </a:solidFill>
                <a:latin typeface="微软雅黑" panose="020B0503020204020204" charset="-122"/>
                <a:ea typeface="微软雅黑" panose="020B0503020204020204" charset="-122"/>
                <a:cs typeface="微软雅黑" panose="020B0503020204020204" charset="-122"/>
              </a:defRPr>
            </a:pPr>
            <a:r>
              <a:rPr lang="en-US" altLang="zh-CN">
                <a:latin typeface="微软雅黑" panose="020B0503020204020204" charset="-122"/>
                <a:ea typeface="微软雅黑" panose="020B0503020204020204" charset="-122"/>
                <a:cs typeface="微软雅黑" panose="020B0503020204020204" charset="-122"/>
                <a:sym typeface="+mn-ea"/>
              </a:rPr>
              <a:t>CPTI </a:t>
            </a:r>
            <a:r>
              <a:rPr lang="zh-CN" altLang="en-US">
                <a:latin typeface="微软雅黑" panose="020B0503020204020204" charset="-122"/>
                <a:ea typeface="微软雅黑" panose="020B0503020204020204" charset="-122"/>
                <a:cs typeface="微软雅黑" panose="020B0503020204020204" charset="-122"/>
                <a:sym typeface="+mn-ea"/>
              </a:rPr>
              <a:t>目标下提升时髦/时尚、奢品、轻户外至 60%，竞品与品类降至 10%；</a:t>
            </a:r>
            <a:r>
              <a:rPr lang="en-US" altLang="zh-CN">
                <a:latin typeface="微软雅黑" panose="020B0503020204020204" charset="-122"/>
                <a:ea typeface="微软雅黑" panose="020B0503020204020204" charset="-122"/>
                <a:cs typeface="微软雅黑" panose="020B0503020204020204" charset="-122"/>
                <a:sym typeface="+mn-ea"/>
              </a:rPr>
              <a:t>CPUV </a:t>
            </a:r>
            <a:r>
              <a:rPr lang="zh-CN" altLang="en-US">
                <a:latin typeface="微软雅黑" panose="020B0503020204020204" charset="-122"/>
                <a:ea typeface="微软雅黑" panose="020B0503020204020204" charset="-122"/>
                <a:cs typeface="微软雅黑" panose="020B0503020204020204" charset="-122"/>
                <a:sym typeface="+mn-ea"/>
              </a:rPr>
              <a:t>目标下竞品、时髦/时尚占站外计划 50%；街头采访圈层、暑期奢旅圈层降至 10%；七夕节点圈层改为节点限定、不常驻。</a:t>
            </a:r>
            <a:br>
              <a:rPr lang="zh-CN" altLang="en-US">
                <a:latin typeface="微软雅黑" panose="020B0503020204020204" charset="-122"/>
                <a:ea typeface="微软雅黑" panose="020B0503020204020204" charset="-122"/>
                <a:cs typeface="微软雅黑" panose="020B0503020204020204" charset="-122"/>
                <a:sym typeface="+mn-ea"/>
              </a:rPr>
            </a:br>
            <a:endParaRPr b="0">
              <a:solidFill>
                <a:srgbClr val="FFFFFF"/>
              </a:solidFill>
              <a:latin typeface="微软雅黑" panose="020B0503020204020204" charset="-122"/>
              <a:ea typeface="微软雅黑" panose="020B0503020204020204" charset="-122"/>
              <a:cs typeface="微软雅黑" panose="020B0503020204020204" charset="-122"/>
            </a:endParaRPr>
          </a:p>
        </p:txBody>
      </p:sp>
      <p:graphicFrame>
        <p:nvGraphicFramePr>
          <p:cNvPr id="24" name="表格 23"/>
          <p:cNvGraphicFramePr/>
          <p:nvPr>
            <p:custDataLst>
              <p:tags r:id="rId1"/>
            </p:custDataLst>
          </p:nvPr>
        </p:nvGraphicFramePr>
        <p:xfrm>
          <a:off x="6246755" y="1482110"/>
          <a:ext cx="5600065" cy="2671445"/>
        </p:xfrm>
        <a:graphic>
          <a:graphicData uri="http://schemas.openxmlformats.org/drawingml/2006/table">
            <a:tbl>
              <a:tblPr/>
              <a:tblGrid>
                <a:gridCol w="1619885"/>
                <a:gridCol w="810260"/>
                <a:gridCol w="760095"/>
                <a:gridCol w="781685"/>
                <a:gridCol w="847090"/>
                <a:gridCol w="781050"/>
              </a:tblGrid>
              <a:tr h="247650">
                <a:tc>
                  <a:txBody>
                    <a:bodyPr/>
                    <a:p>
                      <a:pPr algn="ctr" fontAlgn="ctr"/>
                      <a:r>
                        <a:rPr lang="zh-CN" altLang="en-US" sz="1000" b="1" i="0">
                          <a:solidFill>
                            <a:schemeClr val="tx1"/>
                          </a:solidFill>
                          <a:latin typeface="微软雅黑" panose="020B0503020204020204" charset="-122"/>
                          <a:ea typeface="微软雅黑" panose="020B0503020204020204" charset="-122"/>
                          <a:cs typeface="微软雅黑" panose="020B0503020204020204" charset="-122"/>
                        </a:rPr>
                        <a:t>细分人群</a:t>
                      </a:r>
                      <a:endParaRPr lang="zh-CN" altLang="en-US" sz="10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en-US" altLang="zh-CN" sz="1000" b="1" i="0">
                          <a:solidFill>
                            <a:schemeClr val="tx1"/>
                          </a:solidFill>
                          <a:latin typeface="微软雅黑" panose="020B0503020204020204" charset="-122"/>
                          <a:ea typeface="微软雅黑" panose="020B0503020204020204" charset="-122"/>
                          <a:cs typeface="微软雅黑" panose="020B0503020204020204" charset="-122"/>
                        </a:rPr>
                        <a:t>CTR</a:t>
                      </a:r>
                      <a:endParaRPr lang="en-US" altLang="zh-CN" sz="10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en-US" altLang="zh-CN" sz="1000" b="1" i="0">
                          <a:solidFill>
                            <a:schemeClr val="tx1"/>
                          </a:solidFill>
                          <a:latin typeface="微软雅黑" panose="020B0503020204020204" charset="-122"/>
                          <a:ea typeface="微软雅黑" panose="020B0503020204020204" charset="-122"/>
                          <a:cs typeface="微软雅黑" panose="020B0503020204020204" charset="-122"/>
                        </a:rPr>
                        <a:t>CPC</a:t>
                      </a:r>
                      <a:endParaRPr lang="en-US" altLang="zh-CN" sz="10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en-US" altLang="zh-CN" sz="1000" b="1" i="0">
                          <a:solidFill>
                            <a:schemeClr val="tx1"/>
                          </a:solidFill>
                          <a:latin typeface="微软雅黑" panose="020B0503020204020204" charset="-122"/>
                          <a:ea typeface="微软雅黑" panose="020B0503020204020204" charset="-122"/>
                          <a:cs typeface="微软雅黑" panose="020B0503020204020204" charset="-122"/>
                        </a:rPr>
                        <a:t>CPTI</a:t>
                      </a:r>
                      <a:endParaRPr lang="en-US" altLang="zh-CN" sz="10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en-US" altLang="zh-CN" sz="1000" b="1" i="0">
                          <a:solidFill>
                            <a:schemeClr val="tx1"/>
                          </a:solidFill>
                          <a:latin typeface="微软雅黑" panose="020B0503020204020204" charset="-122"/>
                          <a:ea typeface="微软雅黑" panose="020B0503020204020204" charset="-122"/>
                          <a:cs typeface="微软雅黑" panose="020B0503020204020204" charset="-122"/>
                        </a:rPr>
                        <a:t>CP</a:t>
                      </a:r>
                      <a:r>
                        <a:rPr lang="zh-CN" altLang="en-US" sz="1000" b="1" i="0">
                          <a:solidFill>
                            <a:schemeClr val="tx1"/>
                          </a:solidFill>
                          <a:latin typeface="微软雅黑" panose="020B0503020204020204" charset="-122"/>
                          <a:ea typeface="微软雅黑" panose="020B0503020204020204" charset="-122"/>
                          <a:cs typeface="微软雅黑" panose="020B0503020204020204" charset="-122"/>
                        </a:rPr>
                        <a:t>搜索</a:t>
                      </a:r>
                      <a:endParaRPr lang="zh-CN" altLang="en-US" sz="10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en-US" altLang="zh-CN" sz="1000" b="1" i="0">
                          <a:solidFill>
                            <a:schemeClr val="tx1"/>
                          </a:solidFill>
                          <a:latin typeface="微软雅黑" panose="020B0503020204020204" charset="-122"/>
                          <a:ea typeface="微软雅黑" panose="020B0503020204020204" charset="-122"/>
                          <a:cs typeface="微软雅黑" panose="020B0503020204020204" charset="-122"/>
                        </a:rPr>
                        <a:t>CPUV</a:t>
                      </a:r>
                      <a:endParaRPr lang="en-US" altLang="zh-CN" sz="10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r>
              <a:tr h="244475">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品牌人群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10.40%</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2.35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43.98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67.50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3840">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竞品人群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8.81%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5.07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40.93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rgbClr val="FFC000"/>
                          </a:solidFill>
                          <a:latin typeface="微软雅黑" panose="020B0503020204020204" charset="-122"/>
                          <a:ea typeface="微软雅黑" panose="020B0503020204020204" charset="-122"/>
                          <a:cs typeface="微软雅黑" panose="020B0503020204020204" charset="-122"/>
                        </a:rPr>
                        <a:t>23.84</a:t>
                      </a:r>
                      <a:r>
                        <a:rPr lang="en-US" altLang="zh-CN" sz="1000" b="0" i="0">
                          <a:solidFill>
                            <a:srgbClr val="FFC000"/>
                          </a:solidFill>
                          <a:latin typeface="微软雅黑" panose="020B0503020204020204" charset="-122"/>
                          <a:ea typeface="微软雅黑" panose="020B0503020204020204" charset="-122"/>
                          <a:cs typeface="微软雅黑" panose="020B0503020204020204" charset="-122"/>
                        </a:rPr>
                        <a:t> </a:t>
                      </a:r>
                      <a:endParaRPr lang="en-US" altLang="zh-CN" sz="1000" b="0" i="0">
                        <a:solidFill>
                          <a:srgbClr val="FFC000"/>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2570">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时装周人群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12.18%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0.24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3.09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35.40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214.98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5110">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出游穿搭人群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12.98%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0.40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3.60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54.23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170.27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2570">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奢品</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户外人群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8.94%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1.53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44.03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93.38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3840">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A23_</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扩展</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10.18%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3.42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33.57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rgbClr val="FFC000"/>
                          </a:solidFill>
                          <a:latin typeface="微软雅黑" panose="020B0503020204020204" charset="-122"/>
                          <a:ea typeface="微软雅黑" panose="020B0503020204020204" charset="-122"/>
                          <a:cs typeface="微软雅黑" panose="020B0503020204020204" charset="-122"/>
                        </a:rPr>
                        <a:t>26.94 </a:t>
                      </a:r>
                      <a:endParaRPr lang="en-US" altLang="zh-CN" sz="1000" b="0" i="0">
                        <a:solidFill>
                          <a:srgbClr val="FFC000"/>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30505">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黑山核心人群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6.30%</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0.66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1.32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31.34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rgbClr val="FFC000"/>
                          </a:solidFill>
                          <a:latin typeface="微软雅黑" panose="020B0503020204020204" charset="-122"/>
                          <a:ea typeface="微软雅黑" panose="020B0503020204020204" charset="-122"/>
                          <a:cs typeface="微软雅黑" panose="020B0503020204020204" charset="-122"/>
                        </a:rPr>
                        <a:t>44.97</a:t>
                      </a:r>
                      <a:r>
                        <a:rPr lang="en-US" altLang="zh-CN" sz="1000" b="0" i="0">
                          <a:solidFill>
                            <a:srgbClr val="FFC000"/>
                          </a:solidFill>
                          <a:latin typeface="微软雅黑" panose="020B0503020204020204" charset="-122"/>
                          <a:ea typeface="微软雅黑" panose="020B0503020204020204" charset="-122"/>
                          <a:cs typeface="微软雅黑" panose="020B0503020204020204" charset="-122"/>
                        </a:rPr>
                        <a:t> </a:t>
                      </a:r>
                      <a:endParaRPr lang="en-US" altLang="zh-CN" sz="1000" b="0" i="0">
                        <a:solidFill>
                          <a:srgbClr val="FFC000"/>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2570">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新潮运动派</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时尚态度</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6.65%</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0.63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1.11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28.65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rgbClr val="FFC000"/>
                          </a:solidFill>
                          <a:latin typeface="微软雅黑" panose="020B0503020204020204" charset="-122"/>
                          <a:ea typeface="微软雅黑" panose="020B0503020204020204" charset="-122"/>
                          <a:cs typeface="微软雅黑" panose="020B0503020204020204" charset="-122"/>
                        </a:rPr>
                        <a:t>61.31</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4475">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高端旅游人群</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户外徒步鞋</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12.00%</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3.13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38.74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474.01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43840">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高精力享乐派</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户外徒步鞋</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12.49%</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43.05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388.91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bl>
          </a:graphicData>
        </a:graphic>
      </p:graphicFrame>
      <p:graphicFrame>
        <p:nvGraphicFramePr>
          <p:cNvPr id="36" name="表格 35"/>
          <p:cNvGraphicFramePr/>
          <p:nvPr>
            <p:custDataLst>
              <p:tags r:id="rId2"/>
            </p:custDataLst>
          </p:nvPr>
        </p:nvGraphicFramePr>
        <p:xfrm>
          <a:off x="171717" y="4635699"/>
          <a:ext cx="11538585" cy="961390"/>
        </p:xfrm>
        <a:graphic>
          <a:graphicData uri="http://schemas.openxmlformats.org/drawingml/2006/table">
            <a:tbl>
              <a:tblPr/>
              <a:tblGrid>
                <a:gridCol w="1159510"/>
                <a:gridCol w="1155700"/>
                <a:gridCol w="1071245"/>
                <a:gridCol w="1153160"/>
                <a:gridCol w="1021715"/>
                <a:gridCol w="1267460"/>
                <a:gridCol w="1174115"/>
                <a:gridCol w="1153160"/>
                <a:gridCol w="1168400"/>
                <a:gridCol w="1214120"/>
              </a:tblGrid>
              <a:tr h="225425">
                <a:tc rowSpan="2">
                  <a:txBody>
                    <a:bodyPr/>
                    <a:p>
                      <a:pPr algn="l" fontAlgn="ctr"/>
                      <a:r>
                        <a:rPr lang="zh-CN" altLang="en-US" sz="900" b="1" i="0">
                          <a:solidFill>
                            <a:srgbClr val="FFFFFF"/>
                          </a:solidFill>
                          <a:latin typeface="微软雅黑" panose="020B0503020204020204" charset="-122"/>
                          <a:ea typeface="微软雅黑" panose="020B0503020204020204" charset="-122"/>
                          <a:cs typeface="微软雅黑" panose="020B0503020204020204" charset="-122"/>
                        </a:rPr>
                        <a:t>优质人群</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p>
                      <a:pPr algn="l" fontAlgn="ctr"/>
                      <a:r>
                        <a:rPr lang="en-US" altLang="zh-CN" sz="900" b="1" i="0">
                          <a:solidFill>
                            <a:srgbClr val="FFFFFF"/>
                          </a:solidFill>
                          <a:latin typeface="微软雅黑" panose="020B0503020204020204" charset="-122"/>
                          <a:ea typeface="微软雅黑" panose="020B0503020204020204" charset="-122"/>
                          <a:cs typeface="微软雅黑" panose="020B0503020204020204" charset="-122"/>
                        </a:rPr>
                        <a:t>×</a:t>
                      </a:r>
                      <a:r>
                        <a:rPr lang="zh-CN" altLang="en-US" sz="900" b="1" i="0">
                          <a:solidFill>
                            <a:srgbClr val="FFFFFF"/>
                          </a:solidFill>
                          <a:latin typeface="微软雅黑" panose="020B0503020204020204" charset="-122"/>
                          <a:ea typeface="微软雅黑" panose="020B0503020204020204" charset="-122"/>
                          <a:cs typeface="微软雅黑" panose="020B0503020204020204" charset="-122"/>
                        </a:rPr>
                        <a:t>内容</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gridSpan="2">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竞品</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人群</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hMerge="1">
                  <a:tcP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gridSpan="2">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品牌</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人群</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hMerge="1">
                  <a:tcP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gridSpan="2">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时尚时髦</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人群</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hMerge="1">
                  <a:tcP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奢品</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人群</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辛芷蕾</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人群</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七夕节点</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圈层</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r>
              <a:tr h="177165">
                <a:tc vMerge="1">
                  <a:tcPr marL="9842" marR="9842" marT="9842"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1" i="0">
                          <a:solidFill>
                            <a:srgbClr val="FFC000"/>
                          </a:solidFill>
                          <a:latin typeface="微软雅黑" panose="020B0503020204020204" charset="-122"/>
                          <a:ea typeface="微软雅黑" panose="020B0503020204020204" charset="-122"/>
                          <a:cs typeface="微软雅黑" panose="020B0503020204020204" charset="-122"/>
                        </a:rPr>
                        <a:t>UGC</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晒鞋</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zh-CN" altLang="en-US" sz="900" b="1" i="0">
                          <a:solidFill>
                            <a:srgbClr val="FFFFFF"/>
                          </a:solidFill>
                          <a:latin typeface="微软雅黑" panose="020B0503020204020204" charset="-122"/>
                          <a:ea typeface="微软雅黑" panose="020B0503020204020204" charset="-122"/>
                          <a:cs typeface="微软雅黑" panose="020B0503020204020204" charset="-122"/>
                        </a:rPr>
                        <a:t>时尚</a:t>
                      </a:r>
                      <a:r>
                        <a:rPr lang="zh-CN" altLang="en-US" sz="900" b="1" i="0">
                          <a:solidFill>
                            <a:srgbClr val="FFFFFF"/>
                          </a:solidFill>
                          <a:latin typeface="微软雅黑" panose="020B0503020204020204" charset="-122"/>
                          <a:ea typeface="微软雅黑" panose="020B0503020204020204" charset="-122"/>
                          <a:cs typeface="微软雅黑" panose="020B0503020204020204" charset="-122"/>
                        </a:rPr>
                        <a:t>跑者</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zh-CN" altLang="en-US" sz="900" b="1">
                          <a:solidFill>
                            <a:srgbClr val="FFFFFF"/>
                          </a:solidFill>
                          <a:latin typeface="微软雅黑" panose="020B0503020204020204" charset="-122"/>
                          <a:ea typeface="微软雅黑" panose="020B0503020204020204" charset="-122"/>
                          <a:cs typeface="微软雅黑" panose="020B0503020204020204" charset="-122"/>
                          <a:sym typeface="+mn-ea"/>
                        </a:rPr>
                        <a:t>时尚跑者</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1">
                          <a:solidFill>
                            <a:srgbClr val="FFC000"/>
                          </a:solidFill>
                          <a:latin typeface="微软雅黑" panose="020B0503020204020204" charset="-122"/>
                          <a:ea typeface="微软雅黑" panose="020B0503020204020204" charset="-122"/>
                          <a:cs typeface="微软雅黑" panose="020B0503020204020204" charset="-122"/>
                          <a:sym typeface="+mn-ea"/>
                        </a:rPr>
                        <a:t>UGC</a:t>
                      </a:r>
                      <a:r>
                        <a:rPr lang="zh-CN" altLang="en-US" sz="900" b="1">
                          <a:solidFill>
                            <a:srgbClr val="FFC000"/>
                          </a:solidFill>
                          <a:latin typeface="微软雅黑" panose="020B0503020204020204" charset="-122"/>
                          <a:ea typeface="微软雅黑" panose="020B0503020204020204" charset="-122"/>
                          <a:cs typeface="微软雅黑" panose="020B0503020204020204" charset="-122"/>
                          <a:sym typeface="+mn-ea"/>
                        </a:rPr>
                        <a:t>晒鞋</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zh-CN" altLang="en-US" sz="900" b="1">
                          <a:solidFill>
                            <a:srgbClr val="FFFFFF"/>
                          </a:solidFill>
                          <a:latin typeface="微软雅黑" panose="020B0503020204020204" charset="-122"/>
                          <a:ea typeface="微软雅黑" panose="020B0503020204020204" charset="-122"/>
                          <a:cs typeface="微软雅黑" panose="020B0503020204020204" charset="-122"/>
                          <a:sym typeface="+mn-ea"/>
                        </a:rPr>
                        <a:t>时尚跑者</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1">
                          <a:solidFill>
                            <a:srgbClr val="FFC000"/>
                          </a:solidFill>
                          <a:latin typeface="微软雅黑" panose="020B0503020204020204" charset="-122"/>
                          <a:ea typeface="微软雅黑" panose="020B0503020204020204" charset="-122"/>
                          <a:cs typeface="微软雅黑" panose="020B0503020204020204" charset="-122"/>
                          <a:sym typeface="+mn-ea"/>
                        </a:rPr>
                        <a:t>UGC</a:t>
                      </a:r>
                      <a:r>
                        <a:rPr lang="zh-CN" altLang="en-US" sz="900" b="1">
                          <a:solidFill>
                            <a:srgbClr val="FFC000"/>
                          </a:solidFill>
                          <a:latin typeface="微软雅黑" panose="020B0503020204020204" charset="-122"/>
                          <a:ea typeface="微软雅黑" panose="020B0503020204020204" charset="-122"/>
                          <a:cs typeface="微软雅黑" panose="020B0503020204020204" charset="-122"/>
                          <a:sym typeface="+mn-ea"/>
                        </a:rPr>
                        <a:t>晒鞋</a:t>
                      </a:r>
                      <a:endParaRPr lang="zh-CN" altLang="en-US" sz="900" b="1"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zh-CN" altLang="en-US" sz="900" b="1">
                          <a:solidFill>
                            <a:srgbClr val="FFFFFF"/>
                          </a:solidFill>
                          <a:latin typeface="微软雅黑" panose="020B0503020204020204" charset="-122"/>
                          <a:ea typeface="微软雅黑" panose="020B0503020204020204" charset="-122"/>
                          <a:cs typeface="微软雅黑" panose="020B0503020204020204" charset="-122"/>
                          <a:sym typeface="+mn-ea"/>
                        </a:rPr>
                        <a:t>时尚跑者</a:t>
                      </a:r>
                      <a:endParaRPr lang="zh-CN" altLang="en-US" sz="900" b="1" i="0">
                        <a:solidFill>
                          <a:srgbClr val="F2BA02"/>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时尚</a:t>
                      </a:r>
                      <a:r>
                        <a:rPr lang="zh-CN" altLang="en-US" sz="900" b="1" i="0">
                          <a:solidFill>
                            <a:srgbClr val="FFC000"/>
                          </a:solidFill>
                          <a:latin typeface="微软雅黑" panose="020B0503020204020204" charset="-122"/>
                          <a:ea typeface="微软雅黑" panose="020B0503020204020204" charset="-122"/>
                          <a:cs typeface="微软雅黑" panose="020B0503020204020204" charset="-122"/>
                        </a:rPr>
                        <a:t>穿搭</a:t>
                      </a:r>
                      <a:endParaRPr lang="zh-CN" altLang="en-US" sz="900" b="1" i="0">
                        <a:solidFill>
                          <a:srgbClr val="FFC000"/>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zh-CN" altLang="en-US" sz="900" b="1" i="0">
                          <a:solidFill>
                            <a:srgbClr val="F2BA02"/>
                          </a:solidFill>
                          <a:latin typeface="微软雅黑" panose="020B0503020204020204" charset="-122"/>
                          <a:ea typeface="微软雅黑" panose="020B0503020204020204" charset="-122"/>
                          <a:cs typeface="微软雅黑" panose="020B0503020204020204" charset="-122"/>
                        </a:rPr>
                        <a:t>时尚</a:t>
                      </a:r>
                      <a:r>
                        <a:rPr lang="zh-CN" altLang="en-US" sz="900" b="1" i="0">
                          <a:solidFill>
                            <a:srgbClr val="F2BA02"/>
                          </a:solidFill>
                          <a:latin typeface="微软雅黑" panose="020B0503020204020204" charset="-122"/>
                          <a:ea typeface="微软雅黑" panose="020B0503020204020204" charset="-122"/>
                          <a:cs typeface="微软雅黑" panose="020B0503020204020204" charset="-122"/>
                        </a:rPr>
                        <a:t>穿搭</a:t>
                      </a:r>
                      <a:endParaRPr lang="zh-CN" altLang="en-US" sz="900" b="1" i="0">
                        <a:solidFill>
                          <a:srgbClr val="F2BA02"/>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5420">
                <a:tc>
                  <a:txBody>
                    <a:bodyPr/>
                    <a:p>
                      <a:pPr algn="l" fontAlgn="ctr"/>
                      <a:r>
                        <a:rPr lang="en-US" altLang="zh-CN" sz="900" b="1" i="0">
                          <a:solidFill>
                            <a:schemeClr val="tx1"/>
                          </a:solidFill>
                          <a:latin typeface="微软雅黑" panose="020B0503020204020204" charset="-122"/>
                          <a:ea typeface="微软雅黑" panose="020B0503020204020204" charset="-122"/>
                          <a:cs typeface="微软雅黑" panose="020B0503020204020204" charset="-122"/>
                        </a:rPr>
                        <a:t>CPTI</a:t>
                      </a:r>
                      <a:endParaRPr lang="en-US" altLang="zh-CN" sz="9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1.93</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1.73</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1.72</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1.37</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1.56</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1.28</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1.86</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2.99</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9.87</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7325">
                <a:tc>
                  <a:txBody>
                    <a:bodyPr/>
                    <a:p>
                      <a:pPr algn="l" fontAlgn="ctr"/>
                      <a:r>
                        <a:rPr lang="en-US" altLang="zh-CN" sz="900" b="1" i="0">
                          <a:solidFill>
                            <a:schemeClr val="tx1"/>
                          </a:solidFill>
                          <a:latin typeface="微软雅黑" panose="020B0503020204020204" charset="-122"/>
                          <a:ea typeface="微软雅黑" panose="020B0503020204020204" charset="-122"/>
                          <a:cs typeface="微软雅黑" panose="020B0503020204020204" charset="-122"/>
                        </a:rPr>
                        <a:t>CP</a:t>
                      </a:r>
                      <a:r>
                        <a:rPr lang="zh-CN" altLang="en-US" sz="900" b="1" i="0">
                          <a:solidFill>
                            <a:schemeClr val="tx1"/>
                          </a:solidFill>
                          <a:latin typeface="微软雅黑" panose="020B0503020204020204" charset="-122"/>
                          <a:ea typeface="微软雅黑" panose="020B0503020204020204" charset="-122"/>
                          <a:cs typeface="微软雅黑" panose="020B0503020204020204" charset="-122"/>
                        </a:rPr>
                        <a:t>搜索</a:t>
                      </a:r>
                      <a:endParaRPr lang="zh-CN" altLang="en-US" sz="9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105.8 </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52.1 </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31.38</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20.95</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31.9</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20.79</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55.84</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37.53</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40.7</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6055">
                <a:tc>
                  <a:txBody>
                    <a:bodyPr/>
                    <a:p>
                      <a:pPr algn="l" fontAlgn="ctr"/>
                      <a:r>
                        <a:rPr lang="en-US" altLang="zh-CN" sz="900" b="1" i="0">
                          <a:solidFill>
                            <a:schemeClr val="tx1"/>
                          </a:solidFill>
                          <a:latin typeface="微软雅黑" panose="020B0503020204020204" charset="-122"/>
                          <a:ea typeface="微软雅黑" panose="020B0503020204020204" charset="-122"/>
                          <a:cs typeface="微软雅黑" panose="020B0503020204020204" charset="-122"/>
                        </a:rPr>
                        <a:t>CP</a:t>
                      </a:r>
                      <a:r>
                        <a:rPr lang="zh-CN" altLang="en-US" sz="900" b="1" i="0">
                          <a:solidFill>
                            <a:schemeClr val="tx1"/>
                          </a:solidFill>
                          <a:latin typeface="微软雅黑" panose="020B0503020204020204" charset="-122"/>
                          <a:ea typeface="微软雅黑" panose="020B0503020204020204" charset="-122"/>
                          <a:cs typeface="微软雅黑" panose="020B0503020204020204" charset="-122"/>
                        </a:rPr>
                        <a:t>红盟</a:t>
                      </a:r>
                      <a:endParaRPr lang="zh-CN" altLang="en-US" sz="900" b="1" i="0">
                        <a:solidFill>
                          <a:schemeClr val="tx1"/>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13.93</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14.17</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20.25</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33.28</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31.28</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32.19</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17.97</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54.79</a:t>
                      </a:r>
                      <a:endParaRPr lang="en-US" altLang="zh-CN"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a:r>
                        <a:rPr lang="en-US" altLang="zh-CN" sz="900" b="0" i="0">
                          <a:solidFill>
                            <a:srgbClr val="FFFFFF"/>
                          </a:solidFill>
                          <a:latin typeface="微软雅黑" panose="020B0503020204020204" charset="-122"/>
                          <a:ea typeface="微软雅黑" panose="020B0503020204020204" charset="-122"/>
                          <a:cs typeface="微软雅黑" panose="020B0503020204020204" charset="-122"/>
                        </a:rPr>
                        <a:t>31.4</a:t>
                      </a:r>
                      <a:endParaRPr lang="zh-CN" altLang="en-US" sz="900" b="0" i="0">
                        <a:solidFill>
                          <a:srgbClr val="FFFFFF"/>
                        </a:solidFill>
                        <a:latin typeface="微软雅黑" panose="020B0503020204020204" charset="-122"/>
                        <a:ea typeface="微软雅黑" panose="020B0503020204020204" charset="-122"/>
                        <a:cs typeface="微软雅黑" panose="020B0503020204020204" charset="-122"/>
                      </a:endParaRPr>
                    </a:p>
                  </a:txBody>
                  <a:tcPr marL="9841" marR="9841" marT="9841"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bl>
          </a:graphicData>
        </a:graphic>
      </p:graphicFrame>
      <p:graphicFrame>
        <p:nvGraphicFramePr>
          <p:cNvPr id="13" name="表格 12"/>
          <p:cNvGraphicFramePr/>
          <p:nvPr>
            <p:custDataLst>
              <p:tags r:id="rId3"/>
            </p:custDataLst>
          </p:nvPr>
        </p:nvGraphicFramePr>
        <p:xfrm>
          <a:off x="171745" y="1482102"/>
          <a:ext cx="6002655" cy="2673350"/>
        </p:xfrm>
        <a:graphic>
          <a:graphicData uri="http://schemas.openxmlformats.org/drawingml/2006/table">
            <a:tbl>
              <a:tblPr/>
              <a:tblGrid>
                <a:gridCol w="640715"/>
                <a:gridCol w="859155"/>
                <a:gridCol w="352425"/>
                <a:gridCol w="353060"/>
                <a:gridCol w="400050"/>
                <a:gridCol w="376555"/>
                <a:gridCol w="518160"/>
                <a:gridCol w="541655"/>
                <a:gridCol w="694055"/>
                <a:gridCol w="1266825"/>
              </a:tblGrid>
              <a:tr h="377825">
                <a:tc>
                  <a:txBody>
                    <a:bodyPr/>
                    <a:p>
                      <a:pPr algn="ctr" fontAlgn="ctr" latinLnBrk="0"/>
                      <a:r>
                        <a:rPr lang="zh-CN" altLang="en-US" sz="1000" b="1" i="0">
                          <a:solidFill>
                            <a:schemeClr val="tx1"/>
                          </a:solidFill>
                          <a:latin typeface="微软雅黑" panose="020B0503020204020204" charset="-122"/>
                          <a:ea typeface="微软雅黑" panose="020B0503020204020204" charset="-122"/>
                          <a:cs typeface="微软雅黑" panose="020B0503020204020204" charset="-122"/>
                        </a:rPr>
                        <a:t>目标人群</a:t>
                      </a:r>
                      <a:endParaRPr lang="zh-CN" altLang="en-US" sz="1000" b="1"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latinLnBrk="0"/>
                      <a:r>
                        <a:rPr lang="zh-CN" altLang="en-US" sz="1000" b="1" i="0">
                          <a:solidFill>
                            <a:schemeClr val="tx1"/>
                          </a:solidFill>
                          <a:latin typeface="微软雅黑" panose="020B0503020204020204" charset="-122"/>
                          <a:ea typeface="微软雅黑" panose="020B0503020204020204" charset="-122"/>
                          <a:cs typeface="微软雅黑" panose="020B0503020204020204" charset="-122"/>
                        </a:rPr>
                        <a:t>人群大类</a:t>
                      </a:r>
                      <a:endParaRPr lang="zh-CN" altLang="en-US" sz="1000" b="1"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r>
                        <a:rPr sz="1000" b="1">
                          <a:solidFill>
                            <a:schemeClr val="tx1"/>
                          </a:solidFill>
                          <a:latin typeface="微软雅黑" panose="020B0503020204020204" charset="-122"/>
                          <a:ea typeface="微软雅黑" panose="020B0503020204020204" charset="-122"/>
                          <a:cs typeface="微软雅黑" panose="020B0503020204020204" charset="-122"/>
                        </a:rPr>
                        <a:t>CTR</a:t>
                      </a:r>
                      <a:endParaRPr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r>
                        <a:rPr sz="1000" b="1">
                          <a:solidFill>
                            <a:schemeClr val="tx1"/>
                          </a:solidFill>
                          <a:latin typeface="微软雅黑" panose="020B0503020204020204" charset="-122"/>
                          <a:ea typeface="微软雅黑" panose="020B0503020204020204" charset="-122"/>
                          <a:cs typeface="微软雅黑" panose="020B0503020204020204" charset="-122"/>
                        </a:rPr>
                        <a:t>CPC</a:t>
                      </a:r>
                      <a:endParaRPr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r>
                        <a:rPr sz="1000" b="1">
                          <a:solidFill>
                            <a:schemeClr val="tx1"/>
                          </a:solidFill>
                          <a:latin typeface="微软雅黑" panose="020B0503020204020204" charset="-122"/>
                          <a:ea typeface="微软雅黑" panose="020B0503020204020204" charset="-122"/>
                          <a:cs typeface="微软雅黑" panose="020B0503020204020204" charset="-122"/>
                        </a:rPr>
                        <a:t>CPE</a:t>
                      </a:r>
                      <a:endParaRPr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fontAlgn="ctr" latinLnBrk="0"/>
                      <a:r>
                        <a:rPr lang="en-US" altLang="zh-CN" sz="1000" b="1" i="0">
                          <a:solidFill>
                            <a:schemeClr val="tx1"/>
                          </a:solidFill>
                          <a:latin typeface="微软雅黑" panose="020B0503020204020204" charset="-122"/>
                          <a:ea typeface="微软雅黑" panose="020B0503020204020204" charset="-122"/>
                          <a:cs typeface="微软雅黑" panose="020B0503020204020204" charset="-122"/>
                        </a:rPr>
                        <a:t>CPTI</a:t>
                      </a:r>
                      <a:endParaRPr lang="en-US" altLang="zh-CN" sz="1000" b="1"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r>
                        <a:rPr sz="1000" b="1">
                          <a:solidFill>
                            <a:schemeClr val="tx1"/>
                          </a:solidFill>
                          <a:latin typeface="微软雅黑" panose="020B0503020204020204" charset="-122"/>
                          <a:ea typeface="微软雅黑" panose="020B0503020204020204" charset="-122"/>
                          <a:cs typeface="微软雅黑" panose="020B0503020204020204" charset="-122"/>
                        </a:rPr>
                        <a:t>CP搜索</a:t>
                      </a:r>
                      <a:endParaRPr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r>
                        <a:rPr sz="1000" b="1">
                          <a:solidFill>
                            <a:schemeClr val="tx1"/>
                          </a:solidFill>
                          <a:latin typeface="微软雅黑" panose="020B0503020204020204" charset="-122"/>
                          <a:ea typeface="微软雅黑" panose="020B0503020204020204" charset="-122"/>
                          <a:cs typeface="微软雅黑" panose="020B0503020204020204" charset="-122"/>
                        </a:rPr>
                        <a:t>CP红盟</a:t>
                      </a:r>
                      <a:endParaRPr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r>
                        <a:rPr sz="1000" b="1">
                          <a:solidFill>
                            <a:schemeClr val="tx1"/>
                          </a:solidFill>
                          <a:latin typeface="微软雅黑" panose="020B0503020204020204" charset="-122"/>
                          <a:ea typeface="微软雅黑" panose="020B0503020204020204" charset="-122"/>
                          <a:cs typeface="微软雅黑" panose="020B0503020204020204" charset="-122"/>
                        </a:rPr>
                        <a:t>消费占比</a:t>
                      </a:r>
                      <a:endParaRPr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a:p>
                      <a:pPr algn="ctr">
                        <a:buNone/>
                      </a:pPr>
                      <a:r>
                        <a:rPr lang="zh-CN" altLang="en-US" sz="1000" b="1">
                          <a:solidFill>
                            <a:schemeClr val="tx1"/>
                          </a:solidFill>
                          <a:latin typeface="微软雅黑" panose="020B0503020204020204" charset="-122"/>
                          <a:ea typeface="微软雅黑" panose="020B0503020204020204" charset="-122"/>
                          <a:cs typeface="微软雅黑" panose="020B0503020204020204" charset="-122"/>
                        </a:rPr>
                        <a:t>渗透率投前 → 投后</a:t>
                      </a:r>
                      <a:endParaRPr lang="zh-CN" altLang="en-US" sz="1000" b="1">
                        <a:solidFill>
                          <a:schemeClr val="tx1"/>
                        </a:solidFill>
                        <a:latin typeface="微软雅黑" panose="020B0503020204020204" charset="-122"/>
                        <a:ea typeface="微软雅黑" panose="020B0503020204020204" charset="-122"/>
                        <a:cs typeface="微软雅黑" panose="020B0503020204020204" charset="-122"/>
                      </a:endParaRPr>
                    </a:p>
                  </a:txBody>
                  <a:tcPr marL="47622" marR="38098" marT="0" marB="0"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r>
              <a:tr h="198755">
                <a:tc rowSpan="4">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核心人群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品牌人群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9%</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7.6</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2.17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65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6.92% → 64.98%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98120">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竞品人群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0.5</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31.0</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5.21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26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19.86% → 22.78%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大</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k</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一方人群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56.3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3.42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9230">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品类人群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22.3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6.71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rowSpan="8">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破圈人群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时髦</a:t>
                      </a: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时尚人群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9%</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33.1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16%</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暑期奢旅圈层</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8.8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3.12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229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15%</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26.58% → 32%</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时装周圈层</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0.2</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2.08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184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9%</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9230">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街头采访圈层</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0.2</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10.5</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5.05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781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奢品人群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8%</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16.5</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1.53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44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93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辛芷蕾人群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46.7</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2.75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29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143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18859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轻户外人群</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6.%</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0.6</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107.9</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1.07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27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1222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200025">
                <a:tc vMerge="1">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zh-CN" altLang="en-US" sz="1000" b="0" i="0">
                          <a:solidFill>
                            <a:schemeClr val="tx1"/>
                          </a:solidFill>
                          <a:latin typeface="微软雅黑" panose="020B0503020204020204" charset="-122"/>
                          <a:ea typeface="微软雅黑" panose="020B0503020204020204" charset="-122"/>
                          <a:cs typeface="微软雅黑" panose="020B0503020204020204" charset="-122"/>
                        </a:rPr>
                        <a:t>七夕节点圈层</a:t>
                      </a:r>
                      <a:endParaRPr lang="zh-CN" altLang="en-US"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0.3</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41.5</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9.63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33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31 </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fontAlgn="ctr" latinLnBrk="0">
                        <a:buNone/>
                      </a:pPr>
                      <a:r>
                        <a:rPr lang="en-US" altLang="zh-CN" sz="1000" b="0" i="0">
                          <a:solidFill>
                            <a:schemeClr val="tx1"/>
                          </a:solidFill>
                          <a:latin typeface="微软雅黑" panose="020B0503020204020204" charset="-122"/>
                          <a:ea typeface="微软雅黑" panose="020B0503020204020204" charset="-122"/>
                          <a:cs typeface="微软雅黑" panose="020B0503020204020204" charset="-122"/>
                        </a:rPr>
                        <a:t>12.18% → 12.19%</a:t>
                      </a:r>
                      <a:endParaRPr lang="en-US" altLang="zh-CN" sz="1000" b="0" i="0">
                        <a:solidFill>
                          <a:schemeClr val="tx1"/>
                        </a:solidFill>
                        <a:latin typeface="微软雅黑" panose="020B0503020204020204" charset="-122"/>
                        <a:ea typeface="微软雅黑" panose="020B0503020204020204" charset="-122"/>
                        <a:cs typeface="微软雅黑" panose="020B0503020204020204" charset="-122"/>
                      </a:endParaRPr>
                    </a:p>
                  </a:txBody>
                  <a:tcPr marL="0" marR="0" marT="0" marB="0" anchor="ctr" anchorCtr="0">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bl>
          </a:graphicData>
        </a:graphic>
      </p:graphicFrame>
      <p:sp>
        <p:nvSpPr>
          <p:cNvPr id="16" name="TextBox 1"/>
          <p:cNvSpPr txBox="1"/>
          <p:nvPr/>
        </p:nvSpPr>
        <p:spPr>
          <a:xfrm>
            <a:off x="171717" y="347472"/>
            <a:ext cx="11471338" cy="256086"/>
          </a:xfrm>
          <a:prstGeom prst="rect">
            <a:avLst/>
          </a:prstGeom>
          <a:noFill/>
        </p:spPr>
        <p:txBody>
          <a:bodyPr wrap="square" lIns="0" tIns="0" rIns="0" bIns="0" anchor="t">
            <a:no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03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9</a:t>
            </a:r>
            <a:endParaRPr lang="en-US"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21" name="TextBox 2"/>
          <p:cNvSpPr txBox="1"/>
          <p:nvPr/>
        </p:nvSpPr>
        <p:spPr>
          <a:xfrm>
            <a:off x="171717" y="603504"/>
            <a:ext cx="11471338" cy="412212"/>
          </a:xfrm>
          <a:prstGeom prst="rect">
            <a:avLst/>
          </a:prstGeom>
          <a:noFill/>
        </p:spPr>
        <p:txBody>
          <a:bodyPr wrap="square" lIns="0" tIns="0" rIns="0" bIns="0" anchor="t">
            <a:no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内容 × 人群效率矩阵</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03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10</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内容生命周期：老内容</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沉淀</a:t>
            </a:r>
            <a:r>
              <a:rPr lang="en-US" altLang="zh-CN" sz="2300" b="1" i="0">
                <a:solidFill>
                  <a:srgbClr val="FFFFFF"/>
                </a:solidFill>
                <a:latin typeface="微软雅黑" panose="020B0503020204020204" charset="-122"/>
                <a:ea typeface="微软雅黑" panose="020B0503020204020204" charset="-122"/>
                <a:cs typeface="微软雅黑" panose="020B0503020204020204" charset="-122"/>
              </a:rPr>
              <a:t>TI</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留存，</a:t>
            </a:r>
            <a:r>
              <a:rPr sz="2300" b="1" i="0">
                <a:solidFill>
                  <a:srgbClr val="FFFFFF"/>
                </a:solidFill>
                <a:latin typeface="微软雅黑" panose="020B0503020204020204" charset="-122"/>
                <a:ea typeface="微软雅黑" panose="020B0503020204020204" charset="-122"/>
                <a:cs typeface="微软雅黑" panose="020B0503020204020204" charset="-122"/>
              </a:rPr>
              <a:t>新内容</a:t>
            </a:r>
            <a:r>
              <a:rPr sz="2300" b="1">
                <a:solidFill>
                  <a:srgbClr val="FFFFFF"/>
                </a:solidFill>
                <a:latin typeface="微软雅黑" charset="0"/>
                <a:ea typeface="微软雅黑" charset="0"/>
                <a:cs typeface="微软雅黑" charset="0"/>
              </a:rPr>
              <a:t>引导进店转化</a:t>
            </a:r>
            <a:endParaRPr>
              <a:latin typeface="微软雅黑" charset="0"/>
              <a:ea typeface="微软雅黑" charset="0"/>
              <a:cs typeface="微软雅黑" charset="0"/>
            </a:endParaRPr>
          </a:p>
        </p:txBody>
      </p:sp>
      <p:sp>
        <p:nvSpPr>
          <p:cNvPr id="5" name="Rectangle 4"/>
          <p:cNvSpPr/>
          <p:nvPr/>
        </p:nvSpPr>
        <p:spPr>
          <a:xfrm>
            <a:off x="548640" y="1371600"/>
            <a:ext cx="11094415" cy="141732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Rectangle 5"/>
          <p:cNvSpPr/>
          <p:nvPr/>
        </p:nvSpPr>
        <p:spPr>
          <a:xfrm>
            <a:off x="548640" y="1371600"/>
            <a:ext cx="50292" cy="14173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7" name="TextBox 6"/>
          <p:cNvSpPr txBox="1"/>
          <p:nvPr/>
        </p:nvSpPr>
        <p:spPr>
          <a:xfrm>
            <a:off x="777240" y="1481328"/>
            <a:ext cx="5120640" cy="1188720"/>
          </a:xfrm>
          <a:prstGeom prst="rect">
            <a:avLst/>
          </a:prstGeom>
          <a:noFill/>
        </p:spPr>
        <p:txBody>
          <a:bodyPr wrap="square" lIns="0" tIns="0" rIns="0" bIns="0" anchor="t">
            <a:spAutoFit/>
          </a:bodyPr>
          <a:lstStyle/>
          <a:p>
            <a:pPr algn="l">
              <a:lnSpc>
                <a:spcPct val="122000"/>
              </a:lnSpc>
              <a:spcBef>
                <a:spcPts val="0"/>
              </a:spcBef>
              <a:spcAft>
                <a:spcPts val="600"/>
              </a:spcAft>
            </a:pPr>
            <a:r>
              <a:rPr sz="1300" b="1" i="0">
                <a:solidFill>
                  <a:srgbClr val="FFFFFF"/>
                </a:solidFill>
                <a:latin typeface="微软雅黑" panose="020B0503020204020204" charset="-122"/>
                <a:ea typeface="微软雅黑" panose="020B0503020204020204" charset="-122"/>
                <a:cs typeface="微软雅黑" panose="020B0503020204020204" charset="-122"/>
              </a:rPr>
              <a:t>Q2 老笔记：约 60% 预算 → 贡献约 71% 深种草 TI</a:t>
            </a:r>
            <a:endParaRPr sz="1300" b="1" i="0">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0"/>
              </a:spcAft>
            </a:pPr>
            <a:r>
              <a:rPr sz="950" b="0" i="0">
                <a:solidFill>
                  <a:srgbClr val="A8A8A8"/>
                </a:solidFill>
                <a:latin typeface="微软雅黑" panose="020B0503020204020204" charset="-122"/>
                <a:ea typeface="微软雅黑" panose="020B0503020204020204" charset="-122"/>
                <a:cs typeface="微软雅黑" panose="020B0503020204020204" charset="-122"/>
              </a:rPr>
              <a:t>313,067 元 / 60.27% 消耗，TI 138,705，CPTI 2.26，CPUV 38.83</a:t>
            </a:r>
            <a:endParaRPr sz="95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a:xfrm>
            <a:off x="6263640" y="1481328"/>
            <a:ext cx="5212080" cy="1188720"/>
          </a:xfrm>
          <a:prstGeom prst="rect">
            <a:avLst/>
          </a:prstGeom>
          <a:noFill/>
        </p:spPr>
        <p:txBody>
          <a:bodyPr wrap="square" lIns="0" tIns="0" rIns="0" bIns="0" anchor="t">
            <a:spAutoFit/>
          </a:bodyPr>
          <a:lstStyle/>
          <a:p>
            <a:pPr algn="l">
              <a:lnSpc>
                <a:spcPct val="122000"/>
              </a:lnSpc>
              <a:spcBef>
                <a:spcPts val="0"/>
              </a:spcBef>
              <a:spcAft>
                <a:spcPts val="600"/>
              </a:spcAft>
            </a:pPr>
            <a:r>
              <a:rPr sz="1300" b="1" i="0">
                <a:solidFill>
                  <a:srgbClr val="FFFFFF"/>
                </a:solidFill>
                <a:latin typeface="微软雅黑" panose="020B0503020204020204" charset="-122"/>
                <a:ea typeface="微软雅黑" panose="020B0503020204020204" charset="-122"/>
                <a:cs typeface="微软雅黑" panose="020B0503020204020204" charset="-122"/>
              </a:rPr>
              <a:t>Q3 新笔记：约 40% 消耗 → 贡献 68% 站外 UV</a:t>
            </a:r>
            <a:endParaRPr sz="1300" b="1" i="0">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0"/>
              </a:spcAft>
            </a:pPr>
            <a:r>
              <a:rPr sz="950" b="0" i="0">
                <a:solidFill>
                  <a:srgbClr val="A8A8A8"/>
                </a:solidFill>
                <a:latin typeface="微软雅黑" panose="020B0503020204020204" charset="-122"/>
                <a:ea typeface="微软雅黑" panose="020B0503020204020204" charset="-122"/>
                <a:cs typeface="微软雅黑" panose="020B0503020204020204" charset="-122"/>
              </a:rPr>
              <a:t>206,339 元 / 39.73% 消耗，TI 56,744，CPTI 3.64，UV 2,490，CPUV 76.82</a:t>
            </a:r>
            <a:endParaRPr sz="95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777240" y="2487168"/>
            <a:ext cx="10637215" cy="256032"/>
          </a:xfrm>
          <a:prstGeom prst="rect">
            <a:avLst/>
          </a:prstGeom>
          <a:noFill/>
        </p:spPr>
        <p:txBody>
          <a:bodyPr wrap="square" lIns="0" tIns="0" rIns="0" bIns="0" anchor="t">
            <a:spAutoFit/>
          </a:bodyPr>
          <a:lstStyle/>
          <a:p>
            <a:pPr algn="l">
              <a:lnSpc>
                <a:spcPct val="122000"/>
              </a:lnSpc>
              <a:spcBef>
                <a:spcPts val="0"/>
              </a:spcBef>
              <a:spcAft>
                <a:spcPts val="300"/>
              </a:spcAft>
            </a:pPr>
            <a:r>
              <a:rPr sz="950" b="1" i="0">
                <a:solidFill>
                  <a:srgbClr val="E8B04B"/>
                </a:solidFill>
                <a:latin typeface="微软雅黑" panose="020B0503020204020204" charset="-122"/>
                <a:ea typeface="微软雅黑" panose="020B0503020204020204" charset="-122"/>
                <a:cs typeface="微软雅黑" panose="020B0503020204020204" charset="-122"/>
              </a:rPr>
              <a:t>老笔记 = 种草盘（承担深度种草）｜新笔记 = 增长转化盘（点击意愿强 + 站外转化收割）</a:t>
            </a:r>
            <a:endParaRPr sz="950" b="1" i="0">
              <a:solidFill>
                <a:srgbClr val="E8B04B"/>
              </a:solidFill>
              <a:latin typeface="微软雅黑" panose="020B0503020204020204" charset="-122"/>
              <a:ea typeface="微软雅黑" panose="020B0503020204020204" charset="-122"/>
              <a:cs typeface="微软雅黑" panose="020B0503020204020204" charset="-122"/>
            </a:endParaRPr>
          </a:p>
        </p:txBody>
      </p:sp>
      <p:graphicFrame>
        <p:nvGraphicFramePr>
          <p:cNvPr id="10" name="Table 9"/>
          <p:cNvGraphicFramePr>
            <a:graphicFrameLocks noGrp="1"/>
          </p:cNvGraphicFramePr>
          <p:nvPr/>
        </p:nvGraphicFramePr>
        <p:xfrm>
          <a:off x="548640" y="2907792"/>
          <a:ext cx="11183112" cy="1261872"/>
        </p:xfrm>
        <a:graphic>
          <a:graphicData uri="http://schemas.openxmlformats.org/drawingml/2006/table">
            <a:tbl>
              <a:tblPr/>
              <a:tblGrid>
                <a:gridCol w="1554480"/>
                <a:gridCol w="1234440"/>
                <a:gridCol w="1051560"/>
                <a:gridCol w="1005840"/>
                <a:gridCol w="914400"/>
                <a:gridCol w="1234440"/>
                <a:gridCol w="1097280"/>
                <a:gridCol w="1097280"/>
                <a:gridCol w="987552"/>
                <a:gridCol w="1005840"/>
              </a:tblGrid>
              <a:tr h="329184">
                <a:tc>
                  <a:txBody>
                    <a:bodyPr wrap="square"/>
                    <a:lstStyle/>
                    <a:p>
                      <a:pPr algn="l">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笔记周期</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消耗</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占比</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CTR</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CPC</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TI</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CPTI</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CP 搜组</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UV</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c>
                  <a:txBody>
                    <a:bodyPr wrap="square"/>
                    <a:lstStyle/>
                    <a:p>
                      <a:pPr algn="ctr">
                        <a:lnSpc>
                          <a:spcPct val="112000"/>
                        </a:lnSpc>
                      </a:pPr>
                      <a:r>
                        <a:rPr sz="900" b="1" i="0">
                          <a:solidFill>
                            <a:srgbClr val="FFFFFF"/>
                          </a:solidFill>
                          <a:latin typeface="微软雅黑" panose="020B0503020204020204" charset="-122"/>
                          <a:ea typeface="微软雅黑" panose="020B0503020204020204" charset="-122"/>
                          <a:cs typeface="微软雅黑" panose="020B0503020204020204" charset="-122"/>
                        </a:rPr>
                        <a:t>CPUV</a:t>
                      </a:r>
                      <a:endParaRPr sz="9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A2A2A"/>
                    </a:solidFill>
                  </a:tcPr>
                </a:tc>
              </a:tr>
              <a:tr h="310896">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Q2（5—6 月笔记）</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¥313,067</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60.27%</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9.44%</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¥0.36</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138,705</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2.26</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¥36.82</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1,191</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¥38.83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r h="310896">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Q3（本波新笔记）</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¥206,339</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39.73%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10.33%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¥0.47</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56,744</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3.64</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¥49.93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2,490</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¥76.82</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1C1C1C"/>
                    </a:solidFill>
                  </a:tcPr>
                </a:tc>
              </a:tr>
              <a:tr h="310896">
                <a:tc>
                  <a:txBody>
                    <a:bodyPr wrap="square"/>
                    <a:lstStyle/>
                    <a:p>
                      <a:pPr algn="l">
                        <a:lnSpc>
                          <a:spcPct val="112000"/>
                        </a:lnSpc>
                      </a:pPr>
                      <a:r>
                        <a:rPr sz="900" b="1" i="0">
                          <a:solidFill>
                            <a:srgbClr val="EDEDED"/>
                          </a:solidFill>
                          <a:latin typeface="微软雅黑" panose="020B0503020204020204" charset="-122"/>
                          <a:ea typeface="微软雅黑" panose="020B0503020204020204" charset="-122"/>
                          <a:cs typeface="微软雅黑" panose="020B0503020204020204" charset="-122"/>
                        </a:rPr>
                        <a:t>总计</a:t>
                      </a:r>
                      <a:endParaRPr sz="90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¥519,406</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100%</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9.72%</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¥0.40</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195,449</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2.66</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¥41.14</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3,681</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c>
                  <a:txBody>
                    <a:bodyPr wrap="square"/>
                    <a:lstStyle/>
                    <a:p>
                      <a:pPr algn="ctr">
                        <a:lnSpc>
                          <a:spcPct val="112000"/>
                        </a:lnSpc>
                      </a:pPr>
                      <a:r>
                        <a:rPr sz="900" b="0" i="0">
                          <a:solidFill>
                            <a:srgbClr val="EDEDED"/>
                          </a:solidFill>
                          <a:latin typeface="微软雅黑" panose="020B0503020204020204" charset="-122"/>
                          <a:ea typeface="微软雅黑" panose="020B0503020204020204" charset="-122"/>
                          <a:cs typeface="微软雅黑" panose="020B0503020204020204" charset="-122"/>
                        </a:rPr>
                        <a:t>¥64.53</a:t>
                      </a:r>
                      <a:endParaRPr sz="90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solidFill>
                      <a:srgbClr val="242424"/>
                    </a:solidFill>
                  </a:tcPr>
                </a:tc>
              </a:tr>
            </a:tbl>
          </a:graphicData>
        </a:graphic>
      </p:graphicFrame>
      <p:sp>
        <p:nvSpPr>
          <p:cNvPr id="11" name="TextBox 10"/>
          <p:cNvSpPr txBox="1"/>
          <p:nvPr/>
        </p:nvSpPr>
        <p:spPr>
          <a:xfrm>
            <a:off x="548640" y="4498848"/>
            <a:ext cx="11094415" cy="256032"/>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内容资产循环模型</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2" name="Rectangle 11"/>
          <p:cNvSpPr/>
          <p:nvPr/>
        </p:nvSpPr>
        <p:spPr>
          <a:xfrm>
            <a:off x="548640" y="4773168"/>
            <a:ext cx="3362858" cy="786384"/>
          </a:xfrm>
          <a:prstGeom prst="rect">
            <a:avLst/>
          </a:prstGeom>
          <a:solidFill>
            <a:srgbClr val="242424"/>
          </a:solidFill>
          <a:ln w="15240">
            <a:solidFill>
              <a:srgbClr val="E8B04B"/>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3" name="TextBox 12"/>
          <p:cNvSpPr txBox="1"/>
          <p:nvPr/>
        </p:nvSpPr>
        <p:spPr>
          <a:xfrm>
            <a:off x="694944" y="4882896"/>
            <a:ext cx="3070250" cy="274320"/>
          </a:xfrm>
          <a:prstGeom prst="rect">
            <a:avLst/>
          </a:prstGeom>
          <a:noFill/>
        </p:spPr>
        <p:txBody>
          <a:bodyPr wrap="square" lIns="0" tIns="0" rIns="0" bIns="0" anchor="t">
            <a:spAutoFit/>
          </a:bodyPr>
          <a:lstStyle/>
          <a:p>
            <a:pPr algn="ctr">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① 新内容测试 / 扩圈</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nvSpPr>
        <p:spPr>
          <a:xfrm>
            <a:off x="694944" y="5175504"/>
            <a:ext cx="3070250" cy="329184"/>
          </a:xfrm>
          <a:prstGeom prst="rect">
            <a:avLst/>
          </a:prstGeom>
          <a:noFill/>
        </p:spPr>
        <p:txBody>
          <a:bodyPr wrap="square" lIns="0" tIns="0" rIns="0" bIns="0" anchor="t">
            <a:spAutoFit/>
          </a:bodyPr>
          <a:lstStyle/>
          <a:p>
            <a:pPr algn="ctr">
              <a:lnSpc>
                <a:spcPct val="120000"/>
              </a:lnSpc>
              <a:spcBef>
                <a:spcPts val="0"/>
              </a:spcBef>
              <a:spcAft>
                <a:spcPts val="300"/>
              </a:spcAft>
            </a:pPr>
            <a:r>
              <a:rPr sz="860" b="0" i="0">
                <a:solidFill>
                  <a:srgbClr val="A8A8A8"/>
                </a:solidFill>
                <a:latin typeface="微软雅黑" panose="020B0503020204020204" charset="-122"/>
                <a:ea typeface="微软雅黑" panose="020B0503020204020204" charset="-122"/>
                <a:cs typeface="微软雅黑" panose="020B0503020204020204" charset="-122"/>
              </a:rPr>
              <a:t>承担点击与站外转化，跑 CTR 与 CPUV</a:t>
            </a:r>
            <a:endParaRPr sz="86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4002938" y="4983480"/>
            <a:ext cx="329184" cy="365760"/>
          </a:xfrm>
          <a:prstGeom prst="rect">
            <a:avLst/>
          </a:prstGeom>
          <a:noFill/>
        </p:spPr>
        <p:txBody>
          <a:bodyPr wrap="square" lIns="0" tIns="0" rIns="0" bIns="0" anchor="t">
            <a:spAutoFit/>
          </a:bodyPr>
          <a:lstStyle/>
          <a:p>
            <a:pPr algn="ctr">
              <a:lnSpc>
                <a:spcPct val="122000"/>
              </a:lnSpc>
              <a:spcBef>
                <a:spcPts val="0"/>
              </a:spcBef>
              <a:spcAft>
                <a:spcPts val="300"/>
              </a:spcAft>
            </a:pPr>
            <a:r>
              <a:rPr sz="1200" b="1" i="0">
                <a:solidFill>
                  <a:srgbClr val="E8B04B"/>
                </a:solidFill>
                <a:latin typeface="微软雅黑" panose="020B0503020204020204" charset="-122"/>
                <a:ea typeface="微软雅黑" panose="020B0503020204020204" charset="-122"/>
                <a:cs typeface="微软雅黑" panose="020B0503020204020204" charset="-122"/>
              </a:rPr>
              <a:t>▶</a:t>
            </a:r>
            <a:endParaRPr sz="1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6" name="Rectangle 15"/>
          <p:cNvSpPr/>
          <p:nvPr/>
        </p:nvSpPr>
        <p:spPr>
          <a:xfrm>
            <a:off x="4414418" y="4773168"/>
            <a:ext cx="3362858" cy="786384"/>
          </a:xfrm>
          <a:prstGeom prst="rect">
            <a:avLst/>
          </a:prstGeom>
          <a:solidFill>
            <a:srgbClr val="242424"/>
          </a:solidFill>
          <a:ln w="15240">
            <a:solidFill>
              <a:srgbClr val="E8B04B"/>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7" name="TextBox 16"/>
          <p:cNvSpPr txBox="1"/>
          <p:nvPr/>
        </p:nvSpPr>
        <p:spPr>
          <a:xfrm>
            <a:off x="4560722" y="4882896"/>
            <a:ext cx="3070250" cy="274320"/>
          </a:xfrm>
          <a:prstGeom prst="rect">
            <a:avLst/>
          </a:prstGeom>
          <a:noFill/>
        </p:spPr>
        <p:txBody>
          <a:bodyPr wrap="square" lIns="0" tIns="0" rIns="0" bIns="0" anchor="t">
            <a:spAutoFit/>
          </a:bodyPr>
          <a:lstStyle/>
          <a:p>
            <a:pPr algn="ctr">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② 优质内容进入资产池</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4560722" y="5175504"/>
            <a:ext cx="3070250" cy="329184"/>
          </a:xfrm>
          <a:prstGeom prst="rect">
            <a:avLst/>
          </a:prstGeom>
          <a:noFill/>
        </p:spPr>
        <p:txBody>
          <a:bodyPr wrap="square" lIns="0" tIns="0" rIns="0" bIns="0" anchor="t">
            <a:spAutoFit/>
          </a:bodyPr>
          <a:lstStyle/>
          <a:p>
            <a:pPr algn="ctr">
              <a:lnSpc>
                <a:spcPct val="120000"/>
              </a:lnSpc>
              <a:spcBef>
                <a:spcPts val="0"/>
              </a:spcBef>
              <a:spcAft>
                <a:spcPts val="300"/>
              </a:spcAft>
            </a:pPr>
            <a:r>
              <a:rPr sz="860" b="0" i="0">
                <a:solidFill>
                  <a:srgbClr val="A8A8A8"/>
                </a:solidFill>
                <a:latin typeface="微软雅黑" panose="020B0503020204020204" charset="-122"/>
                <a:ea typeface="微软雅黑" panose="020B0503020204020204" charset="-122"/>
                <a:cs typeface="微软雅黑" panose="020B0503020204020204" charset="-122"/>
              </a:rPr>
              <a:t>验证双优的笔记沉淀为可复用资产</a:t>
            </a:r>
            <a:endParaRPr sz="86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7868716" y="4983480"/>
            <a:ext cx="329184" cy="365760"/>
          </a:xfrm>
          <a:prstGeom prst="rect">
            <a:avLst/>
          </a:prstGeom>
          <a:noFill/>
        </p:spPr>
        <p:txBody>
          <a:bodyPr wrap="square" lIns="0" tIns="0" rIns="0" bIns="0" anchor="t">
            <a:spAutoFit/>
          </a:bodyPr>
          <a:lstStyle/>
          <a:p>
            <a:pPr algn="ctr">
              <a:lnSpc>
                <a:spcPct val="122000"/>
              </a:lnSpc>
              <a:spcBef>
                <a:spcPts val="0"/>
              </a:spcBef>
              <a:spcAft>
                <a:spcPts val="300"/>
              </a:spcAft>
            </a:pPr>
            <a:r>
              <a:rPr sz="1200" b="1" i="0">
                <a:solidFill>
                  <a:srgbClr val="E8B04B"/>
                </a:solidFill>
                <a:latin typeface="微软雅黑" panose="020B0503020204020204" charset="-122"/>
                <a:ea typeface="微软雅黑" panose="020B0503020204020204" charset="-122"/>
                <a:cs typeface="微软雅黑" panose="020B0503020204020204" charset="-122"/>
              </a:rPr>
              <a:t>▶</a:t>
            </a:r>
            <a:endParaRPr sz="1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20" name="Rectangle 19"/>
          <p:cNvSpPr/>
          <p:nvPr/>
        </p:nvSpPr>
        <p:spPr>
          <a:xfrm>
            <a:off x="8280196" y="4773168"/>
            <a:ext cx="3362858" cy="786384"/>
          </a:xfrm>
          <a:prstGeom prst="rect">
            <a:avLst/>
          </a:prstGeom>
          <a:solidFill>
            <a:srgbClr val="242424"/>
          </a:solidFill>
          <a:ln w="15240">
            <a:solidFill>
              <a:srgbClr val="E8B04B"/>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1" name="TextBox 20"/>
          <p:cNvSpPr txBox="1"/>
          <p:nvPr/>
        </p:nvSpPr>
        <p:spPr>
          <a:xfrm>
            <a:off x="8426500" y="4882896"/>
            <a:ext cx="3070250" cy="274320"/>
          </a:xfrm>
          <a:prstGeom prst="rect">
            <a:avLst/>
          </a:prstGeom>
          <a:noFill/>
        </p:spPr>
        <p:txBody>
          <a:bodyPr wrap="square" lIns="0" tIns="0" rIns="0" bIns="0" anchor="t">
            <a:spAutoFit/>
          </a:bodyPr>
          <a:lstStyle/>
          <a:p>
            <a:pPr algn="ctr">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③ 老内容持续复投 / 搜索承接</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TextBox 21"/>
          <p:cNvSpPr txBox="1"/>
          <p:nvPr/>
        </p:nvSpPr>
        <p:spPr>
          <a:xfrm>
            <a:off x="8426500" y="5175504"/>
            <a:ext cx="3070250" cy="329184"/>
          </a:xfrm>
          <a:prstGeom prst="rect">
            <a:avLst/>
          </a:prstGeom>
          <a:noFill/>
        </p:spPr>
        <p:txBody>
          <a:bodyPr wrap="square" lIns="0" tIns="0" rIns="0" bIns="0" anchor="t">
            <a:spAutoFit/>
          </a:bodyPr>
          <a:lstStyle/>
          <a:p>
            <a:pPr algn="ctr">
              <a:lnSpc>
                <a:spcPct val="120000"/>
              </a:lnSpc>
              <a:spcBef>
                <a:spcPts val="0"/>
              </a:spcBef>
              <a:spcAft>
                <a:spcPts val="300"/>
              </a:spcAft>
            </a:pPr>
            <a:r>
              <a:rPr sz="860" b="0" i="0">
                <a:solidFill>
                  <a:srgbClr val="A8A8A8"/>
                </a:solidFill>
                <a:latin typeface="微软雅黑" panose="020B0503020204020204" charset="-122"/>
                <a:ea typeface="微软雅黑" panose="020B0503020204020204" charset="-122"/>
                <a:cs typeface="微软雅黑" panose="020B0503020204020204" charset="-122"/>
              </a:rPr>
              <a:t>承担深度种草与搜索卡位，CPTI 最优</a:t>
            </a:r>
            <a:endParaRPr sz="86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23" name="Rectangle 22"/>
          <p:cNvSpPr/>
          <p:nvPr/>
        </p:nvSpPr>
        <p:spPr>
          <a:xfrm>
            <a:off x="548640" y="5650992"/>
            <a:ext cx="5446623" cy="768096"/>
          </a:xfrm>
          <a:prstGeom prst="rect">
            <a:avLst/>
          </a:prstGeom>
          <a:solidFill>
            <a:srgbClr val="2B241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4" name="Rectangle 23"/>
          <p:cNvSpPr/>
          <p:nvPr/>
        </p:nvSpPr>
        <p:spPr>
          <a:xfrm>
            <a:off x="548640" y="5650992"/>
            <a:ext cx="45720" cy="76809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5" name="TextBox 24"/>
          <p:cNvSpPr txBox="1"/>
          <p:nvPr/>
        </p:nvSpPr>
        <p:spPr>
          <a:xfrm>
            <a:off x="731520" y="5759069"/>
            <a:ext cx="5117439" cy="570230"/>
          </a:xfrm>
          <a:prstGeom prst="rect">
            <a:avLst/>
          </a:prstGeom>
          <a:noFill/>
        </p:spPr>
        <p:txBody>
          <a:bodyPr wrap="square" lIns="0" tIns="0" rIns="0" bIns="0" anchor="ctr">
            <a:spAutoFit/>
          </a:bodyPr>
          <a:lstStyle/>
          <a:p>
            <a:pPr algn="l">
              <a:lnSpc>
                <a:spcPct val="120000"/>
              </a:lnSpc>
              <a:spcBef>
                <a:spcPts val="0"/>
              </a:spcBef>
              <a:spcAft>
                <a:spcPts val="300"/>
              </a:spcAft>
            </a:pPr>
            <a:r>
              <a:rPr sz="850" b="1" i="0">
                <a:solidFill>
                  <a:srgbClr val="E8B04B"/>
                </a:solidFill>
                <a:latin typeface="微软雅黑" panose="020B0503020204020204" charset="-122"/>
                <a:ea typeface="微软雅黑" panose="020B0503020204020204" charset="-122"/>
                <a:cs typeface="微软雅黑" panose="020B0503020204020204" charset="-122"/>
              </a:rPr>
              <a:t>LEARNING</a:t>
            </a:r>
            <a:endParaRPr sz="85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黑山内容存在明确的生命周期分工：老笔记 CPTI 2.26 显著优于新笔记 3.64，以 60.27% 消耗承担 71% 深种草 TI；新笔记以 39.73% 消耗贡献 68% 站外 UV，承担点击与站外转化</a:t>
            </a:r>
            <a:r>
              <a:rPr lang="zh-CN" sz="950" b="0" i="0">
                <a:solidFill>
                  <a:srgbClr val="D8D8D8"/>
                </a:solidFill>
                <a:latin typeface="微软雅黑" panose="020B0503020204020204" charset="-122"/>
                <a:ea typeface="微软雅黑" panose="020B0503020204020204" charset="-122"/>
                <a:cs typeface="微软雅黑" panose="020B0503020204020204" charset="-122"/>
              </a:rPr>
              <a:t>。</a:t>
            </a:r>
            <a:endParaRPr lang="zh-CN"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6" name="Rectangle 25"/>
          <p:cNvSpPr/>
          <p:nvPr/>
        </p:nvSpPr>
        <p:spPr>
          <a:xfrm>
            <a:off x="6196431" y="5650992"/>
            <a:ext cx="5446623" cy="76809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7" name="Rectangle 26"/>
          <p:cNvSpPr/>
          <p:nvPr/>
        </p:nvSpPr>
        <p:spPr>
          <a:xfrm>
            <a:off x="6196431" y="5650992"/>
            <a:ext cx="45720" cy="768096"/>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8" name="TextBox 27"/>
          <p:cNvSpPr txBox="1"/>
          <p:nvPr/>
        </p:nvSpPr>
        <p:spPr>
          <a:xfrm>
            <a:off x="6379311" y="5733288"/>
            <a:ext cx="5117439" cy="621792"/>
          </a:xfrm>
          <a:prstGeom prst="rect">
            <a:avLst/>
          </a:prstGeom>
          <a:noFill/>
        </p:spPr>
        <p:txBody>
          <a:bodyPr wrap="square" lIns="0" tIns="0" rIns="0" bIns="0" anchor="ctr">
            <a:spAutoFit/>
          </a:bodyPr>
          <a:lstStyle/>
          <a:p>
            <a:pPr algn="l">
              <a:lnSpc>
                <a:spcPct val="120000"/>
              </a:lnSpc>
              <a:spcBef>
                <a:spcPts val="0"/>
              </a:spcBef>
              <a:spcAft>
                <a:spcPts val="300"/>
              </a:spcAft>
            </a:pPr>
            <a:r>
              <a:rPr sz="850" b="1" i="0">
                <a:solidFill>
                  <a:srgbClr val="FFFFFF"/>
                </a:solidFill>
                <a:latin typeface="微软雅黑" panose="020B0503020204020204" charset="-122"/>
                <a:ea typeface="微软雅黑" panose="020B0503020204020204" charset="-122"/>
                <a:cs typeface="微软雅黑" panose="020B0503020204020204" charset="-122"/>
              </a:rPr>
              <a:t>NEXT STEP</a:t>
            </a:r>
            <a:endParaRPr sz="850" b="1" i="0">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120000"/>
              </a:lnSpc>
              <a:spcBef>
                <a:spcPts val="200"/>
              </a:spcBef>
              <a:spcAft>
                <a:spcPts val="0"/>
              </a:spcAft>
            </a:pPr>
            <a:r>
              <a:rPr sz="950" b="0" i="0">
                <a:solidFill>
                  <a:srgbClr val="D8D8D8"/>
                </a:solidFill>
                <a:latin typeface="微软雅黑" panose="020B0503020204020204" charset="-122"/>
                <a:ea typeface="微软雅黑" panose="020B0503020204020204" charset="-122"/>
                <a:cs typeface="微软雅黑" panose="020B0503020204020204" charset="-122"/>
              </a:rPr>
              <a:t>新笔记留 2—4 周回溯窗口再淘汰；Q4 复投池保留 55—60% 预算给已验证的优质老笔记；站外转化预算向真实场景内容倾斜（时尚跑者 CPUV 27.62、UGC 晒鞋 40.96）。</a:t>
            </a:r>
            <a:endParaRPr sz="95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9" name="Rectangle 28"/>
          <p:cNvSpPr/>
          <p:nvPr/>
        </p:nvSpPr>
        <p:spPr>
          <a:xfrm>
            <a:off x="548640" y="6510528"/>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548640" y="2761488"/>
            <a:ext cx="82296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548640" y="1874519"/>
            <a:ext cx="9144000" cy="548640"/>
          </a:xfrm>
          <a:prstGeom prst="rect">
            <a:avLst/>
          </a:prstGeom>
          <a:noFill/>
        </p:spPr>
        <p:txBody>
          <a:bodyPr wrap="square" lIns="0" tIns="0" rIns="0" bIns="0" anchor="t">
            <a:spAutoFit/>
          </a:bodyPr>
          <a:lstStyle/>
          <a:p>
            <a:pPr algn="l">
              <a:lnSpc>
                <a:spcPct val="122000"/>
              </a:lnSpc>
              <a:spcBef>
                <a:spcPts val="0"/>
              </a:spcBef>
              <a:spcAft>
                <a:spcPts val="300"/>
              </a:spcAft>
            </a:pPr>
            <a:r>
              <a:rPr sz="4200" b="1" i="0">
                <a:solidFill>
                  <a:srgbClr val="E8B04B"/>
                </a:solidFill>
                <a:latin typeface="微软雅黑" panose="020B0503020204020204" charset="-122"/>
                <a:ea typeface="微软雅黑" panose="020B0503020204020204" charset="-122"/>
                <a:cs typeface="微软雅黑" panose="020B0503020204020204" charset="-122"/>
              </a:rPr>
              <a:t>PART 04</a:t>
            </a:r>
            <a:endParaRPr sz="4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548640" y="2971800"/>
            <a:ext cx="10515600" cy="506095"/>
          </a:xfrm>
          <a:prstGeom prst="rect">
            <a:avLst/>
          </a:prstGeom>
          <a:noFill/>
        </p:spPr>
        <p:txBody>
          <a:bodyPr wrap="square" lIns="0" tIns="0" rIns="0" bIns="0" anchor="t">
            <a:spAutoFit/>
          </a:bodyPr>
          <a:lstStyle/>
          <a:p>
            <a:pPr algn="l">
              <a:lnSpc>
                <a:spcPct val="122000"/>
              </a:lnSpc>
              <a:spcBef>
                <a:spcPts val="0"/>
              </a:spcBef>
              <a:spcAft>
                <a:spcPts val="300"/>
              </a:spcAft>
            </a:pPr>
            <a:r>
              <a:rPr lang="zh-CN" altLang="en-US" sz="2700" b="1">
                <a:solidFill>
                  <a:srgbClr val="FFFFFF"/>
                </a:solidFill>
                <a:latin typeface="微软雅黑" charset="0"/>
                <a:ea typeface="微软雅黑" charset="0"/>
                <a:cs typeface="微软雅黑" charset="0"/>
              </a:rPr>
              <a:t>用户</a:t>
            </a:r>
            <a:r>
              <a:rPr sz="2700" b="1">
                <a:solidFill>
                  <a:srgbClr val="FFFFFF"/>
                </a:solidFill>
                <a:latin typeface="微软雅黑" charset="0"/>
                <a:ea typeface="微软雅黑" charset="0"/>
                <a:cs typeface="微软雅黑" charset="0"/>
              </a:rPr>
              <a:t>搜索行为洞察</a:t>
            </a:r>
            <a:endParaRPr>
              <a:latin typeface="微软雅黑" charset="0"/>
              <a:ea typeface="微软雅黑" charset="0"/>
              <a:cs typeface="微软雅黑"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502958" y="5430365"/>
            <a:ext cx="11384256" cy="768096"/>
          </a:xfrm>
          <a:prstGeom prst="rect">
            <a:avLst/>
          </a:prstGeom>
          <a:solidFill>
            <a:srgbClr val="2B241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4" name="Rectangle 23"/>
          <p:cNvSpPr/>
          <p:nvPr/>
        </p:nvSpPr>
        <p:spPr>
          <a:xfrm>
            <a:off x="457176" y="5430365"/>
            <a:ext cx="45720" cy="76809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5" name="矩形 14"/>
          <p:cNvSpPr/>
          <p:nvPr/>
        </p:nvSpPr>
        <p:spPr>
          <a:xfrm>
            <a:off x="6431280" y="908050"/>
            <a:ext cx="5539105" cy="4013200"/>
          </a:xfrm>
          <a:prstGeom prst="rect">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440103" y="5430387"/>
            <a:ext cx="11447115" cy="655237"/>
          </a:xfrm>
          <a:prstGeom prst="rect">
            <a:avLst/>
          </a:prstGeom>
          <a:noFill/>
        </p:spPr>
        <p:txBody>
          <a:bodyPr wrap="square" rtlCol="0" anchor="t">
            <a:noAutofit/>
          </a:bodyPr>
          <a:p>
            <a:pPr indent="0">
              <a:lnSpc>
                <a:spcPct val="120000"/>
              </a:lnSpc>
              <a:buFont typeface="Arial" panose="020B0604020202020204" pitchFamily="34" charset="0"/>
              <a:buNone/>
            </a:pPr>
            <a:r>
              <a:rPr lang="zh-CN" altLang="en-US" sz="1600" b="1"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搜索指数随内容发布与投放放量持续爬坡</a:t>
            </a:r>
            <a:r>
              <a:rPr lang="zh-CN" altLang="en-US"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（7 月日均约 950 → 9 月峰值破 2200）</a:t>
            </a:r>
            <a:br>
              <a:rPr lang="zh-CN" altLang="en-US" sz="1600" noProof="0" dirty="0">
                <a:ln>
                  <a:noFill/>
                </a:ln>
                <a:solidFill>
                  <a:schemeClr val="tx1"/>
                </a:solidFill>
                <a:effectLst/>
                <a:uLnTx/>
                <a:uFillTx/>
                <a:latin typeface="微软雅黑" charset="0"/>
                <a:ea typeface="微软雅黑" charset="0"/>
                <a:cs typeface="微软雅黑" charset="0"/>
                <a:sym typeface="+mn-ea"/>
              </a:rPr>
            </a:br>
            <a:r>
              <a:rPr lang="zh-CN" altLang="en-US"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前期偏弱主因预算倾斜站外 / </a:t>
            </a:r>
            <a:r>
              <a:rPr lang="en-US" altLang="zh-CN"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TI </a:t>
            </a:r>
            <a:r>
              <a:rPr lang="zh-CN" altLang="en-US"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测试，下一步将搜索预算占比从 27% 提至 45%、低 </a:t>
            </a:r>
            <a:r>
              <a:rPr lang="en-US" altLang="zh-CN"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cp </a:t>
            </a:r>
            <a:r>
              <a:rPr lang="zh-CN" altLang="en-US"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rPr>
              <a:t>搜组优质笔记单独放量</a:t>
            </a:r>
            <a:endParaRPr lang="zh-CN" altLang="en-US" sz="1600" noProof="0" dirty="0">
              <a:ln>
                <a:noFill/>
              </a:ln>
              <a:solidFill>
                <a:schemeClr val="tx1"/>
              </a:solidFill>
              <a:effectLst/>
              <a:uLnTx/>
              <a:uFillTx/>
              <a:latin typeface="微软雅黑" panose="020B0503020204020204" charset="-122"/>
              <a:ea typeface="微软雅黑" panose="020B0503020204020204" charset="-122"/>
              <a:cs typeface="微软雅黑" panose="020B0503020204020204" charset="-122"/>
              <a:sym typeface="+mn-ea"/>
            </a:endParaRPr>
          </a:p>
        </p:txBody>
      </p:sp>
      <p:graphicFrame>
        <p:nvGraphicFramePr>
          <p:cNvPr id="7" name="图表 6"/>
          <p:cNvGraphicFramePr/>
          <p:nvPr/>
        </p:nvGraphicFramePr>
        <p:xfrm>
          <a:off x="485775" y="1050925"/>
          <a:ext cx="5946140" cy="401383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8" name="图表 17"/>
          <p:cNvGraphicFramePr/>
          <p:nvPr/>
        </p:nvGraphicFramePr>
        <p:xfrm>
          <a:off x="6490970" y="1051560"/>
          <a:ext cx="5441950" cy="4012565"/>
        </p:xfrm>
        <a:graphic>
          <a:graphicData uri="http://schemas.openxmlformats.org/drawingml/2006/chart">
            <c:chart xmlns:c="http://schemas.openxmlformats.org/drawingml/2006/chart" xmlns:r="http://schemas.openxmlformats.org/officeDocument/2006/relationships" r:id="rId2"/>
          </a:graphicData>
        </a:graphic>
      </p:graphicFrame>
      <p:sp>
        <p:nvSpPr>
          <p:cNvPr id="19" name="圆角矩形 18"/>
          <p:cNvSpPr/>
          <p:nvPr/>
        </p:nvSpPr>
        <p:spPr>
          <a:xfrm>
            <a:off x="4629150" y="2747010"/>
            <a:ext cx="1156970" cy="393065"/>
          </a:xfrm>
          <a:prstGeom prst="roundRect">
            <a:avLst/>
          </a:prstGeom>
          <a:solidFill>
            <a:schemeClr val="tx2">
              <a:lumMod val="75000"/>
              <a:lumOff val="2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600">
                <a:latin typeface="微软雅黑" panose="020B0503020204020204" charset="-122"/>
                <a:ea typeface="微软雅黑" panose="020B0503020204020204" charset="-122"/>
                <a:cs typeface="微软雅黑" panose="020B0503020204020204" charset="-122"/>
              </a:rPr>
              <a:t>8.30-9.1</a:t>
            </a:r>
            <a:br>
              <a:rPr lang="en-US" sz="600">
                <a:latin typeface="微软雅黑" panose="020B0503020204020204" charset="-122"/>
                <a:ea typeface="微软雅黑" panose="020B0503020204020204" charset="-122"/>
                <a:cs typeface="微软雅黑" panose="020B0503020204020204" charset="-122"/>
              </a:rPr>
            </a:br>
            <a:r>
              <a:rPr lang="en-US" sz="600">
                <a:latin typeface="微软雅黑" panose="020B0503020204020204" charset="-122"/>
                <a:ea typeface="微软雅黑" panose="020B0503020204020204" charset="-122"/>
                <a:cs typeface="微软雅黑" panose="020B0503020204020204" charset="-122"/>
              </a:rPr>
              <a:t>k</a:t>
            </a:r>
            <a:r>
              <a:rPr lang="zh-CN" altLang="en-US" sz="600">
                <a:latin typeface="微软雅黑" panose="020B0503020204020204" charset="-122"/>
                <a:ea typeface="微软雅黑" panose="020B0503020204020204" charset="-122"/>
                <a:cs typeface="微软雅黑" panose="020B0503020204020204" charset="-122"/>
              </a:rPr>
              <a:t>端笔记发布</a:t>
            </a:r>
            <a:r>
              <a:rPr lang="en-US" altLang="zh-CN" sz="600">
                <a:latin typeface="微软雅黑" panose="020B0503020204020204" charset="-122"/>
                <a:ea typeface="微软雅黑" panose="020B0503020204020204" charset="-122"/>
                <a:cs typeface="微软雅黑" panose="020B0503020204020204" charset="-122"/>
              </a:rPr>
              <a:t>10</a:t>
            </a:r>
            <a:r>
              <a:rPr lang="zh-CN" altLang="en-US" sz="600">
                <a:latin typeface="微软雅黑" panose="020B0503020204020204" charset="-122"/>
                <a:ea typeface="微软雅黑" panose="020B0503020204020204" charset="-122"/>
                <a:cs typeface="微软雅黑" panose="020B0503020204020204" charset="-122"/>
              </a:rPr>
              <a:t>条，站内笔记片数</a:t>
            </a:r>
            <a:r>
              <a:rPr lang="zh-CN" altLang="en-US" sz="600">
                <a:latin typeface="微软雅黑" panose="020B0503020204020204" charset="-122"/>
                <a:ea typeface="微软雅黑" panose="020B0503020204020204" charset="-122"/>
                <a:cs typeface="微软雅黑" panose="020B0503020204020204" charset="-122"/>
              </a:rPr>
              <a:t>增加，搜索指数</a:t>
            </a:r>
            <a:r>
              <a:rPr lang="zh-CN" altLang="en-US" sz="600">
                <a:latin typeface="微软雅黑" panose="020B0503020204020204" charset="-122"/>
                <a:ea typeface="微软雅黑" panose="020B0503020204020204" charset="-122"/>
                <a:cs typeface="微软雅黑" panose="020B0503020204020204" charset="-122"/>
              </a:rPr>
              <a:t>上涨；</a:t>
            </a:r>
            <a:endParaRPr lang="zh-CN" altLang="en-US" sz="600">
              <a:latin typeface="微软雅黑" panose="020B0503020204020204" charset="-122"/>
              <a:ea typeface="微软雅黑" panose="020B0503020204020204" charset="-122"/>
              <a:cs typeface="微软雅黑" panose="020B0503020204020204" charset="-122"/>
            </a:endParaRPr>
          </a:p>
        </p:txBody>
      </p:sp>
      <p:sp>
        <p:nvSpPr>
          <p:cNvPr id="20" name="圆角矩形 19"/>
          <p:cNvSpPr/>
          <p:nvPr/>
        </p:nvSpPr>
        <p:spPr>
          <a:xfrm>
            <a:off x="1729740" y="2750185"/>
            <a:ext cx="1083310" cy="390525"/>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sz="700">
                <a:latin typeface="微软雅黑" panose="020B0503020204020204" charset="-122"/>
                <a:ea typeface="微软雅黑" panose="020B0503020204020204" charset="-122"/>
                <a:cs typeface="微软雅黑" panose="020B0503020204020204" charset="-122"/>
              </a:rPr>
              <a:t>7</a:t>
            </a:r>
            <a:r>
              <a:rPr lang="zh-CN" altLang="en-US" sz="700">
                <a:latin typeface="微软雅黑" panose="020B0503020204020204" charset="-122"/>
                <a:ea typeface="微软雅黑" panose="020B0503020204020204" charset="-122"/>
                <a:cs typeface="微软雅黑" panose="020B0503020204020204" charset="-122"/>
              </a:rPr>
              <a:t>月底</a:t>
            </a:r>
            <a:r>
              <a:rPr lang="en-US" altLang="zh-CN" sz="700">
                <a:latin typeface="微软雅黑" panose="020B0503020204020204" charset="-122"/>
                <a:ea typeface="微软雅黑" panose="020B0503020204020204" charset="-122"/>
                <a:cs typeface="微软雅黑" panose="020B0503020204020204" charset="-122"/>
              </a:rPr>
              <a:t>cpti</a:t>
            </a:r>
            <a:r>
              <a:rPr lang="zh-CN" altLang="en-US" sz="700">
                <a:latin typeface="微软雅黑" panose="020B0503020204020204" charset="-122"/>
                <a:ea typeface="微软雅黑" panose="020B0503020204020204" charset="-122"/>
                <a:cs typeface="微软雅黑" panose="020B0503020204020204" charset="-122"/>
              </a:rPr>
              <a:t>、</a:t>
            </a:r>
            <a:r>
              <a:rPr lang="en-US" altLang="zh-CN" sz="700">
                <a:latin typeface="微软雅黑" panose="020B0503020204020204" charset="-122"/>
                <a:ea typeface="微软雅黑" panose="020B0503020204020204" charset="-122"/>
                <a:cs typeface="微软雅黑" panose="020B0503020204020204" charset="-122"/>
              </a:rPr>
              <a:t>cps</a:t>
            </a:r>
            <a:r>
              <a:rPr lang="zh-CN" altLang="en-US" sz="700">
                <a:latin typeface="微软雅黑" panose="020B0503020204020204" charset="-122"/>
                <a:ea typeface="微软雅黑" panose="020B0503020204020204" charset="-122"/>
                <a:cs typeface="微软雅黑" panose="020B0503020204020204" charset="-122"/>
              </a:rPr>
              <a:t>优质，账户保持放量，搜索指数小幅度上涨</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3"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a:t>
            </a:r>
            <a:r>
              <a:rPr lang="en-US" sz="1050" b="1" i="0">
                <a:solidFill>
                  <a:srgbClr val="E8B04B"/>
                </a:solidFill>
                <a:latin typeface="微软雅黑" panose="020B0503020204020204" charset="-122"/>
                <a:ea typeface="微软雅黑" panose="020B0503020204020204" charset="-122"/>
                <a:cs typeface="微软雅黑" panose="020B0503020204020204" charset="-122"/>
              </a:rPr>
              <a:t>4</a:t>
            </a:r>
            <a:r>
              <a:rPr sz="1050" b="1" i="0">
                <a:solidFill>
                  <a:srgbClr val="E8B04B"/>
                </a:solidFill>
                <a:latin typeface="微软雅黑" panose="020B0503020204020204" charset="-122"/>
                <a:ea typeface="微软雅黑" panose="020B0503020204020204" charset="-122"/>
                <a:cs typeface="微软雅黑" panose="020B0503020204020204" charset="-122"/>
              </a:rPr>
              <a:t>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12</a:t>
            </a:r>
            <a:endParaRPr lang="en-US"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4" name="TextBox 2"/>
          <p:cNvSpPr txBox="1"/>
          <p:nvPr/>
        </p:nvSpPr>
        <p:spPr>
          <a:xfrm>
            <a:off x="548640" y="603504"/>
            <a:ext cx="11094415" cy="35369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1" lang="zh-CN" altLang="en-US" sz="2300" b="1" spc="30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rPr>
              <a:t>搜索趋势回顾</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04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13</a:t>
            </a:r>
            <a:endParaRPr lang="en-US"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搜索行为洞察：</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品牌词防守</a:t>
            </a:r>
            <a:r>
              <a:rPr lang="en-US" altLang="zh-CN" sz="2300" b="1" i="0">
                <a:solidFill>
                  <a:srgbClr val="FFFFFF"/>
                </a:solidFill>
                <a:latin typeface="微软雅黑" panose="020B0503020204020204" charset="-122"/>
                <a:ea typeface="微软雅黑" panose="020B0503020204020204" charset="-122"/>
                <a:cs typeface="微软雅黑" panose="020B0503020204020204" charset="-122"/>
              </a:rPr>
              <a:t>TOP1</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，品类场景词截流促转化</a:t>
            </a:r>
            <a:endParaRPr sz="2300" b="1" i="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Rectangle 4"/>
          <p:cNvSpPr/>
          <p:nvPr/>
        </p:nvSpPr>
        <p:spPr>
          <a:xfrm>
            <a:off x="548640" y="1389888"/>
            <a:ext cx="11094415" cy="749808"/>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TextBox 5"/>
          <p:cNvSpPr txBox="1"/>
          <p:nvPr/>
        </p:nvSpPr>
        <p:spPr>
          <a:xfrm>
            <a:off x="804672" y="1499616"/>
            <a:ext cx="4754880" cy="548640"/>
          </a:xfrm>
          <a:prstGeom prst="rect">
            <a:avLst/>
          </a:prstGeom>
          <a:noFill/>
        </p:spPr>
        <p:txBody>
          <a:bodyPr wrap="square" lIns="0" tIns="0" rIns="0" bIns="0" anchor="t">
            <a:spAutoFit/>
          </a:bodyPr>
          <a:lstStyle/>
          <a:p>
            <a:pPr algn="l">
              <a:lnSpc>
                <a:spcPct val="122000"/>
              </a:lnSpc>
              <a:spcBef>
                <a:spcPts val="0"/>
              </a:spcBef>
              <a:spcAft>
                <a:spcPts val="200"/>
              </a:spcAft>
            </a:pPr>
            <a:r>
              <a:rPr sz="1500" b="1" i="0">
                <a:solidFill>
                  <a:srgbClr val="FFFFFF"/>
                </a:solidFill>
                <a:latin typeface="微软雅黑" panose="020B0503020204020204" charset="-122"/>
                <a:ea typeface="微软雅黑" panose="020B0503020204020204" charset="-122"/>
                <a:cs typeface="微软雅黑" panose="020B0503020204020204" charset="-122"/>
              </a:rPr>
              <a:t>8.25 万+  黑山相关搜索指数</a:t>
            </a:r>
            <a:endParaRPr sz="1500" b="1" i="0">
              <a:solidFill>
                <a:srgbClr val="FFFFFF"/>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0"/>
              </a:spcAft>
            </a:pPr>
            <a:r>
              <a:rPr sz="900" b="0" i="0">
                <a:solidFill>
                  <a:srgbClr val="B0B0B0"/>
                </a:solidFill>
                <a:latin typeface="微软雅黑" panose="020B0503020204020204" charset="-122"/>
                <a:ea typeface="微软雅黑" panose="020B0503020204020204" charset="-122"/>
                <a:cs typeface="微软雅黑" panose="020B0503020204020204" charset="-122"/>
              </a:rPr>
              <a:t>FUGA 黑山词包 · 单词 3.4 万+</a:t>
            </a:r>
            <a:endParaRPr sz="900" b="0" i="0">
              <a:solidFill>
                <a:srgbClr val="B0B0B0"/>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5669279" y="1499616"/>
            <a:ext cx="2743200" cy="548640"/>
          </a:xfrm>
          <a:prstGeom prst="rect">
            <a:avLst/>
          </a:prstGeom>
          <a:noFill/>
        </p:spPr>
        <p:txBody>
          <a:bodyPr wrap="square" lIns="0" tIns="0" rIns="0" bIns="0" anchor="t">
            <a:spAutoFit/>
          </a:bodyPr>
          <a:lstStyle/>
          <a:p>
            <a:pPr algn="l">
              <a:lnSpc>
                <a:spcPct val="122000"/>
              </a:lnSpc>
              <a:spcBef>
                <a:spcPts val="0"/>
              </a:spcBef>
              <a:spcAft>
                <a:spcPts val="200"/>
              </a:spcAft>
            </a:pPr>
            <a:r>
              <a:rPr sz="1500" b="1" i="0">
                <a:solidFill>
                  <a:srgbClr val="E8B04B"/>
                </a:solidFill>
                <a:latin typeface="微软雅黑" panose="020B0503020204020204" charset="-122"/>
                <a:ea typeface="微软雅黑" panose="020B0503020204020204" charset="-122"/>
                <a:cs typeface="微软雅黑" panose="020B0503020204020204" charset="-122"/>
              </a:rPr>
              <a:t>环比 +88.35%</a:t>
            </a:r>
            <a:endParaRPr sz="150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0"/>
              </a:spcAft>
            </a:pPr>
            <a:r>
              <a:rPr sz="900" b="0" i="0">
                <a:solidFill>
                  <a:srgbClr val="B0B0B0"/>
                </a:solidFill>
                <a:latin typeface="微软雅黑" panose="020B0503020204020204" charset="-122"/>
                <a:ea typeface="微软雅黑" panose="020B0503020204020204" charset="-122"/>
                <a:cs typeface="微软雅黑" panose="020B0503020204020204" charset="-122"/>
              </a:rPr>
              <a:t>Q2 43,808 → Q3 82,512</a:t>
            </a:r>
            <a:endParaRPr sz="900" b="0" i="0">
              <a:solidFill>
                <a:srgbClr val="B0B0B0"/>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a:xfrm>
            <a:off x="8595360" y="1499616"/>
            <a:ext cx="2926080" cy="548640"/>
          </a:xfrm>
          <a:prstGeom prst="rect">
            <a:avLst/>
          </a:prstGeom>
          <a:noFill/>
        </p:spPr>
        <p:txBody>
          <a:bodyPr wrap="square" lIns="0" tIns="0" rIns="0" bIns="0" anchor="t">
            <a:spAutoFit/>
          </a:bodyPr>
          <a:lstStyle/>
          <a:p>
            <a:pPr algn="l">
              <a:lnSpc>
                <a:spcPct val="122000"/>
              </a:lnSpc>
              <a:spcBef>
                <a:spcPts val="0"/>
              </a:spcBef>
              <a:spcAft>
                <a:spcPts val="200"/>
              </a:spcAft>
            </a:pPr>
            <a:r>
              <a:rPr sz="1500" b="1" i="0">
                <a:solidFill>
                  <a:srgbClr val="E8B04B"/>
                </a:solidFill>
                <a:latin typeface="微软雅黑" panose="020B0503020204020204" charset="-122"/>
                <a:ea typeface="微软雅黑" panose="020B0503020204020204" charset="-122"/>
                <a:cs typeface="微软雅黑" panose="020B0503020204020204" charset="-122"/>
              </a:rPr>
              <a:t>目标达成率 43.4%</a:t>
            </a:r>
            <a:endParaRPr sz="150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0"/>
              </a:spcAft>
            </a:pPr>
            <a:r>
              <a:rPr sz="900" b="0" i="0">
                <a:solidFill>
                  <a:srgbClr val="B0B0B0"/>
                </a:solidFill>
                <a:latin typeface="微软雅黑" panose="020B0503020204020204" charset="-122"/>
                <a:ea typeface="微软雅黑" panose="020B0503020204020204" charset="-122"/>
                <a:cs typeface="微软雅黑" panose="020B0503020204020204" charset="-122"/>
              </a:rPr>
              <a:t>目标 19 万 · 仍为最大缺口</a:t>
            </a:r>
            <a:endParaRPr sz="900" b="0" i="0">
              <a:solidFill>
                <a:srgbClr val="B0B0B0"/>
              </a:solidFill>
              <a:latin typeface="微软雅黑" panose="020B0503020204020204" charset="-122"/>
              <a:ea typeface="微软雅黑" panose="020B0503020204020204" charset="-122"/>
              <a:cs typeface="微软雅黑" panose="020B0503020204020204" charset="-122"/>
            </a:endParaRPr>
          </a:p>
        </p:txBody>
      </p:sp>
      <p:sp>
        <p:nvSpPr>
          <p:cNvPr id="9" name="Rectangle 8"/>
          <p:cNvSpPr/>
          <p:nvPr/>
        </p:nvSpPr>
        <p:spPr>
          <a:xfrm>
            <a:off x="548640" y="2249424"/>
            <a:ext cx="3593592" cy="239572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0" name="Rectangle 9"/>
          <p:cNvSpPr/>
          <p:nvPr/>
        </p:nvSpPr>
        <p:spPr>
          <a:xfrm>
            <a:off x="548640" y="2249424"/>
            <a:ext cx="3593592" cy="5029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1" name="TextBox 10"/>
          <p:cNvSpPr txBox="1"/>
          <p:nvPr/>
        </p:nvSpPr>
        <p:spPr>
          <a:xfrm>
            <a:off x="731520" y="2359152"/>
            <a:ext cx="3246120" cy="262255"/>
          </a:xfrm>
          <a:prstGeom prst="rect">
            <a:avLst/>
          </a:prstGeom>
          <a:noFill/>
        </p:spPr>
        <p:txBody>
          <a:bodyPr wrap="square" lIns="0" tIns="0" rIns="0" bIns="0" anchor="t">
            <a:spAutoFit/>
          </a:bodyPr>
          <a:lstStyle/>
          <a:p>
            <a:pPr algn="l">
              <a:lnSpc>
                <a:spcPct val="122000"/>
              </a:lnSpc>
              <a:spcBef>
                <a:spcPts val="0"/>
              </a:spcBef>
              <a:spcAft>
                <a:spcPts val="300"/>
              </a:spcAft>
            </a:pPr>
            <a:r>
              <a:rPr sz="1400" b="1" i="0">
                <a:solidFill>
                  <a:srgbClr val="FFFFFF"/>
                </a:solidFill>
                <a:latin typeface="微软雅黑" panose="020B0503020204020204" charset="-122"/>
                <a:ea typeface="微软雅黑" panose="020B0503020204020204" charset="-122"/>
                <a:cs typeface="微软雅黑" panose="020B0503020204020204" charset="-122"/>
              </a:rPr>
              <a:t>① 品牌 / 产品词｜</a:t>
            </a:r>
            <a:r>
              <a:rPr lang="zh-CN" altLang="en-US" sz="1400" b="1" i="0">
                <a:solidFill>
                  <a:srgbClr val="FFFFFF"/>
                </a:solidFill>
                <a:latin typeface="微软雅黑" panose="020B0503020204020204" charset="-122"/>
                <a:ea typeface="微软雅黑" panose="020B0503020204020204" charset="-122"/>
                <a:cs typeface="微软雅黑" panose="020B0503020204020204" charset="-122"/>
              </a:rPr>
              <a:t>承接</a:t>
            </a:r>
            <a:r>
              <a:rPr lang="en-US" altLang="zh-CN" sz="1400" b="1" i="0">
                <a:solidFill>
                  <a:srgbClr val="FFFFFF"/>
                </a:solidFill>
                <a:latin typeface="微软雅黑" panose="020B0503020204020204" charset="-122"/>
                <a:ea typeface="微软雅黑" panose="020B0503020204020204" charset="-122"/>
                <a:cs typeface="微软雅黑" panose="020B0503020204020204" charset="-122"/>
              </a:rPr>
              <a:t>F</a:t>
            </a:r>
            <a:r>
              <a:rPr lang="zh-CN" altLang="en-US" sz="1400" b="1" i="0">
                <a:solidFill>
                  <a:srgbClr val="FFFFFF"/>
                </a:solidFill>
                <a:latin typeface="微软雅黑" panose="020B0503020204020204" charset="-122"/>
                <a:ea typeface="微软雅黑" panose="020B0503020204020204" charset="-122"/>
                <a:cs typeface="微软雅黑" panose="020B0503020204020204" charset="-122"/>
              </a:rPr>
              <a:t>流量进行防守</a:t>
            </a:r>
            <a:endParaRPr sz="14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731520" y="2852928"/>
            <a:ext cx="3246120"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E8B04B"/>
                </a:solidFill>
                <a:latin typeface="微软雅黑" panose="020B0503020204020204" charset="-122"/>
                <a:ea typeface="微软雅黑" panose="020B0503020204020204" charset="-122"/>
                <a:cs typeface="微软雅黑" panose="020B0503020204020204" charset="-122"/>
              </a:rPr>
              <a:t>消耗占比 31.92% · SOV 第 1</a:t>
            </a:r>
            <a:endParaRPr sz="1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731485" y="3302560"/>
            <a:ext cx="3246120" cy="600075"/>
          </a:xfrm>
          <a:prstGeom prst="rect">
            <a:avLst/>
          </a:prstGeom>
          <a:noFill/>
        </p:spPr>
        <p:txBody>
          <a:bodyPr wrap="square" lIns="0" tIns="0" rIns="0" bIns="0" anchor="t">
            <a:spAutoFit/>
          </a:bodyPr>
          <a:lstStyle/>
          <a:p>
            <a:pPr algn="l">
              <a:lnSpc>
                <a:spcPct val="130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凯乐石鞋子全系列（¥19,527）· 黑山大坡王（¥6,854）· 凯乐石鞋子穿搭（¥1,954）· 凯乐石鞋子推荐（¥1,241）· FUGA 大坡王黑山（¥989）</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5" name="Rectangle 14"/>
          <p:cNvSpPr/>
          <p:nvPr/>
        </p:nvSpPr>
        <p:spPr>
          <a:xfrm>
            <a:off x="4297679" y="2249424"/>
            <a:ext cx="3593592" cy="239572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6" name="Rectangle 15"/>
          <p:cNvSpPr/>
          <p:nvPr/>
        </p:nvSpPr>
        <p:spPr>
          <a:xfrm>
            <a:off x="4297679" y="2249424"/>
            <a:ext cx="3593592" cy="5029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7" name="TextBox 16"/>
          <p:cNvSpPr txBox="1"/>
          <p:nvPr/>
        </p:nvSpPr>
        <p:spPr>
          <a:xfrm>
            <a:off x="4480577" y="2359143"/>
            <a:ext cx="3246120" cy="262255"/>
          </a:xfrm>
          <a:prstGeom prst="rect">
            <a:avLst/>
          </a:prstGeom>
          <a:noFill/>
        </p:spPr>
        <p:txBody>
          <a:bodyPr wrap="square" lIns="0" tIns="0" rIns="0" bIns="0" anchor="t">
            <a:spAutoFit/>
          </a:bodyPr>
          <a:lstStyle/>
          <a:p>
            <a:pPr algn="l">
              <a:lnSpc>
                <a:spcPct val="122000"/>
              </a:lnSpc>
              <a:spcBef>
                <a:spcPts val="0"/>
              </a:spcBef>
              <a:spcAft>
                <a:spcPts val="300"/>
              </a:spcAft>
            </a:pPr>
            <a:r>
              <a:rPr sz="1400" b="1" i="0">
                <a:solidFill>
                  <a:srgbClr val="FFFFFF"/>
                </a:solidFill>
                <a:latin typeface="微软雅黑" panose="020B0503020204020204" charset="-122"/>
                <a:ea typeface="微软雅黑" panose="020B0503020204020204" charset="-122"/>
                <a:cs typeface="微软雅黑" panose="020B0503020204020204" charset="-122"/>
              </a:rPr>
              <a:t>② 品类 / 功能词｜</a:t>
            </a:r>
            <a:r>
              <a:rPr sz="1400" b="1">
                <a:solidFill>
                  <a:srgbClr val="FFFFFF"/>
                </a:solidFill>
                <a:latin typeface="微软雅黑" charset="0"/>
                <a:ea typeface="微软雅黑" charset="0"/>
                <a:cs typeface="微软雅黑" charset="0"/>
              </a:rPr>
              <a:t>提升</a:t>
            </a:r>
            <a:r>
              <a:rPr lang="zh-CN" altLang="en-US" sz="1400" b="1">
                <a:solidFill>
                  <a:srgbClr val="FFFFFF"/>
                </a:solidFill>
                <a:latin typeface="微软雅黑" charset="0"/>
                <a:ea typeface="微软雅黑" charset="0"/>
                <a:cs typeface="微软雅黑" charset="0"/>
              </a:rPr>
              <a:t>品类</a:t>
            </a:r>
            <a:r>
              <a:rPr lang="zh-CN" altLang="en-US" sz="1400" b="1" i="0">
                <a:solidFill>
                  <a:srgbClr val="FFFFFF"/>
                </a:solidFill>
                <a:latin typeface="微软雅黑" panose="020B0503020204020204" charset="-122"/>
                <a:ea typeface="微软雅黑" panose="020B0503020204020204" charset="-122"/>
                <a:cs typeface="微软雅黑" panose="020B0503020204020204" charset="-122"/>
              </a:rPr>
              <a:t>行业占有率</a:t>
            </a:r>
            <a:endParaRPr sz="14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4480559" y="2852928"/>
            <a:ext cx="3246120"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E8B04B"/>
                </a:solidFill>
                <a:latin typeface="微软雅黑" panose="020B0503020204020204" charset="-122"/>
                <a:ea typeface="微软雅黑" panose="020B0503020204020204" charset="-122"/>
                <a:cs typeface="微软雅黑" panose="020B0503020204020204" charset="-122"/>
              </a:rPr>
              <a:t>品类词 15.68% + 功能场景词 10.51%</a:t>
            </a:r>
            <a:endParaRPr sz="1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4480619" y="3311815"/>
            <a:ext cx="3246120" cy="775427"/>
          </a:xfrm>
          <a:prstGeom prst="rect">
            <a:avLst/>
          </a:prstGeom>
          <a:noFill/>
        </p:spPr>
        <p:txBody>
          <a:bodyPr wrap="square" lIns="0" tIns="0" rIns="0" bIns="0" anchor="t">
            <a:noAutofit/>
          </a:bodyPr>
          <a:lstStyle/>
          <a:p>
            <a:pPr algn="l">
              <a:lnSpc>
                <a:spcPct val="130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增高徒步鞋（¥8,593，CPUV 14.12）· 户外运动品牌推荐（¥5,369）· 登山鞋推荐（¥4,107）· 防滑徒步鞋（¥1,760）· 户外徒步鞋（CPUV 13.57）</a:t>
            </a:r>
            <a:r>
              <a:rPr lang="zh-CN" sz="1000" b="0" i="0">
                <a:solidFill>
                  <a:srgbClr val="D8D8D8"/>
                </a:solidFill>
                <a:latin typeface="微软雅黑" panose="020B0503020204020204" charset="-122"/>
                <a:ea typeface="微软雅黑" panose="020B0503020204020204" charset="-122"/>
                <a:cs typeface="微软雅黑" panose="020B0503020204020204" charset="-122"/>
              </a:rPr>
              <a:t>。</a:t>
            </a:r>
            <a:endParaRPr lang="zh-CN" sz="1000" b="0" i="0">
              <a:solidFill>
                <a:srgbClr val="D8D8D8"/>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endParaRPr lang="zh-CN" sz="1000" b="0" i="0">
              <a:solidFill>
                <a:srgbClr val="D8D8D8"/>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endParaRPr lang="zh-CN"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1" name="Rectangle 20"/>
          <p:cNvSpPr/>
          <p:nvPr/>
        </p:nvSpPr>
        <p:spPr>
          <a:xfrm>
            <a:off x="8046719" y="2249424"/>
            <a:ext cx="3593592" cy="239572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2" name="Rectangle 21"/>
          <p:cNvSpPr/>
          <p:nvPr/>
        </p:nvSpPr>
        <p:spPr>
          <a:xfrm>
            <a:off x="8046719" y="2249424"/>
            <a:ext cx="3593592" cy="5029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3" name="TextBox 22"/>
          <p:cNvSpPr txBox="1"/>
          <p:nvPr/>
        </p:nvSpPr>
        <p:spPr>
          <a:xfrm>
            <a:off x="8229599" y="2359152"/>
            <a:ext cx="3246120" cy="262255"/>
          </a:xfrm>
          <a:prstGeom prst="rect">
            <a:avLst/>
          </a:prstGeom>
          <a:noFill/>
        </p:spPr>
        <p:txBody>
          <a:bodyPr wrap="square" lIns="0" tIns="0" rIns="0" bIns="0" anchor="t">
            <a:spAutoFit/>
          </a:bodyPr>
          <a:lstStyle/>
          <a:p>
            <a:pPr algn="l">
              <a:lnSpc>
                <a:spcPct val="122000"/>
              </a:lnSpc>
              <a:spcBef>
                <a:spcPts val="0"/>
              </a:spcBef>
              <a:spcAft>
                <a:spcPts val="300"/>
              </a:spcAft>
            </a:pPr>
            <a:r>
              <a:rPr sz="1400" b="1" i="0">
                <a:solidFill>
                  <a:srgbClr val="FFFFFF"/>
                </a:solidFill>
                <a:latin typeface="微软雅黑" panose="020B0503020204020204" charset="-122"/>
                <a:ea typeface="微软雅黑" panose="020B0503020204020204" charset="-122"/>
                <a:cs typeface="微软雅黑" panose="020B0503020204020204" charset="-122"/>
              </a:rPr>
              <a:t>③ 场景 / 审美词｜</a:t>
            </a:r>
            <a:r>
              <a:rPr sz="1400" b="1">
                <a:solidFill>
                  <a:srgbClr val="FFFFFF"/>
                </a:solidFill>
                <a:latin typeface="微软雅黑" charset="0"/>
                <a:ea typeface="微软雅黑" charset="0"/>
                <a:cs typeface="微软雅黑" charset="0"/>
              </a:rPr>
              <a:t>特定场景下进行</a:t>
            </a:r>
            <a:r>
              <a:rPr lang="zh-CN" altLang="en-US" sz="1400" b="1">
                <a:solidFill>
                  <a:srgbClr val="FFFFFF"/>
                </a:solidFill>
                <a:latin typeface="微软雅黑" charset="0"/>
                <a:ea typeface="微软雅黑" charset="0"/>
                <a:cs typeface="微软雅黑" charset="0"/>
              </a:rPr>
              <a:t>收割</a:t>
            </a:r>
            <a:endParaRPr sz="14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4" name="TextBox 23"/>
          <p:cNvSpPr txBox="1"/>
          <p:nvPr/>
        </p:nvSpPr>
        <p:spPr>
          <a:xfrm>
            <a:off x="8229599" y="2852928"/>
            <a:ext cx="3291837" cy="449580"/>
          </a:xfrm>
          <a:prstGeom prst="rect">
            <a:avLst/>
          </a:prstGeom>
          <a:noFill/>
        </p:spPr>
        <p:txBody>
          <a:bodyPr wrap="square" lIns="0" tIns="0" rIns="0" bIns="0" anchor="t">
            <a:noAutofit/>
          </a:bodyPr>
          <a:lstStyle/>
          <a:p>
            <a:pPr algn="l">
              <a:lnSpc>
                <a:spcPct val="122000"/>
              </a:lnSpc>
              <a:spcBef>
                <a:spcPts val="0"/>
              </a:spcBef>
              <a:spcAft>
                <a:spcPts val="300"/>
              </a:spcAft>
            </a:pPr>
            <a:r>
              <a:rPr sz="1200" b="1" i="0">
                <a:solidFill>
                  <a:srgbClr val="E8B04B"/>
                </a:solidFill>
                <a:latin typeface="微软雅黑" panose="020B0503020204020204" charset="-122"/>
                <a:ea typeface="微软雅黑" panose="020B0503020204020204" charset="-122"/>
                <a:cs typeface="微软雅黑" panose="020B0503020204020204" charset="-122"/>
              </a:rPr>
              <a:t>穿搭词 14.34% + 场景词</a:t>
            </a:r>
            <a:r>
              <a:rPr sz="1200" b="1" i="0">
                <a:solidFill>
                  <a:srgbClr val="E8B04B"/>
                </a:solidFill>
                <a:latin typeface="微软雅黑" panose="020B0503020204020204" charset="-122"/>
                <a:ea typeface="微软雅黑" panose="020B0503020204020204" charset="-122"/>
                <a:cs typeface="微软雅黑" panose="020B0503020204020204" charset="-122"/>
              </a:rPr>
              <a:t> 3.93% + 七夕词 2.13%</a:t>
            </a:r>
            <a:endParaRPr sz="1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25" name="TextBox 24"/>
          <p:cNvSpPr txBox="1"/>
          <p:nvPr/>
        </p:nvSpPr>
        <p:spPr>
          <a:xfrm>
            <a:off x="8229617" y="3311786"/>
            <a:ext cx="3246120" cy="600075"/>
          </a:xfrm>
          <a:prstGeom prst="rect">
            <a:avLst/>
          </a:prstGeom>
          <a:noFill/>
        </p:spPr>
        <p:txBody>
          <a:bodyPr wrap="square" lIns="0" tIns="0" rIns="0" bIns="0" anchor="t">
            <a:spAutoFit/>
          </a:bodyPr>
          <a:lstStyle/>
          <a:p>
            <a:pPr algn="l">
              <a:lnSpc>
                <a:spcPct val="130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户外冲锋衣（¥8,418，CPUV 14.58）· 情侣鞋推荐大牌（CTR 8.60%）· 户外穿搭 · 越野跑穿搭 · 简约高级穿搭（CTR 8.76%）· 男朋友鞋（CTR 10.50%）</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0" name="Rectangle 29"/>
          <p:cNvSpPr/>
          <p:nvPr/>
        </p:nvSpPr>
        <p:spPr>
          <a:xfrm>
            <a:off x="562384" y="4810397"/>
            <a:ext cx="11080698" cy="1590370"/>
          </a:xfrm>
          <a:prstGeom prst="rect">
            <a:avLst/>
          </a:prstGeom>
          <a:solidFill>
            <a:srgbClr val="2E271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1" name="Rectangle 30"/>
          <p:cNvSpPr/>
          <p:nvPr/>
        </p:nvSpPr>
        <p:spPr>
          <a:xfrm>
            <a:off x="548640" y="4810397"/>
            <a:ext cx="82623" cy="159037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2" name="TextBox 31"/>
          <p:cNvSpPr txBox="1"/>
          <p:nvPr/>
        </p:nvSpPr>
        <p:spPr>
          <a:xfrm>
            <a:off x="731520" y="4901837"/>
            <a:ext cx="10666022" cy="1402135"/>
          </a:xfrm>
          <a:prstGeom prst="rect">
            <a:avLst/>
          </a:prstGeom>
          <a:noFill/>
        </p:spPr>
        <p:txBody>
          <a:bodyPr wrap="square" lIns="0" tIns="0" rIns="0" bIns="0" anchor="t">
            <a:noAutofit/>
          </a:bodyPr>
          <a:lstStyle/>
          <a:p>
            <a:pPr algn="l">
              <a:lnSpc>
                <a:spcPct val="122000"/>
              </a:lnSpc>
              <a:spcBef>
                <a:spcPts val="0"/>
              </a:spcBef>
              <a:spcAft>
                <a:spcPts val="300"/>
              </a:spcAft>
            </a:pPr>
            <a:r>
              <a:rPr sz="1200">
                <a:solidFill>
                  <a:srgbClr val="D8D8D8"/>
                </a:solidFill>
                <a:latin typeface="微软雅黑" panose="020B0503020204020204" charset="-122"/>
                <a:ea typeface="微软雅黑" panose="020B0503020204020204" charset="-122"/>
                <a:cs typeface="微软雅黑" panose="020B0503020204020204" charset="-122"/>
                <a:sym typeface="+mn-ea"/>
              </a:rPr>
              <a:t>LEARNING  </a:t>
            </a:r>
            <a:endParaRPr sz="1200">
              <a:solidFill>
                <a:srgbClr val="D8D8D8"/>
              </a:solidFill>
              <a:latin typeface="微软雅黑" panose="020B0503020204020204" charset="-122"/>
              <a:ea typeface="微软雅黑" panose="020B0503020204020204" charset="-122"/>
              <a:cs typeface="微软雅黑" panose="020B0503020204020204" charset="-122"/>
              <a:sym typeface="+mn-ea"/>
            </a:endParaRPr>
          </a:p>
          <a:p>
            <a:pPr algn="l">
              <a:lnSpc>
                <a:spcPct val="122000"/>
              </a:lnSpc>
              <a:spcBef>
                <a:spcPts val="0"/>
              </a:spcBef>
              <a:spcAft>
                <a:spcPts val="300"/>
              </a:spcAft>
            </a:pPr>
            <a:r>
              <a:rPr lang="zh-CN" altLang="en-US" sz="1200" i="0">
                <a:solidFill>
                  <a:schemeClr val="tx1"/>
                </a:solidFill>
                <a:latin typeface="微软雅黑" panose="020B0503020204020204" charset="-122"/>
                <a:ea typeface="微软雅黑" panose="020B0503020204020204" charset="-122"/>
                <a:cs typeface="Arial" panose="020B0604020202020204" pitchFamily="34" charset="0"/>
              </a:rPr>
              <a:t>品牌词下稳占</a:t>
            </a:r>
            <a:r>
              <a:rPr lang="en-US" altLang="zh-CN" sz="1200" i="0">
                <a:solidFill>
                  <a:schemeClr val="tx1"/>
                </a:solidFill>
                <a:latin typeface="微软雅黑" panose="020B0503020204020204" charset="-122"/>
                <a:ea typeface="微软雅黑" panose="020B0503020204020204" charset="-122"/>
                <a:cs typeface="Arial" panose="020B0604020202020204" pitchFamily="34" charset="0"/>
              </a:rPr>
              <a:t>top1</a:t>
            </a:r>
            <a:r>
              <a:rPr lang="zh-CN" altLang="en-US" sz="1200" i="0">
                <a:solidFill>
                  <a:schemeClr val="tx1"/>
                </a:solidFill>
                <a:latin typeface="微软雅黑" panose="020B0503020204020204" charset="-122"/>
                <a:ea typeface="微软雅黑" panose="020B0503020204020204" charset="-122"/>
                <a:cs typeface="Arial" panose="020B0604020202020204" pitchFamily="34" charset="0"/>
              </a:rPr>
              <a:t>；</a:t>
            </a:r>
            <a:r>
              <a:rPr lang="zh-CN" altLang="en-US" sz="1200" i="0">
                <a:solidFill>
                  <a:schemeClr val="tx1"/>
                </a:solidFill>
                <a:latin typeface="微软雅黑" panose="020B0503020204020204" charset="-122"/>
                <a:ea typeface="微软雅黑" panose="020B0503020204020204" charset="-122"/>
                <a:cs typeface="微软雅黑" panose="020B0503020204020204" charset="-122"/>
              </a:rPr>
              <a:t>搜索功能 </a:t>
            </a:r>
            <a:r>
              <a:rPr lang="en-US" altLang="zh-CN" sz="1200" i="0">
                <a:solidFill>
                  <a:schemeClr val="tx1"/>
                </a:solidFill>
                <a:latin typeface="微软雅黑" panose="020B0503020204020204" charset="-122"/>
                <a:ea typeface="微软雅黑" panose="020B0503020204020204" charset="-122"/>
                <a:cs typeface="微软雅黑" panose="020B0503020204020204" charset="-122"/>
              </a:rPr>
              <a:t>/ </a:t>
            </a:r>
            <a:r>
              <a:rPr lang="zh-CN" altLang="en-US" sz="1200" i="0">
                <a:solidFill>
                  <a:schemeClr val="tx1"/>
                </a:solidFill>
                <a:latin typeface="微软雅黑" panose="020B0503020204020204" charset="-122"/>
                <a:ea typeface="微软雅黑" panose="020B0503020204020204" charset="-122"/>
                <a:cs typeface="微软雅黑" panose="020B0503020204020204" charset="-122"/>
              </a:rPr>
              <a:t>穿搭意图词（增高徒步鞋 、户外冲锋衣 、户外徒步鞋）</a:t>
            </a:r>
            <a:r>
              <a:rPr lang="en-US" altLang="zh-CN" sz="1200" i="0">
                <a:solidFill>
                  <a:schemeClr val="tx1"/>
                </a:solidFill>
                <a:latin typeface="微软雅黑" panose="020B0503020204020204" charset="-122"/>
                <a:ea typeface="微软雅黑" panose="020B0503020204020204" charset="-122"/>
                <a:cs typeface="微软雅黑" panose="020B0503020204020204" charset="-122"/>
              </a:rPr>
              <a:t>cpuv </a:t>
            </a:r>
            <a:r>
              <a:rPr lang="zh-CN" altLang="en-US" sz="1200" i="0">
                <a:solidFill>
                  <a:schemeClr val="tx1"/>
                </a:solidFill>
                <a:latin typeface="微软雅黑" panose="020B0503020204020204" charset="-122"/>
                <a:ea typeface="微软雅黑" panose="020B0503020204020204" charset="-122"/>
                <a:cs typeface="微软雅黑" panose="020B0503020204020204" charset="-122"/>
              </a:rPr>
              <a:t>最低；</a:t>
            </a:r>
            <a:endParaRPr lang="zh-CN" altLang="en-US" sz="120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300"/>
              </a:spcAft>
            </a:pPr>
            <a:r>
              <a:rPr lang="en-US" altLang="zh-CN" sz="1200" i="0">
                <a:solidFill>
                  <a:schemeClr val="tx1"/>
                </a:solidFill>
                <a:latin typeface="微软雅黑" panose="020B0503020204020204" charset="-122"/>
                <a:ea typeface="微软雅黑" panose="020B0503020204020204" charset="-122"/>
                <a:cs typeface="微软雅黑" panose="020B0503020204020204" charset="-122"/>
              </a:rPr>
              <a:t>CTR×CPC </a:t>
            </a:r>
            <a:r>
              <a:rPr lang="zh-CN" altLang="en-US" sz="1200" i="0">
                <a:solidFill>
                  <a:schemeClr val="tx1"/>
                </a:solidFill>
                <a:latin typeface="微软雅黑" panose="020B0503020204020204" charset="-122"/>
                <a:ea typeface="微软雅黑" panose="020B0503020204020204" charset="-122"/>
                <a:cs typeface="微软雅黑" panose="020B0503020204020204" charset="-122"/>
              </a:rPr>
              <a:t>组合高效率词：简约高级穿搭、萨洛蒙、男朋友鞋点击意愿强、成本低；</a:t>
            </a:r>
            <a:endParaRPr sz="120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24000"/>
              </a:lnSpc>
              <a:spcBef>
                <a:spcPts val="0"/>
              </a:spcBef>
              <a:spcAft>
                <a:spcPts val="300"/>
              </a:spcAft>
            </a:pPr>
            <a:r>
              <a:rPr sz="1200" b="1" i="0">
                <a:solidFill>
                  <a:srgbClr val="E8B04B"/>
                </a:solidFill>
                <a:latin typeface="微软雅黑" panose="020B0503020204020204" charset="-122"/>
                <a:ea typeface="微软雅黑" panose="020B0503020204020204" charset="-122"/>
                <a:cs typeface="微软雅黑" panose="020B0503020204020204" charset="-122"/>
              </a:rPr>
              <a:t>⚠ 待解决问题</a:t>
            </a:r>
            <a:endParaRPr sz="120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4000"/>
              </a:lnSpc>
              <a:spcBef>
                <a:spcPts val="0"/>
              </a:spcBef>
              <a:spcAft>
                <a:spcPts val="400"/>
              </a:spcAft>
            </a:pPr>
            <a:r>
              <a:rPr sz="1200" b="1" i="0">
                <a:solidFill>
                  <a:srgbClr val="D8D8D8"/>
                </a:solidFill>
                <a:latin typeface="微软雅黑" panose="020B0503020204020204" charset="-122"/>
                <a:ea typeface="微软雅黑" panose="020B0503020204020204" charset="-122"/>
                <a:cs typeface="微软雅黑" panose="020B0503020204020204" charset="-122"/>
              </a:rPr>
              <a:t>搜索指数环比 +88.35%，但目标达成率仅 43.4%：搜索兴趣已被激活，但持续制造主动搜索的爆发素材仍不足。</a:t>
            </a:r>
            <a:endParaRPr sz="1200" b="0"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37" name="Rectangle 36"/>
          <p:cNvSpPr/>
          <p:nvPr/>
        </p:nvSpPr>
        <p:spPr>
          <a:xfrm>
            <a:off x="548640" y="6510528"/>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04 ｜ P1</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4</a:t>
            </a:r>
            <a:endParaRPr lang="en-US"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从用户</a:t>
            </a:r>
            <a:r>
              <a:rPr lang="zh-CN" altLang="en-US" sz="2300" b="1" i="0">
                <a:solidFill>
                  <a:srgbClr val="FFFFFF"/>
                </a:solidFill>
                <a:latin typeface="微软雅黑" panose="020B0503020204020204" charset="-122"/>
                <a:ea typeface="微软雅黑" panose="020B0503020204020204" charset="-122"/>
                <a:cs typeface="微软雅黑" panose="020B0503020204020204" charset="-122"/>
              </a:rPr>
              <a:t>搜索</a:t>
            </a:r>
            <a:r>
              <a:rPr sz="2300" b="1" i="0">
                <a:solidFill>
                  <a:srgbClr val="FFFFFF"/>
                </a:solidFill>
                <a:latin typeface="微软雅黑" panose="020B0503020204020204" charset="-122"/>
                <a:ea typeface="微软雅黑" panose="020B0503020204020204" charset="-122"/>
                <a:cs typeface="微软雅黑" panose="020B0503020204020204" charset="-122"/>
              </a:rPr>
              <a:t>路径反推</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Rectangle 4"/>
          <p:cNvSpPr/>
          <p:nvPr>
            <p:custDataLst>
              <p:tags r:id="rId1"/>
            </p:custDataLst>
          </p:nvPr>
        </p:nvSpPr>
        <p:spPr>
          <a:xfrm>
            <a:off x="548640" y="1444752"/>
            <a:ext cx="3564026" cy="407901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Rectangle 5"/>
          <p:cNvSpPr/>
          <p:nvPr>
            <p:custDataLst>
              <p:tags r:id="rId2"/>
            </p:custDataLst>
          </p:nvPr>
        </p:nvSpPr>
        <p:spPr>
          <a:xfrm>
            <a:off x="548640" y="1444752"/>
            <a:ext cx="3564026" cy="54864"/>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7" name="TextBox 6"/>
          <p:cNvSpPr txBox="1"/>
          <p:nvPr>
            <p:custDataLst>
              <p:tags r:id="rId3"/>
            </p:custDataLst>
          </p:nvPr>
        </p:nvSpPr>
        <p:spPr>
          <a:xfrm>
            <a:off x="768096" y="1609344"/>
            <a:ext cx="3125114" cy="292608"/>
          </a:xfrm>
          <a:prstGeom prst="rect">
            <a:avLst/>
          </a:prstGeom>
          <a:noFill/>
        </p:spPr>
        <p:txBody>
          <a:bodyPr wrap="square" lIns="0" tIns="0" rIns="0" bIns="0" anchor="t">
            <a:spAutoFit/>
          </a:bodyPr>
          <a:lstStyle/>
          <a:p>
            <a:pPr algn="l">
              <a:lnSpc>
                <a:spcPct val="122000"/>
              </a:lnSpc>
              <a:spcBef>
                <a:spcPts val="0"/>
              </a:spcBef>
              <a:spcAft>
                <a:spcPts val="300"/>
              </a:spcAft>
            </a:pPr>
            <a:r>
              <a:rPr sz="1250" b="1" i="0">
                <a:solidFill>
                  <a:srgbClr val="FFFFFF"/>
                </a:solidFill>
                <a:latin typeface="微软雅黑" panose="020B0503020204020204" charset="-122"/>
                <a:ea typeface="微软雅黑" panose="020B0503020204020204" charset="-122"/>
                <a:cs typeface="微软雅黑" panose="020B0503020204020204" charset="-122"/>
              </a:rPr>
              <a:t>01  审美 × 性能</a:t>
            </a:r>
            <a:endParaRPr sz="1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custDataLst>
              <p:tags r:id="rId4"/>
            </p:custDataLst>
          </p:nvPr>
        </p:nvSpPr>
        <p:spPr>
          <a:xfrm>
            <a:off x="768096" y="1956816"/>
            <a:ext cx="3125114" cy="310896"/>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用审美吸引，用性能说服</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9" name="Rectangle 8"/>
          <p:cNvSpPr/>
          <p:nvPr>
            <p:custDataLst>
              <p:tags r:id="rId5"/>
            </p:custDataLst>
          </p:nvPr>
        </p:nvSpPr>
        <p:spPr>
          <a:xfrm>
            <a:off x="768096" y="2322576"/>
            <a:ext cx="3125114"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1" name="Rectangle 10"/>
          <p:cNvSpPr/>
          <p:nvPr>
            <p:custDataLst>
              <p:tags r:id="rId6"/>
            </p:custDataLst>
          </p:nvPr>
        </p:nvSpPr>
        <p:spPr>
          <a:xfrm>
            <a:off x="4313834" y="1444752"/>
            <a:ext cx="3564026" cy="4078977"/>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2" name="Rectangle 11"/>
          <p:cNvSpPr/>
          <p:nvPr>
            <p:custDataLst>
              <p:tags r:id="rId7"/>
            </p:custDataLst>
          </p:nvPr>
        </p:nvSpPr>
        <p:spPr>
          <a:xfrm>
            <a:off x="4313834" y="1444752"/>
            <a:ext cx="3564026" cy="54864"/>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3" name="TextBox 12"/>
          <p:cNvSpPr txBox="1"/>
          <p:nvPr>
            <p:custDataLst>
              <p:tags r:id="rId8"/>
            </p:custDataLst>
          </p:nvPr>
        </p:nvSpPr>
        <p:spPr>
          <a:xfrm>
            <a:off x="4533290" y="1609344"/>
            <a:ext cx="3125114" cy="292608"/>
          </a:xfrm>
          <a:prstGeom prst="rect">
            <a:avLst/>
          </a:prstGeom>
          <a:noFill/>
        </p:spPr>
        <p:txBody>
          <a:bodyPr wrap="square" lIns="0" tIns="0" rIns="0" bIns="0" anchor="t">
            <a:spAutoFit/>
          </a:bodyPr>
          <a:lstStyle/>
          <a:p>
            <a:pPr algn="l">
              <a:lnSpc>
                <a:spcPct val="122000"/>
              </a:lnSpc>
              <a:spcBef>
                <a:spcPts val="0"/>
              </a:spcBef>
              <a:spcAft>
                <a:spcPts val="300"/>
              </a:spcAft>
            </a:pPr>
            <a:r>
              <a:rPr sz="1250" b="1" i="0">
                <a:solidFill>
                  <a:srgbClr val="FFFFFF"/>
                </a:solidFill>
                <a:latin typeface="微软雅黑" panose="020B0503020204020204" charset="-122"/>
                <a:ea typeface="微软雅黑" panose="020B0503020204020204" charset="-122"/>
                <a:cs typeface="微软雅黑" panose="020B0503020204020204" charset="-122"/>
              </a:rPr>
              <a:t>02  专业 × 场景</a:t>
            </a:r>
            <a:endParaRPr sz="1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custDataLst>
              <p:tags r:id="rId9"/>
            </p:custDataLst>
          </p:nvPr>
        </p:nvSpPr>
        <p:spPr>
          <a:xfrm>
            <a:off x="4533290" y="1956816"/>
            <a:ext cx="3125114" cy="310896"/>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从路跑场景，进入更多真实生活</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5" name="Rectangle 14"/>
          <p:cNvSpPr/>
          <p:nvPr>
            <p:custDataLst>
              <p:tags r:id="rId10"/>
            </p:custDataLst>
          </p:nvPr>
        </p:nvSpPr>
        <p:spPr>
          <a:xfrm>
            <a:off x="4533290" y="2322576"/>
            <a:ext cx="3125114"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7" name="Rectangle 16"/>
          <p:cNvSpPr/>
          <p:nvPr>
            <p:custDataLst>
              <p:tags r:id="rId11"/>
            </p:custDataLst>
          </p:nvPr>
        </p:nvSpPr>
        <p:spPr>
          <a:xfrm>
            <a:off x="8079028" y="1444752"/>
            <a:ext cx="3564026" cy="4078977"/>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8" name="Rectangle 17"/>
          <p:cNvSpPr/>
          <p:nvPr>
            <p:custDataLst>
              <p:tags r:id="rId12"/>
            </p:custDataLst>
          </p:nvPr>
        </p:nvSpPr>
        <p:spPr>
          <a:xfrm>
            <a:off x="8079028" y="1444752"/>
            <a:ext cx="3564026" cy="54864"/>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9" name="TextBox 18"/>
          <p:cNvSpPr txBox="1"/>
          <p:nvPr>
            <p:custDataLst>
              <p:tags r:id="rId13"/>
            </p:custDataLst>
          </p:nvPr>
        </p:nvSpPr>
        <p:spPr>
          <a:xfrm>
            <a:off x="8298484" y="1609344"/>
            <a:ext cx="3125114" cy="234315"/>
          </a:xfrm>
          <a:prstGeom prst="rect">
            <a:avLst/>
          </a:prstGeom>
          <a:noFill/>
        </p:spPr>
        <p:txBody>
          <a:bodyPr wrap="square" lIns="0" tIns="0" rIns="0" bIns="0" anchor="t">
            <a:spAutoFit/>
          </a:bodyPr>
          <a:lstStyle/>
          <a:p>
            <a:pPr algn="l">
              <a:lnSpc>
                <a:spcPct val="122000"/>
              </a:lnSpc>
              <a:spcBef>
                <a:spcPts val="0"/>
              </a:spcBef>
              <a:spcAft>
                <a:spcPts val="300"/>
              </a:spcAft>
            </a:pPr>
            <a:r>
              <a:rPr sz="1250" b="1" i="0">
                <a:solidFill>
                  <a:srgbClr val="FFFFFF"/>
                </a:solidFill>
                <a:latin typeface="微软雅黑" panose="020B0503020204020204" charset="-122"/>
                <a:ea typeface="微软雅黑" panose="020B0503020204020204" charset="-122"/>
                <a:cs typeface="微软雅黑" panose="020B0503020204020204" charset="-122"/>
              </a:rPr>
              <a:t>03  产品 × </a:t>
            </a:r>
            <a:r>
              <a:rPr lang="zh-CN" altLang="en-US" sz="1250" b="1" i="0">
                <a:solidFill>
                  <a:srgbClr val="FFFFFF"/>
                </a:solidFill>
                <a:latin typeface="微软雅黑" panose="020B0503020204020204" charset="-122"/>
                <a:ea typeface="微软雅黑" panose="020B0503020204020204" charset="-122"/>
                <a:cs typeface="微软雅黑" panose="020B0503020204020204" charset="-122"/>
              </a:rPr>
              <a:t>精神</a:t>
            </a:r>
            <a:endParaRPr sz="12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custDataLst>
              <p:tags r:id="rId14"/>
            </p:custDataLst>
          </p:nvPr>
        </p:nvSpPr>
        <p:spPr>
          <a:xfrm>
            <a:off x="8298484" y="1956816"/>
            <a:ext cx="3125114" cy="310896"/>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从「黑山很时尚」走向「为什么是黑山」</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21" name="Rectangle 20"/>
          <p:cNvSpPr/>
          <p:nvPr>
            <p:custDataLst>
              <p:tags r:id="rId15"/>
            </p:custDataLst>
          </p:nvPr>
        </p:nvSpPr>
        <p:spPr>
          <a:xfrm>
            <a:off x="8298484" y="2322576"/>
            <a:ext cx="3125114"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3" name="Rectangle 22"/>
          <p:cNvSpPr/>
          <p:nvPr/>
        </p:nvSpPr>
        <p:spPr>
          <a:xfrm>
            <a:off x="598876" y="5666395"/>
            <a:ext cx="11094415" cy="64008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4" name="Rectangle 23"/>
          <p:cNvSpPr/>
          <p:nvPr/>
        </p:nvSpPr>
        <p:spPr>
          <a:xfrm>
            <a:off x="548614" y="5666390"/>
            <a:ext cx="50292" cy="64008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5" name="TextBox 24"/>
          <p:cNvSpPr txBox="1"/>
          <p:nvPr/>
        </p:nvSpPr>
        <p:spPr>
          <a:xfrm>
            <a:off x="731562" y="5871874"/>
            <a:ext cx="10728655" cy="220980"/>
          </a:xfrm>
          <a:prstGeom prst="rect">
            <a:avLst/>
          </a:prstGeom>
          <a:noFill/>
        </p:spPr>
        <p:txBody>
          <a:bodyPr wrap="square" lIns="0" tIns="0" rIns="0" bIns="0" anchor="ctr">
            <a:spAutoFit/>
          </a:bodyPr>
          <a:lstStyle/>
          <a:p>
            <a:pPr algn="l">
              <a:lnSpc>
                <a:spcPct val="120000"/>
              </a:lnSpc>
              <a:spcBef>
                <a:spcPts val="0"/>
              </a:spcBef>
              <a:spcAft>
                <a:spcPts val="300"/>
              </a:spcAft>
            </a:pPr>
            <a:r>
              <a:rPr sz="1200" b="1" i="0">
                <a:solidFill>
                  <a:schemeClr val="tx1"/>
                </a:solidFill>
                <a:latin typeface="微软雅黑" panose="020B0503020204020204" charset="-122"/>
                <a:ea typeface="微软雅黑" panose="020B0503020204020204" charset="-122"/>
                <a:cs typeface="微软雅黑" panose="020B0503020204020204" charset="-122"/>
              </a:rPr>
              <a:t>Q4 内容升级：不再分别讲「专业」和「时尚」，而是让专业性能成为时尚表达的理由，让真实场景成为产品价值的证明，最终沉淀黑山的跑山美学。</a:t>
            </a:r>
            <a:endParaRPr sz="1200" b="1"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6" name="Rectangle 25"/>
          <p:cNvSpPr/>
          <p:nvPr/>
        </p:nvSpPr>
        <p:spPr>
          <a:xfrm>
            <a:off x="548640" y="6510528"/>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pic>
        <p:nvPicPr>
          <p:cNvPr id="33" name="图片 32" descr="post_object_image_3882886210"/>
          <p:cNvPicPr>
            <a:picLocks noChangeAspect="1"/>
          </p:cNvPicPr>
          <p:nvPr/>
        </p:nvPicPr>
        <p:blipFill>
          <a:blip r:embed="rId16"/>
          <a:stretch>
            <a:fillRect/>
          </a:stretch>
        </p:blipFill>
        <p:spPr>
          <a:xfrm>
            <a:off x="8504278" y="2441390"/>
            <a:ext cx="2485723" cy="3082373"/>
          </a:xfrm>
          <a:prstGeom prst="rect">
            <a:avLst/>
          </a:prstGeom>
        </p:spPr>
      </p:pic>
      <p:pic>
        <p:nvPicPr>
          <p:cNvPr id="36" name="图片 35" descr="post_object_image_512303966"/>
          <p:cNvPicPr>
            <a:picLocks noChangeAspect="1"/>
          </p:cNvPicPr>
          <p:nvPr/>
        </p:nvPicPr>
        <p:blipFill>
          <a:blip r:embed="rId17"/>
          <a:stretch>
            <a:fillRect/>
          </a:stretch>
        </p:blipFill>
        <p:spPr>
          <a:xfrm>
            <a:off x="4867576" y="2441390"/>
            <a:ext cx="2456468" cy="3079751"/>
          </a:xfrm>
          <a:prstGeom prst="rect">
            <a:avLst/>
          </a:prstGeom>
        </p:spPr>
      </p:pic>
      <p:pic>
        <p:nvPicPr>
          <p:cNvPr id="37" name="图片 36" descr="post_object_image_2034343925"/>
          <p:cNvPicPr>
            <a:picLocks noChangeAspect="1"/>
          </p:cNvPicPr>
          <p:nvPr/>
        </p:nvPicPr>
        <p:blipFill>
          <a:blip r:embed="rId18"/>
          <a:stretch>
            <a:fillRect/>
          </a:stretch>
        </p:blipFill>
        <p:spPr>
          <a:xfrm>
            <a:off x="1139048" y="2441390"/>
            <a:ext cx="2383141" cy="30797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548640" y="2761488"/>
            <a:ext cx="82296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548640" y="1874519"/>
            <a:ext cx="9144000" cy="548640"/>
          </a:xfrm>
          <a:prstGeom prst="rect">
            <a:avLst/>
          </a:prstGeom>
          <a:noFill/>
        </p:spPr>
        <p:txBody>
          <a:bodyPr wrap="square" lIns="0" tIns="0" rIns="0" bIns="0" anchor="t">
            <a:spAutoFit/>
          </a:bodyPr>
          <a:lstStyle/>
          <a:p>
            <a:pPr algn="l">
              <a:lnSpc>
                <a:spcPct val="122000"/>
              </a:lnSpc>
              <a:spcBef>
                <a:spcPts val="0"/>
              </a:spcBef>
              <a:spcAft>
                <a:spcPts val="300"/>
              </a:spcAft>
            </a:pPr>
            <a:r>
              <a:rPr sz="4200" b="1" i="0">
                <a:solidFill>
                  <a:srgbClr val="E8B04B"/>
                </a:solidFill>
                <a:latin typeface="微软雅黑" panose="020B0503020204020204" charset="-122"/>
                <a:ea typeface="微软雅黑" panose="020B0503020204020204" charset="-122"/>
                <a:cs typeface="微软雅黑" panose="020B0503020204020204" charset="-122"/>
              </a:rPr>
              <a:t>PART 05</a:t>
            </a:r>
            <a:endParaRPr sz="4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548640" y="2971800"/>
            <a:ext cx="10515600" cy="731520"/>
          </a:xfrm>
          <a:prstGeom prst="rect">
            <a:avLst/>
          </a:prstGeom>
          <a:noFill/>
        </p:spPr>
        <p:txBody>
          <a:bodyPr wrap="square" lIns="0" tIns="0" rIns="0" bIns="0" anchor="t">
            <a:spAutoFit/>
          </a:bodyPr>
          <a:lstStyle/>
          <a:p>
            <a:pPr algn="l">
              <a:lnSpc>
                <a:spcPct val="122000"/>
              </a:lnSpc>
              <a:spcBef>
                <a:spcPts val="0"/>
              </a:spcBef>
              <a:spcAft>
                <a:spcPts val="300"/>
              </a:spcAft>
            </a:pPr>
            <a:r>
              <a:rPr sz="2700" b="1" i="0">
                <a:solidFill>
                  <a:srgbClr val="FFFFFF"/>
                </a:solidFill>
                <a:latin typeface="微软雅黑" panose="020B0503020204020204" charset="-122"/>
                <a:ea typeface="微软雅黑" panose="020B0503020204020204" charset="-122"/>
                <a:cs typeface="微软雅黑" panose="020B0503020204020204" charset="-122"/>
              </a:rPr>
              <a:t>Q3 阶段复盘结论</a:t>
            </a:r>
            <a:endParaRPr sz="2700" b="1"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05 ｜ P1</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6</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384048"/>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Q3 阶段复盘结论及投放调优</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Rectangle 4"/>
          <p:cNvSpPr/>
          <p:nvPr/>
        </p:nvSpPr>
        <p:spPr>
          <a:xfrm>
            <a:off x="548640" y="1316736"/>
            <a:ext cx="11094415" cy="786384"/>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TextBox 5"/>
          <p:cNvSpPr txBox="1"/>
          <p:nvPr/>
        </p:nvSpPr>
        <p:spPr>
          <a:xfrm>
            <a:off x="822959" y="1417320"/>
            <a:ext cx="10545775" cy="299720"/>
          </a:xfrm>
          <a:prstGeom prst="rect">
            <a:avLst/>
          </a:prstGeom>
          <a:noFill/>
        </p:spPr>
        <p:txBody>
          <a:bodyPr wrap="square" lIns="0" tIns="0" rIns="0" bIns="0" anchor="t">
            <a:spAutoFit/>
          </a:bodyPr>
          <a:lstStyle/>
          <a:p>
            <a:pPr algn="l">
              <a:lnSpc>
                <a:spcPct val="122000"/>
              </a:lnSpc>
              <a:spcBef>
                <a:spcPts val="0"/>
              </a:spcBef>
              <a:spcAft>
                <a:spcPts val="300"/>
              </a:spcAft>
            </a:pPr>
            <a:r>
              <a:rPr sz="1600" b="1" i="0">
                <a:solidFill>
                  <a:srgbClr val="FFC000"/>
                </a:solidFill>
                <a:latin typeface="微软雅黑" panose="020B0503020204020204" charset="-122"/>
                <a:ea typeface="微软雅黑" panose="020B0503020204020204" charset="-122"/>
                <a:cs typeface="微软雅黑" panose="020B0503020204020204" charset="-122"/>
              </a:rPr>
              <a:t>Q3 剩余阶段核心策略：守住 TI 效率、优先补搜索缺口、继续验证高潜内容 × 人群组合</a:t>
            </a:r>
            <a:endParaRPr sz="1600" b="1" i="0">
              <a:solidFill>
                <a:srgbClr val="FFC000"/>
              </a:solidFill>
              <a:latin typeface="微软雅黑" panose="020B0503020204020204" charset="-122"/>
              <a:ea typeface="微软雅黑" panose="020B0503020204020204" charset="-122"/>
              <a:cs typeface="微软雅黑" panose="020B0503020204020204" charset="-122"/>
            </a:endParaRPr>
          </a:p>
        </p:txBody>
      </p:sp>
      <p:sp>
        <p:nvSpPr>
          <p:cNvPr id="7" name="TextBox 6"/>
          <p:cNvSpPr txBox="1"/>
          <p:nvPr/>
        </p:nvSpPr>
        <p:spPr>
          <a:xfrm>
            <a:off x="822959" y="1719072"/>
            <a:ext cx="10545775" cy="274320"/>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守 TI 效率 ｜ 补搜索缺口 ｜ 验 Q4 模型</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8" name="Rectangle 7"/>
          <p:cNvSpPr/>
          <p:nvPr/>
        </p:nvSpPr>
        <p:spPr>
          <a:xfrm>
            <a:off x="548640" y="2231136"/>
            <a:ext cx="5410047" cy="331012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9" name="TextBox 8"/>
          <p:cNvSpPr txBox="1"/>
          <p:nvPr/>
        </p:nvSpPr>
        <p:spPr>
          <a:xfrm>
            <a:off x="768096" y="2340864"/>
            <a:ext cx="4971135"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Q3 已验证的三条核心经验</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Rectangle 9"/>
          <p:cNvSpPr/>
          <p:nvPr/>
        </p:nvSpPr>
        <p:spPr>
          <a:xfrm>
            <a:off x="768096" y="2688336"/>
            <a:ext cx="4971135" cy="85953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1" name="Rectangle 10"/>
          <p:cNvSpPr/>
          <p:nvPr/>
        </p:nvSpPr>
        <p:spPr>
          <a:xfrm>
            <a:off x="768096" y="2688336"/>
            <a:ext cx="41148" cy="85953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2" name="TextBox 11"/>
          <p:cNvSpPr txBox="1"/>
          <p:nvPr/>
        </p:nvSpPr>
        <p:spPr>
          <a:xfrm>
            <a:off x="932688" y="2761488"/>
            <a:ext cx="4660239"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01｜扩圈</a:t>
            </a:r>
            <a:r>
              <a:rPr sz="1200" b="1">
                <a:solidFill>
                  <a:srgbClr val="FFFFFF"/>
                </a:solidFill>
                <a:latin typeface="微软雅黑" charset="0"/>
                <a:ea typeface="微软雅黑" charset="0"/>
                <a:cs typeface="微软雅黑" charset="0"/>
              </a:rPr>
              <a:t>逐步拓展新人群</a:t>
            </a:r>
            <a:endParaRPr sz="1200">
              <a:latin typeface="微软雅黑" charset="0"/>
              <a:ea typeface="微软雅黑" charset="0"/>
              <a:cs typeface="微软雅黑" charset="0"/>
            </a:endParaRPr>
          </a:p>
        </p:txBody>
      </p:sp>
      <p:sp>
        <p:nvSpPr>
          <p:cNvPr id="13" name="TextBox 12"/>
          <p:cNvSpPr txBox="1"/>
          <p:nvPr/>
        </p:nvSpPr>
        <p:spPr>
          <a:xfrm>
            <a:off x="932688" y="2980944"/>
            <a:ext cx="4660239" cy="206375"/>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专业跑山性能 → 先锋机能审美</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nvSpPr>
        <p:spPr>
          <a:xfrm>
            <a:off x="932688" y="3200400"/>
            <a:ext cx="4660239" cy="380365"/>
          </a:xfrm>
          <a:prstGeom prst="rect">
            <a:avLst/>
          </a:prstGeom>
          <a:noFill/>
        </p:spPr>
        <p:txBody>
          <a:bodyPr wrap="square" lIns="0" tIns="0" rIns="0" bIns="0" anchor="t">
            <a:spAutoFit/>
          </a:bodyPr>
          <a:lstStyle/>
          <a:p>
            <a:pPr algn="l">
              <a:lnSpc>
                <a:spcPct val="124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专业性能的时尚化翻译，是黑山有效的破圈方式。时尚大片 + 夏日灵感穿搭让黑山进入旅行、度假</a:t>
            </a:r>
            <a:r>
              <a:rPr lang="zh-CN" sz="1000" b="0" i="0">
                <a:solidFill>
                  <a:srgbClr val="D8D8D8"/>
                </a:solidFill>
                <a:latin typeface="微软雅黑" panose="020B0503020204020204" charset="-122"/>
                <a:ea typeface="微软雅黑" panose="020B0503020204020204" charset="-122"/>
                <a:cs typeface="微软雅黑" panose="020B0503020204020204" charset="-122"/>
              </a:rPr>
              <a:t>场景</a:t>
            </a:r>
            <a:r>
              <a:rPr sz="1000" b="0" i="0">
                <a:solidFill>
                  <a:srgbClr val="D8D8D8"/>
                </a:solidFill>
                <a:latin typeface="微软雅黑" panose="020B0503020204020204" charset="-122"/>
                <a:ea typeface="微软雅黑" panose="020B0503020204020204" charset="-122"/>
                <a:cs typeface="微软雅黑" panose="020B0503020204020204" charset="-122"/>
              </a:rPr>
              <a:t>，TI 规模增长 81.53%。</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5" name="Rectangle 14"/>
          <p:cNvSpPr/>
          <p:nvPr/>
        </p:nvSpPr>
        <p:spPr>
          <a:xfrm>
            <a:off x="768096" y="3621024"/>
            <a:ext cx="4971135" cy="85953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6" name="Rectangle 15"/>
          <p:cNvSpPr/>
          <p:nvPr/>
        </p:nvSpPr>
        <p:spPr>
          <a:xfrm>
            <a:off x="768096" y="3621024"/>
            <a:ext cx="41148" cy="85953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7" name="TextBox 16"/>
          <p:cNvSpPr txBox="1"/>
          <p:nvPr/>
        </p:nvSpPr>
        <p:spPr>
          <a:xfrm>
            <a:off x="932688" y="3694176"/>
            <a:ext cx="4660239"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02｜效</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率来源优质</a:t>
            </a:r>
            <a:r>
              <a:rPr sz="1200" b="1" i="0">
                <a:solidFill>
                  <a:srgbClr val="FFFFFF"/>
                </a:solidFill>
                <a:latin typeface="微软雅黑" panose="020B0503020204020204" charset="-122"/>
                <a:ea typeface="微软雅黑" panose="020B0503020204020204" charset="-122"/>
                <a:cs typeface="微软雅黑" panose="020B0503020204020204" charset="-122"/>
              </a:rPr>
              <a:t>「内容 × 人群」组合</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932688" y="3913632"/>
            <a:ext cx="4660239" cy="206375"/>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从「达人 / 内容管理」→「内容 × 人群组合管理」</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932688" y="4133087"/>
            <a:ext cx="4660239" cy="380365"/>
          </a:xfrm>
          <a:prstGeom prst="rect">
            <a:avLst/>
          </a:prstGeom>
          <a:noFill/>
        </p:spPr>
        <p:txBody>
          <a:bodyPr wrap="square" lIns="0" tIns="0" rIns="0" bIns="0" anchor="t">
            <a:spAutoFit/>
          </a:bodyPr>
          <a:lstStyle/>
          <a:p>
            <a:pPr algn="l">
              <a:lnSpc>
                <a:spcPct val="124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不同传播任务下的最优组合完全不同：UGC 晒鞋 × 品牌人群 CPTI 1.37，时尚跑者 × 竞品人群 CPUV 14.17，时尚穿搭 × 奢品人群 CPTI 1.34 但 CPUV 205.57。</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0" name="Rectangle 19"/>
          <p:cNvSpPr/>
          <p:nvPr/>
        </p:nvSpPr>
        <p:spPr>
          <a:xfrm>
            <a:off x="768096" y="4553712"/>
            <a:ext cx="4971135" cy="85953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1" name="Rectangle 20"/>
          <p:cNvSpPr/>
          <p:nvPr/>
        </p:nvSpPr>
        <p:spPr>
          <a:xfrm>
            <a:off x="768096" y="4553712"/>
            <a:ext cx="41148" cy="85953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2" name="TextBox 21"/>
          <p:cNvSpPr txBox="1"/>
          <p:nvPr/>
        </p:nvSpPr>
        <p:spPr>
          <a:xfrm>
            <a:off x="932688" y="4626864"/>
            <a:ext cx="4660239"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03｜</a:t>
            </a:r>
            <a:r>
              <a:rPr sz="1200" b="1">
                <a:solidFill>
                  <a:srgbClr val="FFFFFF"/>
                </a:solidFill>
                <a:latin typeface="微软雅黑" charset="0"/>
                <a:ea typeface="微软雅黑" charset="0"/>
                <a:cs typeface="微软雅黑" charset="0"/>
              </a:rPr>
              <a:t>持续放量</a:t>
            </a:r>
            <a:r>
              <a:rPr lang="zh-CN" altLang="en-US" sz="1200" b="1">
                <a:solidFill>
                  <a:srgbClr val="FFFFFF"/>
                </a:solidFill>
                <a:latin typeface="微软雅黑" charset="0"/>
                <a:ea typeface="微软雅黑" charset="0"/>
                <a:cs typeface="微软雅黑" charset="0"/>
              </a:rPr>
              <a:t>优质</a:t>
            </a:r>
            <a:r>
              <a:rPr sz="1200" b="1" i="0">
                <a:solidFill>
                  <a:srgbClr val="FFFFFF"/>
                </a:solidFill>
                <a:latin typeface="微软雅黑" panose="020B0503020204020204" charset="-122"/>
                <a:ea typeface="微软雅黑" panose="020B0503020204020204" charset="-122"/>
                <a:cs typeface="微软雅黑" panose="020B0503020204020204" charset="-122"/>
              </a:rPr>
              <a:t>投放</a:t>
            </a:r>
            <a:r>
              <a:rPr sz="1200" b="1">
                <a:solidFill>
                  <a:srgbClr val="FFFFFF"/>
                </a:solidFill>
                <a:latin typeface="微软雅黑" charset="0"/>
                <a:ea typeface="微软雅黑" charset="0"/>
                <a:cs typeface="微软雅黑" charset="0"/>
              </a:rPr>
              <a:t>组合</a:t>
            </a:r>
            <a:endParaRPr sz="1200">
              <a:latin typeface="微软雅黑" panose="020B0503020204020204" charset="-122"/>
              <a:ea typeface="微软雅黑" panose="020B0503020204020204" charset="-122"/>
              <a:cs typeface="微软雅黑" panose="020B0503020204020204" charset="-122"/>
            </a:endParaRPr>
          </a:p>
        </p:txBody>
      </p:sp>
      <p:sp>
        <p:nvSpPr>
          <p:cNvPr id="23" name="TextBox 22"/>
          <p:cNvSpPr txBox="1"/>
          <p:nvPr/>
        </p:nvSpPr>
        <p:spPr>
          <a:xfrm>
            <a:off x="932688" y="4846320"/>
            <a:ext cx="4660239" cy="206375"/>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E8B04B"/>
                </a:solidFill>
                <a:latin typeface="微软雅黑" panose="020B0503020204020204" charset="-122"/>
                <a:ea typeface="微软雅黑" panose="020B0503020204020204" charset="-122"/>
                <a:cs typeface="微软雅黑" panose="020B0503020204020204" charset="-122"/>
              </a:rPr>
              <a:t>新内容测试扩圈 → 优质内容沉淀 → 老内容复投 / 搜索承接</a:t>
            </a:r>
            <a:endParaRPr sz="11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24" name="TextBox 23"/>
          <p:cNvSpPr txBox="1"/>
          <p:nvPr/>
        </p:nvSpPr>
        <p:spPr>
          <a:xfrm>
            <a:off x="932688" y="5065776"/>
            <a:ext cx="4660239" cy="380365"/>
          </a:xfrm>
          <a:prstGeom prst="rect">
            <a:avLst/>
          </a:prstGeom>
          <a:noFill/>
        </p:spPr>
        <p:txBody>
          <a:bodyPr wrap="square" lIns="0" tIns="0" rIns="0" bIns="0" anchor="t">
            <a:spAutoFit/>
          </a:bodyPr>
          <a:lstStyle/>
          <a:p>
            <a:pPr algn="l">
              <a:lnSpc>
                <a:spcPct val="124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Q2 老笔记以 60.27% 预算贡献 71% 深种草 TI（CPTI 2.26 vs 新笔记 3.64），内容存在持续复投价值。</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5" name="Rectangle 24"/>
          <p:cNvSpPr/>
          <p:nvPr/>
        </p:nvSpPr>
        <p:spPr>
          <a:xfrm>
            <a:off x="6233007" y="2231136"/>
            <a:ext cx="5410047" cy="3310128"/>
          </a:xfrm>
          <a:prstGeom prst="rect">
            <a:avLst/>
          </a:prstGeom>
          <a:solidFill>
            <a:srgbClr val="20202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6" name="TextBox 25"/>
          <p:cNvSpPr txBox="1"/>
          <p:nvPr/>
        </p:nvSpPr>
        <p:spPr>
          <a:xfrm>
            <a:off x="6452406" y="2340834"/>
            <a:ext cx="4971135"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基于当前 KPI，Q3 剩余投放怎么调</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 name="Rectangle 26"/>
          <p:cNvSpPr/>
          <p:nvPr/>
        </p:nvSpPr>
        <p:spPr>
          <a:xfrm>
            <a:off x="6493616" y="2688370"/>
            <a:ext cx="4971135" cy="85955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8" name="Rectangle 27"/>
          <p:cNvSpPr/>
          <p:nvPr/>
        </p:nvSpPr>
        <p:spPr>
          <a:xfrm>
            <a:off x="6452463" y="2688336"/>
            <a:ext cx="41148" cy="64008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9" name="TextBox 28"/>
          <p:cNvSpPr txBox="1"/>
          <p:nvPr/>
        </p:nvSpPr>
        <p:spPr>
          <a:xfrm>
            <a:off x="6607858" y="2761466"/>
            <a:ext cx="4660239"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① TI ｜ 守住</a:t>
            </a:r>
            <a:r>
              <a:rPr lang="en-US" altLang="zh-CN" sz="1200" b="1" i="0">
                <a:solidFill>
                  <a:srgbClr val="FFFFFF"/>
                </a:solidFill>
                <a:latin typeface="微软雅黑" panose="020B0503020204020204" charset="-122"/>
                <a:ea typeface="微软雅黑" panose="020B0503020204020204" charset="-122"/>
                <a:cs typeface="微软雅黑" panose="020B0503020204020204" charset="-122"/>
              </a:rPr>
              <a:t>TI</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留存</a:t>
            </a:r>
            <a:r>
              <a:rPr sz="1200" b="1" i="0">
                <a:solidFill>
                  <a:srgbClr val="FFFFFF"/>
                </a:solidFill>
                <a:latin typeface="微软雅黑" panose="020B0503020204020204" charset="-122"/>
                <a:ea typeface="微软雅黑" panose="020B0503020204020204" charset="-122"/>
                <a:cs typeface="微软雅黑" panose="020B0503020204020204" charset="-122"/>
              </a:rPr>
              <a:t>，</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稳定</a:t>
            </a:r>
            <a:r>
              <a:rPr lang="zh-CN" altLang="en-US" sz="1200" b="1">
                <a:solidFill>
                  <a:srgbClr val="FFFFFF"/>
                </a:solidFill>
                <a:latin typeface="微软雅黑" charset="0"/>
                <a:ea typeface="微软雅黑" charset="0"/>
                <a:cs typeface="微软雅黑" charset="0"/>
              </a:rPr>
              <a:t>维持</a:t>
            </a:r>
            <a:r>
              <a:rPr sz="1200" b="1" i="0">
                <a:solidFill>
                  <a:srgbClr val="FFFFFF"/>
                </a:solidFill>
                <a:latin typeface="微软雅黑" panose="020B0503020204020204" charset="-122"/>
                <a:ea typeface="微软雅黑" panose="020B0503020204020204" charset="-122"/>
                <a:cs typeface="微软雅黑" panose="020B0503020204020204" charset="-122"/>
              </a:rPr>
              <a:t>高效组合</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0" name="TextBox 29"/>
          <p:cNvSpPr txBox="1"/>
          <p:nvPr/>
        </p:nvSpPr>
        <p:spPr>
          <a:xfrm>
            <a:off x="6617106" y="3026073"/>
            <a:ext cx="4660239" cy="184150"/>
          </a:xfrm>
          <a:prstGeom prst="rect">
            <a:avLst/>
          </a:prstGeom>
          <a:noFill/>
        </p:spPr>
        <p:txBody>
          <a:bodyPr wrap="square" lIns="0" tIns="0" rIns="0" bIns="0" anchor="t">
            <a:spAutoFit/>
          </a:bodyPr>
          <a:lstStyle/>
          <a:p>
            <a:pPr algn="l">
              <a:lnSpc>
                <a:spcPct val="120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高效「内容 × 人群」组合</a:t>
            </a:r>
            <a:r>
              <a:rPr sz="1000">
                <a:solidFill>
                  <a:srgbClr val="D8D8D8"/>
                </a:solidFill>
                <a:latin typeface="微软雅黑" charset="0"/>
                <a:ea typeface="微软雅黑" charset="0"/>
                <a:cs typeface="微软雅黑" charset="0"/>
              </a:rPr>
              <a:t>维稳</a:t>
            </a:r>
            <a:r>
              <a:rPr lang="zh-CN" altLang="en-US" sz="1000">
                <a:solidFill>
                  <a:srgbClr val="D8D8D8"/>
                </a:solidFill>
                <a:latin typeface="微软雅黑" charset="0"/>
                <a:ea typeface="微软雅黑" charset="0"/>
                <a:cs typeface="微软雅黑" charset="0"/>
              </a:rPr>
              <a:t>投放</a:t>
            </a:r>
            <a:r>
              <a:rPr sz="1000" b="0" i="0">
                <a:solidFill>
                  <a:srgbClr val="D8D8D8"/>
                </a:solidFill>
                <a:latin typeface="微软雅黑" panose="020B0503020204020204" charset="-122"/>
                <a:ea typeface="微软雅黑" panose="020B0503020204020204" charset="-122"/>
                <a:cs typeface="微软雅黑" panose="020B0503020204020204" charset="-122"/>
              </a:rPr>
              <a:t>，</a:t>
            </a:r>
            <a:r>
              <a:rPr sz="1000">
                <a:solidFill>
                  <a:srgbClr val="D8D8D8"/>
                </a:solidFill>
                <a:latin typeface="微软雅黑" charset="0"/>
                <a:ea typeface="微软雅黑" charset="0"/>
                <a:cs typeface="微软雅黑" charset="0"/>
              </a:rPr>
              <a:t>留存当前拉新TI</a:t>
            </a:r>
            <a:endParaRPr sz="1000">
              <a:latin typeface="微软雅黑" charset="0"/>
              <a:ea typeface="微软雅黑" charset="0"/>
              <a:cs typeface="微软雅黑" charset="0"/>
            </a:endParaRPr>
          </a:p>
        </p:txBody>
      </p:sp>
      <p:sp>
        <p:nvSpPr>
          <p:cNvPr id="32" name="Rectangle 31"/>
          <p:cNvSpPr/>
          <p:nvPr/>
        </p:nvSpPr>
        <p:spPr>
          <a:xfrm>
            <a:off x="6452463" y="3621021"/>
            <a:ext cx="4971135" cy="851244"/>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3" name="Rectangle 32"/>
          <p:cNvSpPr/>
          <p:nvPr/>
        </p:nvSpPr>
        <p:spPr>
          <a:xfrm>
            <a:off x="6452373" y="2688370"/>
            <a:ext cx="41243" cy="85955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4" name="TextBox 33"/>
          <p:cNvSpPr txBox="1"/>
          <p:nvPr/>
        </p:nvSpPr>
        <p:spPr>
          <a:xfrm>
            <a:off x="6617106" y="3694117"/>
            <a:ext cx="4660239"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② 搜索 ｜ 当前最大缺口，优先补</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5" name="TextBox 34"/>
          <p:cNvSpPr txBox="1"/>
          <p:nvPr/>
        </p:nvSpPr>
        <p:spPr>
          <a:xfrm>
            <a:off x="6617106" y="3977171"/>
            <a:ext cx="4660239" cy="368935"/>
          </a:xfrm>
          <a:prstGeom prst="rect">
            <a:avLst/>
          </a:prstGeom>
          <a:noFill/>
        </p:spPr>
        <p:txBody>
          <a:bodyPr wrap="square" lIns="0" tIns="0" rIns="0" bIns="0" anchor="t">
            <a:spAutoFit/>
          </a:bodyPr>
          <a:lstStyle/>
          <a:p>
            <a:pPr algn="l">
              <a:lnSpc>
                <a:spcPct val="120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剩余阶段优先放大能够带动品牌 / 产品主动搜索</a:t>
            </a:r>
            <a:r>
              <a:rPr lang="en-US" altLang="zh-CN" sz="1000" b="0" i="0">
                <a:solidFill>
                  <a:srgbClr val="D8D8D8"/>
                </a:solidFill>
                <a:latin typeface="微软雅黑" panose="020B0503020204020204" charset="-122"/>
                <a:ea typeface="微软雅黑" panose="020B0503020204020204" charset="-122"/>
                <a:cs typeface="微软雅黑" panose="020B0503020204020204" charset="-122"/>
              </a:rPr>
              <a:t>/</a:t>
            </a:r>
            <a:r>
              <a:rPr lang="zh-CN" altLang="en-US" sz="1000" b="0" i="0">
                <a:solidFill>
                  <a:srgbClr val="D8D8D8"/>
                </a:solidFill>
                <a:latin typeface="微软雅黑" panose="020B0503020204020204" charset="-122"/>
                <a:ea typeface="微软雅黑" panose="020B0503020204020204" charset="-122"/>
                <a:cs typeface="微软雅黑" panose="020B0503020204020204" charset="-122"/>
              </a:rPr>
              <a:t>搜组成本较低</a:t>
            </a:r>
            <a:r>
              <a:rPr sz="1000" b="0" i="0">
                <a:solidFill>
                  <a:srgbClr val="D8D8D8"/>
                </a:solidFill>
                <a:latin typeface="微软雅黑" panose="020B0503020204020204" charset="-122"/>
                <a:ea typeface="微软雅黑" panose="020B0503020204020204" charset="-122"/>
                <a:cs typeface="微软雅黑" panose="020B0503020204020204" charset="-122"/>
              </a:rPr>
              <a:t>的内容，补搜索目标缺口。</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7" name="Rectangle 36"/>
          <p:cNvSpPr/>
          <p:nvPr/>
        </p:nvSpPr>
        <p:spPr>
          <a:xfrm>
            <a:off x="6452463" y="4560045"/>
            <a:ext cx="4971135" cy="853184"/>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9" name="TextBox 38"/>
          <p:cNvSpPr txBox="1"/>
          <p:nvPr/>
        </p:nvSpPr>
        <p:spPr>
          <a:xfrm>
            <a:off x="6607835" y="4626887"/>
            <a:ext cx="4660239" cy="224790"/>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③ </a:t>
            </a:r>
            <a:r>
              <a:rPr lang="zh-CN" altLang="en-US" sz="1200" b="1" i="0">
                <a:solidFill>
                  <a:srgbClr val="FFFFFF"/>
                </a:solidFill>
                <a:latin typeface="微软雅黑" panose="020B0503020204020204" charset="-122"/>
                <a:ea typeface="微软雅黑" panose="020B0503020204020204" charset="-122"/>
                <a:cs typeface="Arial" panose="020B0604020202020204" pitchFamily="34" charset="0"/>
              </a:rPr>
              <a:t>目标</a:t>
            </a:r>
            <a:r>
              <a:rPr sz="1200" b="1" i="0">
                <a:solidFill>
                  <a:srgbClr val="FFFFFF"/>
                </a:solidFill>
                <a:latin typeface="微软雅黑" panose="020B0503020204020204" charset="-122"/>
                <a:ea typeface="微软雅黑" panose="020B0503020204020204" charset="-122"/>
                <a:cs typeface="微软雅黑" panose="020B0503020204020204" charset="-122"/>
              </a:rPr>
              <a:t> ｜ </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不同</a:t>
            </a:r>
            <a:r>
              <a:rPr lang="en-US" altLang="zh-CN" sz="1200" b="1" i="0">
                <a:solidFill>
                  <a:srgbClr val="FFFFFF"/>
                </a:solidFill>
                <a:latin typeface="微软雅黑" panose="020B0503020204020204" charset="-122"/>
                <a:ea typeface="微软雅黑" panose="020B0503020204020204" charset="-122"/>
                <a:cs typeface="微软雅黑" panose="020B0503020204020204" charset="-122"/>
              </a:rPr>
              <a:t>KPI</a:t>
            </a:r>
            <a:r>
              <a:rPr lang="zh-CN" altLang="en-US" sz="1200" b="1" i="0">
                <a:solidFill>
                  <a:srgbClr val="FFFFFF"/>
                </a:solidFill>
                <a:latin typeface="微软雅黑" panose="020B0503020204020204" charset="-122"/>
                <a:ea typeface="微软雅黑" panose="020B0503020204020204" charset="-122"/>
                <a:cs typeface="微软雅黑" panose="020B0503020204020204" charset="-122"/>
              </a:rPr>
              <a:t>担任不同目标</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TextBox 39"/>
          <p:cNvSpPr txBox="1"/>
          <p:nvPr/>
        </p:nvSpPr>
        <p:spPr>
          <a:xfrm>
            <a:off x="6617106" y="4851641"/>
            <a:ext cx="4660239" cy="184150"/>
          </a:xfrm>
          <a:prstGeom prst="rect">
            <a:avLst/>
          </a:prstGeom>
          <a:noFill/>
        </p:spPr>
        <p:txBody>
          <a:bodyPr wrap="square" lIns="0" tIns="0" rIns="0" bIns="0" anchor="t">
            <a:spAutoFit/>
          </a:bodyPr>
          <a:lstStyle/>
          <a:p>
            <a:pPr algn="l">
              <a:lnSpc>
                <a:spcPct val="120000"/>
              </a:lnSpc>
              <a:spcBef>
                <a:spcPts val="0"/>
              </a:spcBef>
              <a:spcAft>
                <a:spcPts val="300"/>
              </a:spcAft>
            </a:pPr>
            <a:r>
              <a:rPr sz="1000" b="0" i="0">
                <a:solidFill>
                  <a:srgbClr val="D8D8D8"/>
                </a:solidFill>
                <a:latin typeface="微软雅黑" panose="020B0503020204020204" charset="-122"/>
                <a:ea typeface="微软雅黑" panose="020B0503020204020204" charset="-122"/>
                <a:cs typeface="微软雅黑" panose="020B0503020204020204" charset="-122"/>
              </a:rPr>
              <a:t>扩圈内容看点击互动，深种草内容看 TI，转化内容看 CPUV</a:t>
            </a:r>
            <a:endParaRPr sz="10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47" name="Rectangle 46"/>
          <p:cNvSpPr/>
          <p:nvPr/>
        </p:nvSpPr>
        <p:spPr>
          <a:xfrm>
            <a:off x="548640" y="5632704"/>
            <a:ext cx="11094415" cy="475488"/>
          </a:xfrm>
          <a:prstGeom prst="rect">
            <a:avLst/>
          </a:prstGeom>
          <a:solidFill>
            <a:srgbClr val="2E271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8" name="Rectangle 47"/>
          <p:cNvSpPr/>
          <p:nvPr/>
        </p:nvSpPr>
        <p:spPr>
          <a:xfrm>
            <a:off x="548640" y="5632704"/>
            <a:ext cx="50292" cy="475488"/>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9" name="TextBox 48"/>
          <p:cNvSpPr txBox="1"/>
          <p:nvPr/>
        </p:nvSpPr>
        <p:spPr>
          <a:xfrm>
            <a:off x="749808" y="5778373"/>
            <a:ext cx="10728655" cy="184150"/>
          </a:xfrm>
          <a:prstGeom prst="rect">
            <a:avLst/>
          </a:prstGeom>
          <a:noFill/>
        </p:spPr>
        <p:txBody>
          <a:bodyPr wrap="square" lIns="0" tIns="0" rIns="0" bIns="0" anchor="ctr">
            <a:spAutoFit/>
          </a:bodyPr>
          <a:lstStyle/>
          <a:p>
            <a:pPr algn="l">
              <a:lnSpc>
                <a:spcPct val="120000"/>
              </a:lnSpc>
              <a:spcBef>
                <a:spcPts val="0"/>
              </a:spcBef>
              <a:spcAft>
                <a:spcPts val="300"/>
              </a:spcAft>
            </a:pPr>
            <a:r>
              <a:rPr lang="en-US" sz="1000" b="1" i="0">
                <a:solidFill>
                  <a:srgbClr val="FFFFFF"/>
                </a:solidFill>
                <a:latin typeface="微软雅黑" panose="020B0503020204020204" charset="-122"/>
                <a:ea typeface="微软雅黑" panose="020B0503020204020204" charset="-122"/>
                <a:cs typeface="微软雅黑" panose="020B0503020204020204" charset="-122"/>
              </a:rPr>
              <a:t>Q3</a:t>
            </a:r>
            <a:r>
              <a:rPr lang="zh-CN" altLang="en-US" sz="1000" b="1" i="0">
                <a:solidFill>
                  <a:srgbClr val="FFFFFF"/>
                </a:solidFill>
                <a:latin typeface="微软雅黑" panose="020B0503020204020204" charset="-122"/>
                <a:ea typeface="微软雅黑" panose="020B0503020204020204" charset="-122"/>
                <a:cs typeface="微软雅黑" panose="020B0503020204020204" charset="-122"/>
              </a:rPr>
              <a:t>可反哺到</a:t>
            </a:r>
            <a:r>
              <a:rPr sz="1000" b="1" i="0">
                <a:solidFill>
                  <a:srgbClr val="FFFFFF"/>
                </a:solidFill>
                <a:latin typeface="微软雅黑" panose="020B0503020204020204" charset="-122"/>
                <a:ea typeface="微软雅黑" panose="020B0503020204020204" charset="-122"/>
                <a:cs typeface="微软雅黑" panose="020B0503020204020204" charset="-122"/>
              </a:rPr>
              <a:t>Q4</a:t>
            </a:r>
            <a:r>
              <a:rPr lang="zh-CN" sz="1000" b="1" i="0">
                <a:solidFill>
                  <a:srgbClr val="FFFFFF"/>
                </a:solidFill>
                <a:latin typeface="微软雅黑" panose="020B0503020204020204" charset="-122"/>
                <a:ea typeface="微软雅黑" panose="020B0503020204020204" charset="-122"/>
                <a:cs typeface="微软雅黑" panose="020B0503020204020204" charset="-122"/>
              </a:rPr>
              <a:t>的策略</a:t>
            </a:r>
            <a:r>
              <a:rPr sz="1000" b="1" i="0">
                <a:solidFill>
                  <a:srgbClr val="FFFFFF"/>
                </a:solidFill>
                <a:latin typeface="微软雅黑" panose="020B0503020204020204" charset="-122"/>
                <a:ea typeface="微软雅黑" panose="020B0503020204020204" charset="-122"/>
                <a:cs typeface="微软雅黑" panose="020B0503020204020204" charset="-122"/>
              </a:rPr>
              <a:t>：</a:t>
            </a:r>
            <a:r>
              <a:rPr lang="zh-CN" altLang="en-US" sz="1000" b="1" i="0">
                <a:solidFill>
                  <a:srgbClr val="FFFFFF"/>
                </a:solidFill>
                <a:latin typeface="微软雅黑" panose="020B0503020204020204" charset="-122"/>
                <a:ea typeface="微软雅黑" panose="020B0503020204020204" charset="-122"/>
                <a:cs typeface="微软雅黑" panose="020B0503020204020204" charset="-122"/>
              </a:rPr>
              <a:t>旧笔记长尾效率持续沉淀</a:t>
            </a:r>
            <a:r>
              <a:rPr sz="1000" b="1" i="0">
                <a:solidFill>
                  <a:srgbClr val="FFFFFF"/>
                </a:solidFill>
                <a:latin typeface="微软雅黑" panose="020B0503020204020204" charset="-122"/>
                <a:ea typeface="微软雅黑" panose="020B0503020204020204" charset="-122"/>
                <a:cs typeface="微软雅黑" panose="020B0503020204020204" charset="-122"/>
              </a:rPr>
              <a:t>TI </a:t>
            </a:r>
            <a:r>
              <a:rPr lang="zh-CN" altLang="en-US" sz="1000" b="1" i="0">
                <a:solidFill>
                  <a:srgbClr val="FFFFFF"/>
                </a:solidFill>
                <a:latin typeface="微软雅黑" panose="020B0503020204020204" charset="-122"/>
                <a:ea typeface="微软雅黑" panose="020B0503020204020204" charset="-122"/>
                <a:cs typeface="微软雅黑" panose="020B0503020204020204" charset="-122"/>
              </a:rPr>
              <a:t>、优质组合保持放量迭代</a:t>
            </a:r>
            <a:r>
              <a:rPr sz="1000" b="1" i="0">
                <a:solidFill>
                  <a:srgbClr val="FFFFFF"/>
                </a:solidFill>
                <a:latin typeface="微软雅黑" panose="020B0503020204020204" charset="-122"/>
                <a:ea typeface="微软雅黑" panose="020B0503020204020204" charset="-122"/>
                <a:cs typeface="微软雅黑" panose="020B0503020204020204" charset="-122"/>
              </a:rPr>
              <a:t>、Q4 模型靠小预算前置验证。</a:t>
            </a:r>
            <a:endParaRPr sz="10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0" name="Rectangle 49"/>
          <p:cNvSpPr/>
          <p:nvPr/>
        </p:nvSpPr>
        <p:spPr>
          <a:xfrm>
            <a:off x="548640" y="6510528"/>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Rectangle 20"/>
          <p:cNvSpPr/>
          <p:nvPr/>
        </p:nvSpPr>
        <p:spPr>
          <a:xfrm>
            <a:off x="6452373" y="4560091"/>
            <a:ext cx="41148" cy="85953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51" name="Rectangle 20"/>
          <p:cNvSpPr/>
          <p:nvPr/>
        </p:nvSpPr>
        <p:spPr>
          <a:xfrm>
            <a:off x="6452373" y="3621021"/>
            <a:ext cx="41148" cy="85953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 name="Rectangle 2"/>
          <p:cNvSpPr/>
          <p:nvPr/>
        </p:nvSpPr>
        <p:spPr>
          <a:xfrm>
            <a:off x="548640" y="2761488"/>
            <a:ext cx="822960" cy="4572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4" name="TextBox 3"/>
          <p:cNvSpPr txBox="1"/>
          <p:nvPr/>
        </p:nvSpPr>
        <p:spPr>
          <a:xfrm>
            <a:off x="548640" y="1874519"/>
            <a:ext cx="9144000" cy="548640"/>
          </a:xfrm>
          <a:prstGeom prst="rect">
            <a:avLst/>
          </a:prstGeom>
          <a:noFill/>
        </p:spPr>
        <p:txBody>
          <a:bodyPr wrap="square" lIns="0" tIns="0" rIns="0" bIns="0" anchor="t">
            <a:spAutoFit/>
          </a:bodyPr>
          <a:lstStyle/>
          <a:p>
            <a:pPr algn="l">
              <a:lnSpc>
                <a:spcPct val="122000"/>
              </a:lnSpc>
              <a:spcBef>
                <a:spcPts val="0"/>
              </a:spcBef>
              <a:spcAft>
                <a:spcPts val="300"/>
              </a:spcAft>
            </a:pPr>
            <a:r>
              <a:rPr sz="4200" b="1" i="0">
                <a:solidFill>
                  <a:srgbClr val="E8B04B"/>
                </a:solidFill>
                <a:latin typeface="微软雅黑" panose="020B0503020204020204" charset="-122"/>
                <a:ea typeface="微软雅黑" panose="020B0503020204020204" charset="-122"/>
                <a:cs typeface="微软雅黑" panose="020B0503020204020204" charset="-122"/>
              </a:rPr>
              <a:t>PART 06</a:t>
            </a:r>
            <a:endParaRPr sz="420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548640" y="2971800"/>
            <a:ext cx="10515600" cy="731520"/>
          </a:xfrm>
          <a:prstGeom prst="rect">
            <a:avLst/>
          </a:prstGeom>
          <a:noFill/>
        </p:spPr>
        <p:txBody>
          <a:bodyPr wrap="square" lIns="0" tIns="0" rIns="0" bIns="0" anchor="t">
            <a:spAutoFit/>
          </a:bodyPr>
          <a:lstStyle/>
          <a:p>
            <a:pPr algn="l">
              <a:lnSpc>
                <a:spcPct val="122000"/>
              </a:lnSpc>
              <a:spcBef>
                <a:spcPts val="0"/>
              </a:spcBef>
              <a:spcAft>
                <a:spcPts val="300"/>
              </a:spcAft>
            </a:pPr>
            <a:r>
              <a:rPr sz="2700" b="1" i="0">
                <a:solidFill>
                  <a:srgbClr val="FFFFFF"/>
                </a:solidFill>
                <a:latin typeface="微软雅黑" panose="020B0503020204020204" charset="-122"/>
                <a:ea typeface="微软雅黑" panose="020B0503020204020204" charset="-122"/>
                <a:cs typeface="微软雅黑" panose="020B0503020204020204" charset="-122"/>
              </a:rPr>
              <a:t>Q4 策略规划</a:t>
            </a:r>
            <a:endParaRPr sz="2700" b="1" i="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06 ｜ P1</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8</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从 Q3 验证到 Q4 升级：</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Rectangle 4"/>
          <p:cNvSpPr/>
          <p:nvPr/>
        </p:nvSpPr>
        <p:spPr>
          <a:xfrm>
            <a:off x="548640" y="1371600"/>
            <a:ext cx="11094415" cy="71323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TextBox 5"/>
          <p:cNvSpPr txBox="1"/>
          <p:nvPr/>
        </p:nvSpPr>
        <p:spPr>
          <a:xfrm>
            <a:off x="822959" y="1545463"/>
            <a:ext cx="10545775" cy="374650"/>
          </a:xfrm>
          <a:prstGeom prst="rect">
            <a:avLst/>
          </a:prstGeom>
          <a:noFill/>
        </p:spPr>
        <p:txBody>
          <a:bodyPr wrap="square" lIns="0" tIns="0" rIns="0" bIns="0" anchor="ctr">
            <a:spAutoFit/>
          </a:bodyPr>
          <a:lstStyle/>
          <a:p>
            <a:pPr algn="l">
              <a:lnSpc>
                <a:spcPct val="122000"/>
              </a:lnSpc>
              <a:spcBef>
                <a:spcPts val="0"/>
              </a:spcBef>
              <a:spcAft>
                <a:spcPts val="300"/>
              </a:spcAft>
            </a:pPr>
            <a:r>
              <a:rPr sz="1300" b="1" i="0">
                <a:solidFill>
                  <a:srgbClr val="FFFFFF"/>
                </a:solidFill>
                <a:latin typeface="微软雅黑" panose="020B0503020204020204" charset="-122"/>
                <a:ea typeface="微软雅黑" panose="020B0503020204020204" charset="-122"/>
                <a:cs typeface="微软雅黑" panose="020B0503020204020204" charset="-122"/>
              </a:rPr>
              <a:t>在 Q3 已验证的人群、内容、心智基础上，应对季节变化，</a:t>
            </a:r>
            <a:r>
              <a:rPr sz="2000" b="1" i="0">
                <a:solidFill>
                  <a:srgbClr val="FFC000"/>
                </a:solidFill>
                <a:latin typeface="微软雅黑" panose="020B0503020204020204" charset="-122"/>
                <a:ea typeface="微软雅黑" panose="020B0503020204020204" charset="-122"/>
                <a:cs typeface="微软雅黑" panose="020B0503020204020204" charset="-122"/>
              </a:rPr>
              <a:t>从「破圈」进一步进入「占位」</a:t>
            </a:r>
            <a:endParaRPr sz="2000" b="1" i="0">
              <a:solidFill>
                <a:srgbClr val="FFC000"/>
              </a:solidFill>
              <a:latin typeface="微软雅黑" panose="020B0503020204020204" charset="-122"/>
              <a:ea typeface="微软雅黑" panose="020B0503020204020204" charset="-122"/>
              <a:cs typeface="微软雅黑" panose="020B0503020204020204" charset="-122"/>
            </a:endParaRPr>
          </a:p>
        </p:txBody>
      </p:sp>
      <p:sp>
        <p:nvSpPr>
          <p:cNvPr id="7" name="Rectangle 6"/>
          <p:cNvSpPr/>
          <p:nvPr/>
        </p:nvSpPr>
        <p:spPr>
          <a:xfrm>
            <a:off x="548640" y="2267712"/>
            <a:ext cx="3393338" cy="22860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8" name="Rectangle 7"/>
          <p:cNvSpPr/>
          <p:nvPr/>
        </p:nvSpPr>
        <p:spPr>
          <a:xfrm>
            <a:off x="548640" y="2267712"/>
            <a:ext cx="3393338" cy="54864"/>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9" name="TextBox 8"/>
          <p:cNvSpPr txBox="1"/>
          <p:nvPr/>
        </p:nvSpPr>
        <p:spPr>
          <a:xfrm>
            <a:off x="749808" y="2432304"/>
            <a:ext cx="2991002" cy="292608"/>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Q3 已验证</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749808" y="2761488"/>
            <a:ext cx="2991002" cy="310896"/>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专业价值时尚化 × 生活方式扩圈 × 内容人群组合</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1" name="Rectangle 10"/>
          <p:cNvSpPr/>
          <p:nvPr/>
        </p:nvSpPr>
        <p:spPr>
          <a:xfrm>
            <a:off x="749808" y="3127248"/>
            <a:ext cx="2991002"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3" name="TextBox 12"/>
          <p:cNvSpPr txBox="1"/>
          <p:nvPr>
            <p:custDataLst>
              <p:tags r:id="rId1"/>
            </p:custDataLst>
          </p:nvPr>
        </p:nvSpPr>
        <p:spPr>
          <a:xfrm>
            <a:off x="4051706" y="3127248"/>
            <a:ext cx="256032" cy="365760"/>
          </a:xfrm>
          <a:prstGeom prst="rect">
            <a:avLst/>
          </a:prstGeom>
          <a:noFill/>
        </p:spPr>
        <p:txBody>
          <a:bodyPr wrap="square" lIns="0" tIns="0" rIns="0" bIns="0" anchor="t">
            <a:spAutoFit/>
          </a:bodyPr>
          <a:lstStyle/>
          <a:p>
            <a:pPr algn="ctr">
              <a:lnSpc>
                <a:spcPct val="122000"/>
              </a:lnSpc>
              <a:spcBef>
                <a:spcPts val="0"/>
              </a:spcBef>
              <a:spcAft>
                <a:spcPts val="300"/>
              </a:spcAft>
            </a:pPr>
            <a:r>
              <a:rPr sz="1300" b="1" i="0">
                <a:solidFill>
                  <a:srgbClr val="8C8C8C"/>
                </a:solidFill>
                <a:latin typeface="微软雅黑" panose="020B0503020204020204" charset="-122"/>
                <a:ea typeface="微软雅黑" panose="020B0503020204020204" charset="-122"/>
                <a:cs typeface="微软雅黑" panose="020B0503020204020204" charset="-122"/>
              </a:rPr>
              <a:t>▼</a:t>
            </a:r>
            <a:endParaRPr sz="1300" b="1" i="0">
              <a:solidFill>
                <a:srgbClr val="8C8C8C"/>
              </a:solidFill>
              <a:latin typeface="微软雅黑" panose="020B0503020204020204" charset="-122"/>
              <a:ea typeface="微软雅黑" panose="020B0503020204020204" charset="-122"/>
              <a:cs typeface="微软雅黑" panose="020B0503020204020204" charset="-122"/>
            </a:endParaRPr>
          </a:p>
        </p:txBody>
      </p:sp>
      <p:sp>
        <p:nvSpPr>
          <p:cNvPr id="15" name="Rectangle 14"/>
          <p:cNvSpPr/>
          <p:nvPr>
            <p:custDataLst>
              <p:tags r:id="rId2"/>
            </p:custDataLst>
          </p:nvPr>
        </p:nvSpPr>
        <p:spPr>
          <a:xfrm>
            <a:off x="566953" y="3365627"/>
            <a:ext cx="3393338" cy="54864"/>
          </a:xfrm>
          <a:prstGeom prst="rect">
            <a:avLst/>
          </a:prstGeom>
          <a:solidFill>
            <a:srgbClr val="5FA8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6" name="TextBox 15"/>
          <p:cNvSpPr txBox="1"/>
          <p:nvPr>
            <p:custDataLst>
              <p:tags r:id="rId3"/>
            </p:custDataLst>
          </p:nvPr>
        </p:nvSpPr>
        <p:spPr>
          <a:xfrm>
            <a:off x="598576" y="3621024"/>
            <a:ext cx="2991002" cy="292608"/>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Q4 新变量</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custDataLst>
              <p:tags r:id="rId4"/>
            </p:custDataLst>
          </p:nvPr>
        </p:nvSpPr>
        <p:spPr>
          <a:xfrm>
            <a:off x="598576" y="3950208"/>
            <a:ext cx="2991002" cy="310896"/>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5FA8DC"/>
                </a:solidFill>
                <a:latin typeface="微软雅黑" panose="020B0503020204020204" charset="-122"/>
                <a:ea typeface="微软雅黑" panose="020B0503020204020204" charset="-122"/>
                <a:cs typeface="微软雅黑" panose="020B0503020204020204" charset="-122"/>
              </a:rPr>
              <a:t>GTX 加入 × 秋冬雨雪 × 双产品经营</a:t>
            </a:r>
            <a:endParaRPr sz="1050" b="1" i="0">
              <a:solidFill>
                <a:srgbClr val="5FA8DC"/>
              </a:solidFill>
              <a:latin typeface="微软雅黑" panose="020B0503020204020204" charset="-122"/>
              <a:ea typeface="微软雅黑" panose="020B0503020204020204" charset="-122"/>
              <a:cs typeface="微软雅黑" panose="020B0503020204020204" charset="-122"/>
            </a:endParaRPr>
          </a:p>
        </p:txBody>
      </p:sp>
      <p:sp>
        <p:nvSpPr>
          <p:cNvPr id="18" name="Rectangle 17"/>
          <p:cNvSpPr/>
          <p:nvPr>
            <p:custDataLst>
              <p:tags r:id="rId5"/>
            </p:custDataLst>
          </p:nvPr>
        </p:nvSpPr>
        <p:spPr>
          <a:xfrm>
            <a:off x="598576" y="4315968"/>
            <a:ext cx="2991002"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8" name="Rectangle 27"/>
          <p:cNvSpPr/>
          <p:nvPr/>
        </p:nvSpPr>
        <p:spPr>
          <a:xfrm>
            <a:off x="548640" y="4700016"/>
            <a:ext cx="50292" cy="566928"/>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0" name="Rectangle 29"/>
          <p:cNvSpPr/>
          <p:nvPr/>
        </p:nvSpPr>
        <p:spPr>
          <a:xfrm>
            <a:off x="548640" y="4680585"/>
            <a:ext cx="11094720" cy="1555750"/>
          </a:xfrm>
          <a:prstGeom prst="rect">
            <a:avLst/>
          </a:prstGeom>
          <a:solidFill>
            <a:srgbClr val="2E2711"/>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1" name="TextBox 30"/>
          <p:cNvSpPr txBox="1"/>
          <p:nvPr/>
        </p:nvSpPr>
        <p:spPr>
          <a:xfrm>
            <a:off x="629920" y="4790440"/>
            <a:ext cx="10706735" cy="951230"/>
          </a:xfrm>
          <a:prstGeom prst="rect">
            <a:avLst/>
          </a:prstGeom>
          <a:noFill/>
        </p:spPr>
        <p:txBody>
          <a:bodyPr wrap="square" lIns="0" tIns="0" rIns="0" bIns="0" anchor="t">
            <a:spAutoFit/>
          </a:bodyPr>
          <a:lstStyle/>
          <a:p>
            <a:pPr algn="l">
              <a:lnSpc>
                <a:spcPct val="124000"/>
              </a:lnSpc>
              <a:spcBef>
                <a:spcPts val="0"/>
              </a:spcBef>
              <a:spcAft>
                <a:spcPts val="200"/>
              </a:spcAft>
            </a:pPr>
            <a:r>
              <a:rPr sz="1060" b="1" i="0">
                <a:solidFill>
                  <a:srgbClr val="E8B04B"/>
                </a:solidFill>
                <a:latin typeface="微软雅黑" panose="020B0503020204020204" charset="-122"/>
                <a:ea typeface="微软雅黑" panose="020B0503020204020204" charset="-122"/>
                <a:cs typeface="微软雅黑" panose="020B0503020204020204" charset="-122"/>
              </a:rPr>
              <a:t>LEARNING</a:t>
            </a:r>
            <a:endParaRPr sz="106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4000"/>
              </a:lnSpc>
              <a:spcBef>
                <a:spcPts val="0"/>
              </a:spcBef>
              <a:spcAft>
                <a:spcPts val="300"/>
              </a:spcAft>
            </a:pPr>
            <a:r>
              <a:rPr sz="1200" b="0" i="0">
                <a:solidFill>
                  <a:srgbClr val="D8D8D8"/>
                </a:solidFill>
                <a:latin typeface="微软雅黑" panose="020B0503020204020204" charset="-122"/>
                <a:ea typeface="微软雅黑" panose="020B0503020204020204" charset="-122"/>
                <a:cs typeface="微软雅黑" panose="020B0503020204020204" charset="-122"/>
              </a:rPr>
              <a:t>Q3 证明了黑山</a:t>
            </a:r>
            <a:r>
              <a:rPr sz="1200" b="1">
                <a:solidFill>
                  <a:srgbClr val="E8B04B"/>
                </a:solidFill>
                <a:latin typeface="微软雅黑" panose="020B0503020204020204" charset="-122"/>
                <a:ea typeface="微软雅黑" panose="020B0503020204020204" charset="-122"/>
                <a:cs typeface="微软雅黑" panose="020B0503020204020204" charset="-122"/>
                <a:sym typeface="+mn-ea"/>
              </a:rPr>
              <a:t>专业价值时尚化 × 生活方式扩圈 × </a:t>
            </a:r>
            <a:r>
              <a:rPr lang="zh-CN" sz="1200" b="1">
                <a:solidFill>
                  <a:srgbClr val="E8B04B"/>
                </a:solidFill>
                <a:latin typeface="微软雅黑" panose="020B0503020204020204" charset="-122"/>
                <a:ea typeface="微软雅黑" panose="020B0503020204020204" charset="-122"/>
                <a:cs typeface="微软雅黑" panose="020B0503020204020204" charset="-122"/>
                <a:sym typeface="+mn-ea"/>
              </a:rPr>
              <a:t>优质</a:t>
            </a:r>
            <a:r>
              <a:rPr sz="1200" b="1">
                <a:solidFill>
                  <a:srgbClr val="E8B04B"/>
                </a:solidFill>
                <a:latin typeface="微软雅黑" panose="020B0503020204020204" charset="-122"/>
                <a:ea typeface="微软雅黑" panose="020B0503020204020204" charset="-122"/>
                <a:cs typeface="微软雅黑" panose="020B0503020204020204" charset="-122"/>
                <a:sym typeface="+mn-ea"/>
              </a:rPr>
              <a:t>内容人群组合</a:t>
            </a:r>
            <a:r>
              <a:rPr lang="zh-CN" sz="1200" b="1">
                <a:solidFill>
                  <a:srgbClr val="E8B04B"/>
                </a:solidFill>
                <a:latin typeface="微软雅黑" panose="020B0503020204020204" charset="-122"/>
                <a:ea typeface="微软雅黑" panose="020B0503020204020204" charset="-122"/>
                <a:cs typeface="微软雅黑" panose="020B0503020204020204" charset="-122"/>
                <a:sym typeface="+mn-ea"/>
              </a:rPr>
              <a:t>，</a:t>
            </a:r>
            <a:r>
              <a:rPr lang="en-US" altLang="zh-CN" sz="1200" b="1">
                <a:solidFill>
                  <a:srgbClr val="FFC000"/>
                </a:solidFill>
                <a:latin typeface="微软雅黑" panose="020B0503020204020204" charset="-122"/>
                <a:ea typeface="微软雅黑" panose="020B0503020204020204" charset="-122"/>
                <a:cs typeface="微软雅黑" panose="020B0503020204020204" charset="-122"/>
                <a:sym typeface="+mn-ea"/>
              </a:rPr>
              <a:t>Q4</a:t>
            </a:r>
            <a:r>
              <a:rPr sz="1200" b="1">
                <a:solidFill>
                  <a:srgbClr val="FFC000"/>
                </a:solidFill>
                <a:latin typeface="微软雅黑" panose="020B0503020204020204" charset="-122"/>
                <a:ea typeface="微软雅黑" panose="020B0503020204020204" charset="-122"/>
                <a:cs typeface="微软雅黑" panose="020B0503020204020204" charset="-122"/>
                <a:sym typeface="+mn-ea"/>
              </a:rPr>
              <a:t>做深渗透</a:t>
            </a:r>
            <a:r>
              <a:rPr lang="zh-CN" sz="1200" b="1">
                <a:solidFill>
                  <a:srgbClr val="FFC000"/>
                </a:solidFill>
                <a:latin typeface="微软雅黑" panose="020B0503020204020204" charset="-122"/>
                <a:ea typeface="微软雅黑" panose="020B0503020204020204" charset="-122"/>
                <a:cs typeface="微软雅黑" panose="020B0503020204020204" charset="-122"/>
                <a:sym typeface="+mn-ea"/>
              </a:rPr>
              <a:t>人群</a:t>
            </a:r>
            <a:r>
              <a:rPr lang="zh-CN" altLang="en-US" sz="1200" b="1">
                <a:solidFill>
                  <a:srgbClr val="FFC000"/>
                </a:solidFill>
                <a:latin typeface="微软雅黑" panose="020B0503020204020204" charset="-122"/>
                <a:ea typeface="微软雅黑" panose="020B0503020204020204" charset="-122"/>
                <a:cs typeface="微软雅黑" panose="020B0503020204020204" charset="-122"/>
                <a:sym typeface="+mn-ea"/>
              </a:rPr>
              <a:t>、深</a:t>
            </a:r>
            <a:r>
              <a:rPr lang="zh-CN" altLang="en-US" sz="1200" b="1">
                <a:solidFill>
                  <a:srgbClr val="E8B04B"/>
                </a:solidFill>
                <a:latin typeface="微软雅黑" panose="020B0503020204020204" charset="-122"/>
                <a:ea typeface="微软雅黑" panose="020B0503020204020204" charset="-122"/>
                <a:cs typeface="微软雅黑" panose="020B0503020204020204" charset="-122"/>
                <a:sym typeface="+mn-ea"/>
              </a:rPr>
              <a:t>化更多元场景，结合节点捆绑家族种草</a:t>
            </a:r>
            <a:endParaRPr sz="1200" b="0" i="0">
              <a:solidFill>
                <a:srgbClr val="D8D8D8"/>
              </a:solidFill>
              <a:latin typeface="微软雅黑" panose="020B0503020204020204" charset="-122"/>
              <a:ea typeface="微软雅黑" panose="020B0503020204020204" charset="-122"/>
              <a:cs typeface="微软雅黑" panose="020B0503020204020204" charset="-122"/>
            </a:endParaRPr>
          </a:p>
          <a:p>
            <a:pPr algn="l">
              <a:lnSpc>
                <a:spcPct val="124000"/>
              </a:lnSpc>
              <a:spcBef>
                <a:spcPts val="0"/>
              </a:spcBef>
              <a:spcAft>
                <a:spcPts val="200"/>
              </a:spcAft>
            </a:pPr>
            <a:r>
              <a:rPr sz="1060" b="1" i="0">
                <a:solidFill>
                  <a:srgbClr val="E8B04B"/>
                </a:solidFill>
                <a:latin typeface="微软雅黑" panose="020B0503020204020204" charset="-122"/>
                <a:ea typeface="微软雅黑" panose="020B0503020204020204" charset="-122"/>
                <a:cs typeface="微软雅黑" panose="020B0503020204020204" charset="-122"/>
              </a:rPr>
              <a:t>NEXT STEP</a:t>
            </a:r>
            <a:endParaRPr sz="1060" b="1" i="0">
              <a:solidFill>
                <a:srgbClr val="E8B04B"/>
              </a:solidFill>
              <a:latin typeface="微软雅黑" panose="020B0503020204020204" charset="-122"/>
              <a:ea typeface="微软雅黑" panose="020B0503020204020204" charset="-122"/>
              <a:cs typeface="微软雅黑" panose="020B0503020204020204" charset="-122"/>
            </a:endParaRPr>
          </a:p>
          <a:p>
            <a:pPr algn="l">
              <a:lnSpc>
                <a:spcPct val="124000"/>
              </a:lnSpc>
              <a:spcBef>
                <a:spcPts val="0"/>
              </a:spcBef>
              <a:spcAft>
                <a:spcPts val="0"/>
              </a:spcAft>
            </a:pPr>
            <a:r>
              <a:rPr sz="1200" b="0" i="0">
                <a:solidFill>
                  <a:srgbClr val="D8D8D8"/>
                </a:solidFill>
                <a:latin typeface="微软雅黑" panose="020B0503020204020204" charset="-122"/>
                <a:ea typeface="微软雅黑" panose="020B0503020204020204" charset="-122"/>
                <a:cs typeface="微软雅黑" panose="020B0503020204020204" charset="-122"/>
              </a:rPr>
              <a:t>Q4 用 GTX 的防水 / 全天候建立功能型购买理由，用秋冬旅行与雨雪场景建立场景型购买理由，把「被喜欢」升级为「被需要」。</a:t>
            </a:r>
            <a:endParaRPr sz="12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2" name="Rectangle 31"/>
          <p:cNvSpPr/>
          <p:nvPr/>
        </p:nvSpPr>
        <p:spPr>
          <a:xfrm>
            <a:off x="548640" y="6510528"/>
            <a:ext cx="11094415" cy="10972"/>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grpSp>
        <p:nvGrpSpPr>
          <p:cNvPr id="38" name="组合 37"/>
          <p:cNvGrpSpPr/>
          <p:nvPr/>
        </p:nvGrpSpPr>
        <p:grpSpPr>
          <a:xfrm>
            <a:off x="4471035" y="2290445"/>
            <a:ext cx="7149465" cy="2318385"/>
            <a:chOff x="12992" y="3520"/>
            <a:chExt cx="5346" cy="3651"/>
          </a:xfrm>
        </p:grpSpPr>
        <p:sp>
          <p:nvSpPr>
            <p:cNvPr id="21" name="Rectangle 20"/>
            <p:cNvSpPr/>
            <p:nvPr>
              <p:custDataLst>
                <p:tags r:id="rId6"/>
              </p:custDataLst>
            </p:nvPr>
          </p:nvSpPr>
          <p:spPr>
            <a:xfrm>
              <a:off x="12992" y="3571"/>
              <a:ext cx="5344" cy="360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4" name="Rectangle 21"/>
            <p:cNvSpPr/>
            <p:nvPr>
              <p:custDataLst>
                <p:tags r:id="rId7"/>
              </p:custDataLst>
            </p:nvPr>
          </p:nvSpPr>
          <p:spPr>
            <a:xfrm>
              <a:off x="12994" y="3520"/>
              <a:ext cx="5344" cy="86"/>
            </a:xfrm>
            <a:prstGeom prst="rect">
              <a:avLst/>
            </a:prstGeom>
            <a:solidFill>
              <a:srgbClr val="4DBF8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5" name="TextBox 22"/>
            <p:cNvSpPr txBox="1"/>
            <p:nvPr>
              <p:custDataLst>
                <p:tags r:id="rId8"/>
              </p:custDataLst>
            </p:nvPr>
          </p:nvSpPr>
          <p:spPr>
            <a:xfrm>
              <a:off x="13310" y="3779"/>
              <a:ext cx="4710" cy="354"/>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FFFFFF"/>
                  </a:solidFill>
                  <a:latin typeface="微软雅黑" panose="020B0503020204020204" charset="-122"/>
                  <a:ea typeface="微软雅黑" panose="020B0503020204020204" charset="-122"/>
                  <a:cs typeface="微软雅黑" panose="020B0503020204020204" charset="-122"/>
                </a:rPr>
                <a:t>Q4 升级</a:t>
              </a:r>
              <a:endParaRPr sz="12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6" name="TextBox 23"/>
            <p:cNvSpPr txBox="1"/>
            <p:nvPr>
              <p:custDataLst>
                <p:tags r:id="rId9"/>
              </p:custDataLst>
            </p:nvPr>
          </p:nvSpPr>
          <p:spPr>
            <a:xfrm>
              <a:off x="13310" y="4298"/>
              <a:ext cx="4710" cy="354"/>
            </a:xfrm>
            <a:prstGeom prst="rect">
              <a:avLst/>
            </a:prstGeom>
            <a:noFill/>
          </p:spPr>
          <p:txBody>
            <a:bodyPr wrap="square" lIns="0" tIns="0" rIns="0" bIns="0" anchor="t">
              <a:spAutoFit/>
            </a:bodyPr>
            <a:lstStyle/>
            <a:p>
              <a:pPr algn="l">
                <a:lnSpc>
                  <a:spcPct val="122000"/>
                </a:lnSpc>
                <a:spcBef>
                  <a:spcPts val="0"/>
                </a:spcBef>
                <a:spcAft>
                  <a:spcPts val="300"/>
                </a:spcAft>
              </a:pPr>
              <a:r>
                <a:rPr sz="1200" b="1" i="0">
                  <a:solidFill>
                    <a:srgbClr val="4DBF82"/>
                  </a:solidFill>
                  <a:latin typeface="微软雅黑" panose="020B0503020204020204" charset="-122"/>
                  <a:ea typeface="微软雅黑" panose="020B0503020204020204" charset="-122"/>
                  <a:cs typeface="微软雅黑" panose="020B0503020204020204" charset="-122"/>
                </a:rPr>
                <a:t>人群占位 × 场景深化 × 黑山家族</a:t>
              </a:r>
              <a:endParaRPr sz="1200" b="1" i="0">
                <a:solidFill>
                  <a:srgbClr val="4DBF82"/>
                </a:solidFill>
                <a:latin typeface="微软雅黑" panose="020B0503020204020204" charset="-122"/>
                <a:ea typeface="微软雅黑" panose="020B0503020204020204" charset="-122"/>
                <a:cs typeface="微软雅黑" panose="020B0503020204020204" charset="-122"/>
              </a:endParaRPr>
            </a:p>
          </p:txBody>
        </p:sp>
        <p:sp>
          <p:nvSpPr>
            <p:cNvPr id="37" name="Rectangle 24"/>
            <p:cNvSpPr/>
            <p:nvPr>
              <p:custDataLst>
                <p:tags r:id="rId10"/>
              </p:custDataLst>
            </p:nvPr>
          </p:nvSpPr>
          <p:spPr>
            <a:xfrm>
              <a:off x="13310" y="4874"/>
              <a:ext cx="4710" cy="17"/>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grpSp>
      <p:grpSp>
        <p:nvGrpSpPr>
          <p:cNvPr id="41" name="组合 40"/>
          <p:cNvGrpSpPr/>
          <p:nvPr/>
        </p:nvGrpSpPr>
        <p:grpSpPr>
          <a:xfrm>
            <a:off x="4618863" y="3266567"/>
            <a:ext cx="3149498" cy="1083183"/>
            <a:chOff x="1181" y="3571"/>
            <a:chExt cx="4960" cy="1706"/>
          </a:xfrm>
        </p:grpSpPr>
        <p:sp>
          <p:nvSpPr>
            <p:cNvPr id="39" name="TextBox 8"/>
            <p:cNvSpPr txBox="1"/>
            <p:nvPr>
              <p:custDataLst>
                <p:tags r:id="rId11"/>
              </p:custDataLst>
            </p:nvPr>
          </p:nvSpPr>
          <p:spPr>
            <a:xfrm>
              <a:off x="1181" y="3571"/>
              <a:ext cx="4960" cy="432"/>
            </a:xfrm>
            <a:prstGeom prst="rect">
              <a:avLst/>
            </a:prstGeom>
            <a:noFill/>
          </p:spPr>
          <p:txBody>
            <a:bodyPr wrap="square" lIns="0" tIns="0" rIns="0" bIns="0" anchor="t">
              <a:spAutoFit/>
            </a:bodyPr>
            <a:lstStyle/>
            <a:p>
              <a:pPr algn="l">
                <a:lnSpc>
                  <a:spcPct val="122000"/>
                </a:lnSpc>
                <a:spcBef>
                  <a:spcPts val="0"/>
                </a:spcBef>
                <a:spcAft>
                  <a:spcPts val="300"/>
                </a:spcAft>
              </a:pPr>
              <a:r>
                <a:rPr sz="1150" b="1" i="0">
                  <a:solidFill>
                    <a:srgbClr val="FFFFFF"/>
                  </a:solidFill>
                  <a:latin typeface="微软雅黑" panose="020B0503020204020204" charset="-122"/>
                  <a:ea typeface="微软雅黑" panose="020B0503020204020204" charset="-122"/>
                  <a:cs typeface="微软雅黑" panose="020B0503020204020204" charset="-122"/>
                </a:rPr>
                <a:t>人群经营</a:t>
              </a:r>
              <a:endParaRPr sz="11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0" name="TextBox 9"/>
            <p:cNvSpPr txBox="1"/>
            <p:nvPr>
              <p:custDataLst>
                <p:tags r:id="rId12"/>
              </p:custDataLst>
            </p:nvPr>
          </p:nvSpPr>
          <p:spPr>
            <a:xfrm>
              <a:off x="1181" y="4320"/>
              <a:ext cx="3165" cy="957"/>
            </a:xfrm>
            <a:prstGeom prst="rect">
              <a:avLst/>
            </a:prstGeom>
            <a:noFill/>
          </p:spPr>
          <p:txBody>
            <a:bodyPr wrap="square" lIns="0" tIns="0" rIns="0" bIns="0" anchor="t">
              <a:spAutoFit/>
            </a:bodyPr>
            <a:lstStyle/>
            <a:p>
              <a:pPr algn="l">
                <a:lnSpc>
                  <a:spcPct val="132000"/>
                </a:lnSpc>
                <a:spcBef>
                  <a:spcPts val="0"/>
                </a:spcBef>
                <a:spcAft>
                  <a:spcPts val="300"/>
                </a:spcAft>
              </a:pPr>
              <a:r>
                <a:rPr sz="1000" b="1" i="0">
                  <a:solidFill>
                    <a:srgbClr val="EDEDED"/>
                  </a:solidFill>
                  <a:latin typeface="微软雅黑" panose="020B0503020204020204" charset="-122"/>
                  <a:ea typeface="微软雅黑" panose="020B0503020204020204" charset="-122"/>
                  <a:cs typeface="微软雅黑" panose="020B0503020204020204" charset="-122"/>
                </a:rPr>
                <a:t>品牌人群资产 &amp; 竞品人群 → 轻户外 → 高质旅行 → 先锋机能时尚，同时针对不同 TI 阶段分层经营</a:t>
              </a:r>
              <a:endParaRPr sz="1000" b="1" i="0">
                <a:solidFill>
                  <a:srgbClr val="EDEDED"/>
                </a:solidFill>
                <a:latin typeface="微软雅黑" panose="020B0503020204020204" charset="-122"/>
                <a:ea typeface="微软雅黑" panose="020B0503020204020204" charset="-122"/>
                <a:cs typeface="微软雅黑" panose="020B0503020204020204" charset="-122"/>
              </a:endParaRPr>
            </a:p>
          </p:txBody>
        </p:sp>
      </p:grpSp>
      <p:sp>
        <p:nvSpPr>
          <p:cNvPr id="42" name="TextBox 14"/>
          <p:cNvSpPr txBox="1"/>
          <p:nvPr>
            <p:custDataLst>
              <p:tags r:id="rId13"/>
            </p:custDataLst>
          </p:nvPr>
        </p:nvSpPr>
        <p:spPr>
          <a:xfrm>
            <a:off x="6771640" y="3247390"/>
            <a:ext cx="1482725" cy="215265"/>
          </a:xfrm>
          <a:prstGeom prst="rect">
            <a:avLst/>
          </a:prstGeom>
          <a:noFill/>
        </p:spPr>
        <p:txBody>
          <a:bodyPr wrap="square" lIns="0" tIns="0" rIns="0" bIns="0" anchor="t">
            <a:spAutoFit/>
          </a:bodyPr>
          <a:lstStyle/>
          <a:p>
            <a:pPr algn="l">
              <a:lnSpc>
                <a:spcPct val="122000"/>
              </a:lnSpc>
              <a:spcBef>
                <a:spcPts val="0"/>
              </a:spcBef>
              <a:spcAft>
                <a:spcPts val="300"/>
              </a:spcAft>
            </a:pPr>
            <a:r>
              <a:rPr sz="1150" b="1" i="0">
                <a:solidFill>
                  <a:srgbClr val="FFFFFF"/>
                </a:solidFill>
                <a:latin typeface="微软雅黑" panose="020B0503020204020204" charset="-122"/>
                <a:ea typeface="微软雅黑" panose="020B0503020204020204" charset="-122"/>
                <a:cs typeface="微软雅黑" panose="020B0503020204020204" charset="-122"/>
              </a:rPr>
              <a:t>心智经营</a:t>
            </a:r>
            <a:endParaRPr sz="11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3" name="TextBox 15"/>
          <p:cNvSpPr txBox="1"/>
          <p:nvPr>
            <p:custDataLst>
              <p:tags r:id="rId14"/>
            </p:custDataLst>
          </p:nvPr>
        </p:nvSpPr>
        <p:spPr>
          <a:xfrm>
            <a:off x="6771640" y="3742055"/>
            <a:ext cx="2009775" cy="405130"/>
          </a:xfrm>
          <a:prstGeom prst="rect">
            <a:avLst/>
          </a:prstGeom>
          <a:noFill/>
        </p:spPr>
        <p:txBody>
          <a:bodyPr wrap="square" lIns="0" tIns="0" rIns="0" bIns="0" anchor="t">
            <a:spAutoFit/>
          </a:bodyPr>
          <a:lstStyle/>
          <a:p>
            <a:pPr algn="l">
              <a:lnSpc>
                <a:spcPct val="132000"/>
              </a:lnSpc>
              <a:spcBef>
                <a:spcPts val="0"/>
              </a:spcBef>
              <a:spcAft>
                <a:spcPts val="300"/>
              </a:spcAft>
            </a:pPr>
            <a:r>
              <a:rPr sz="1000" b="1" i="0">
                <a:solidFill>
                  <a:srgbClr val="EDEDED"/>
                </a:solidFill>
                <a:latin typeface="微软雅黑" panose="020B0503020204020204" charset="-122"/>
                <a:ea typeface="微软雅黑" panose="020B0503020204020204" charset="-122"/>
                <a:cs typeface="微软雅黑" panose="020B0503020204020204" charset="-122"/>
              </a:rPr>
              <a:t>黑山 = 新时尚趋势：专业跑山性能 → 跑山美学 → 先锋机能审美</a:t>
            </a:r>
            <a:endParaRPr sz="1000" b="1" i="0">
              <a:solidFill>
                <a:srgbClr val="EDEDED"/>
              </a:solidFill>
              <a:latin typeface="微软雅黑" panose="020B0503020204020204" charset="-122"/>
              <a:ea typeface="微软雅黑" panose="020B0503020204020204" charset="-122"/>
              <a:cs typeface="微软雅黑" panose="020B0503020204020204" charset="-122"/>
            </a:endParaRPr>
          </a:p>
        </p:txBody>
      </p:sp>
      <p:sp>
        <p:nvSpPr>
          <p:cNvPr id="44" name="TextBox 20"/>
          <p:cNvSpPr txBox="1"/>
          <p:nvPr>
            <p:custDataLst>
              <p:tags r:id="rId15"/>
            </p:custDataLst>
          </p:nvPr>
        </p:nvSpPr>
        <p:spPr>
          <a:xfrm>
            <a:off x="8952865" y="3253740"/>
            <a:ext cx="1703070" cy="215265"/>
          </a:xfrm>
          <a:prstGeom prst="rect">
            <a:avLst/>
          </a:prstGeom>
          <a:noFill/>
        </p:spPr>
        <p:txBody>
          <a:bodyPr wrap="square" lIns="0" tIns="0" rIns="0" bIns="0" anchor="t">
            <a:spAutoFit/>
          </a:bodyPr>
          <a:lstStyle/>
          <a:p>
            <a:pPr algn="l">
              <a:lnSpc>
                <a:spcPct val="122000"/>
              </a:lnSpc>
              <a:spcBef>
                <a:spcPts val="0"/>
              </a:spcBef>
              <a:spcAft>
                <a:spcPts val="300"/>
              </a:spcAft>
            </a:pPr>
            <a:r>
              <a:rPr lang="zh-CN" sz="1150" b="1" i="0">
                <a:solidFill>
                  <a:srgbClr val="FFFFFF"/>
                </a:solidFill>
                <a:latin typeface="微软雅黑" panose="020B0503020204020204" charset="-122"/>
                <a:ea typeface="微软雅黑" panose="020B0503020204020204" charset="-122"/>
                <a:cs typeface="微软雅黑" panose="020B0503020204020204" charset="-122"/>
              </a:rPr>
              <a:t>常规</a:t>
            </a:r>
            <a:r>
              <a:rPr lang="en-US" altLang="zh-CN" sz="1150" b="1" i="0">
                <a:solidFill>
                  <a:srgbClr val="FFFFFF"/>
                </a:solidFill>
                <a:latin typeface="微软雅黑" panose="020B0503020204020204" charset="-122"/>
                <a:ea typeface="微软雅黑" panose="020B0503020204020204" charset="-122"/>
                <a:cs typeface="微软雅黑" panose="020B0503020204020204" charset="-122"/>
              </a:rPr>
              <a:t>+</a:t>
            </a:r>
            <a:r>
              <a:rPr lang="zh-CN" altLang="en-US" sz="1150" b="1" i="0">
                <a:solidFill>
                  <a:srgbClr val="FFFFFF"/>
                </a:solidFill>
                <a:latin typeface="微软雅黑" panose="020B0503020204020204" charset="-122"/>
                <a:ea typeface="微软雅黑" panose="020B0503020204020204" charset="-122"/>
                <a:cs typeface="微软雅黑" panose="020B0503020204020204" charset="-122"/>
              </a:rPr>
              <a:t>防水版</a:t>
            </a:r>
            <a:endParaRPr lang="zh-CN" altLang="en-US" sz="11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5" name="TextBox 21"/>
          <p:cNvSpPr txBox="1"/>
          <p:nvPr>
            <p:custDataLst>
              <p:tags r:id="rId16"/>
            </p:custDataLst>
          </p:nvPr>
        </p:nvSpPr>
        <p:spPr>
          <a:xfrm>
            <a:off x="8952865" y="3729355"/>
            <a:ext cx="2259330" cy="202565"/>
          </a:xfrm>
          <a:prstGeom prst="rect">
            <a:avLst/>
          </a:prstGeom>
          <a:noFill/>
        </p:spPr>
        <p:txBody>
          <a:bodyPr wrap="square" lIns="0" tIns="0" rIns="0" bIns="0" anchor="t">
            <a:spAutoFit/>
          </a:bodyPr>
          <a:lstStyle/>
          <a:p>
            <a:pPr algn="l">
              <a:lnSpc>
                <a:spcPct val="132000"/>
              </a:lnSpc>
              <a:spcBef>
                <a:spcPts val="0"/>
              </a:spcBef>
              <a:spcAft>
                <a:spcPts val="300"/>
              </a:spcAft>
            </a:pPr>
            <a:r>
              <a:rPr sz="1000" b="1" i="0">
                <a:solidFill>
                  <a:srgbClr val="EDEDED"/>
                </a:solidFill>
                <a:latin typeface="微软雅黑" panose="020B0503020204020204" charset="-122"/>
                <a:ea typeface="微软雅黑" panose="020B0503020204020204" charset="-122"/>
                <a:cs typeface="微软雅黑" panose="020B0503020204020204" charset="-122"/>
              </a:rPr>
              <a:t>黑山共同资产 + 不同版本购买理由</a:t>
            </a:r>
            <a:endParaRPr sz="1000" b="1" i="0">
              <a:solidFill>
                <a:srgbClr val="EDEDE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85" name=""/>
        <p:cNvGrpSpPr/>
        <p:nvPr/>
      </p:nvGrpSpPr>
      <p:grpSpPr>
        <a:xfrm>
          <a:off x="0" y="0"/>
          <a:ext cx="0" cy="0"/>
          <a:chOff x="0" y="0"/>
          <a:chExt cx="0" cy="0"/>
        </a:xfrm>
      </p:grpSpPr>
      <p:sp>
        <p:nvSpPr>
          <p:cNvPr id="486"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06 ｜ P1</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9</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487" name="TextBox 2"/>
          <p:cNvSpPr txBox="1"/>
          <p:nvPr/>
        </p:nvSpPr>
        <p:spPr>
          <a:xfrm>
            <a:off x="548640" y="603504"/>
            <a:ext cx="11094415" cy="384048"/>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MESSAGE HOUSE · 黑山 2026 Q4</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graphicFrame>
        <p:nvGraphicFramePr>
          <p:cNvPr id="489" name="Table 4"/>
          <p:cNvGraphicFramePr>
            <a:graphicFrameLocks noGrp="1"/>
          </p:cNvGraphicFramePr>
          <p:nvPr>
            <p:custDataLst>
              <p:tags r:id="rId1"/>
            </p:custDataLst>
          </p:nvPr>
        </p:nvGraphicFramePr>
        <p:xfrm>
          <a:off x="475016" y="2652458"/>
          <a:ext cx="11091545" cy="3576320"/>
        </p:xfrm>
        <a:graphic>
          <a:graphicData uri="http://schemas.openxmlformats.org/drawingml/2006/table">
            <a:tbl>
              <a:tblPr/>
              <a:tblGrid>
                <a:gridCol w="1417320"/>
                <a:gridCol w="3154680"/>
                <a:gridCol w="3246120"/>
                <a:gridCol w="3273425"/>
              </a:tblGrid>
              <a:tr h="382905">
                <a:tc>
                  <a:txBody>
                    <a:bodyPr wrap="square"/>
                    <a:lstStyle/>
                    <a:p>
                      <a:pPr algn="ctr">
                        <a:lnSpc>
                          <a:spcPct val="112000"/>
                        </a:lnSpc>
                      </a:pPr>
                      <a:r>
                        <a:rPr sz="1000" b="1" i="0">
                          <a:solidFill>
                            <a:srgbClr val="FFFFFF"/>
                          </a:solidFill>
                          <a:latin typeface="微软雅黑" panose="020B0503020204020204" charset="-122"/>
                          <a:ea typeface="微软雅黑" panose="020B0503020204020204" charset="-122"/>
                          <a:cs typeface="微软雅黑" panose="020B0503020204020204" charset="-122"/>
                        </a:rPr>
                        <a:t>MESSAGE HOUSE</a:t>
                      </a:r>
                      <a:endParaRPr sz="10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wrap="square"/>
                    <a:lstStyle/>
                    <a:p>
                      <a:pPr algn="ctr">
                        <a:lnSpc>
                          <a:spcPct val="112000"/>
                        </a:lnSpc>
                      </a:pPr>
                      <a:r>
                        <a:rPr sz="1000" b="1" i="0">
                          <a:solidFill>
                            <a:srgbClr val="FFFFFF"/>
                          </a:solidFill>
                          <a:latin typeface="微软雅黑" panose="020B0503020204020204" charset="-122"/>
                          <a:ea typeface="微软雅黑" panose="020B0503020204020204" charset="-122"/>
                          <a:cs typeface="微软雅黑" panose="020B0503020204020204" charset="-122"/>
                        </a:rPr>
                        <a:t>①  审美固位</a:t>
                      </a:r>
                      <a:endParaRPr sz="10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wrap="square"/>
                    <a:lstStyle/>
                    <a:p>
                      <a:pPr algn="ctr">
                        <a:lnSpc>
                          <a:spcPct val="112000"/>
                        </a:lnSpc>
                      </a:pPr>
                      <a:r>
                        <a:rPr sz="1000" b="1" i="0">
                          <a:solidFill>
                            <a:srgbClr val="FFFFFF"/>
                          </a:solidFill>
                          <a:latin typeface="微软雅黑" panose="020B0503020204020204" charset="-122"/>
                          <a:ea typeface="微软雅黑" panose="020B0503020204020204" charset="-122"/>
                          <a:cs typeface="微软雅黑" panose="020B0503020204020204" charset="-122"/>
                        </a:rPr>
                        <a:t>②  场景扩列</a:t>
                      </a:r>
                      <a:endParaRPr sz="10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c>
                  <a:txBody>
                    <a:bodyPr wrap="square"/>
                    <a:lstStyle/>
                    <a:p>
                      <a:pPr algn="ctr">
                        <a:lnSpc>
                          <a:spcPct val="112000"/>
                        </a:lnSpc>
                      </a:pPr>
                      <a:r>
                        <a:rPr sz="1000" b="1" i="0">
                          <a:solidFill>
                            <a:srgbClr val="FFFFFF"/>
                          </a:solidFill>
                          <a:latin typeface="微软雅黑" panose="020B0503020204020204" charset="-122"/>
                          <a:ea typeface="微软雅黑" panose="020B0503020204020204" charset="-122"/>
                          <a:cs typeface="微软雅黑" panose="020B0503020204020204" charset="-122"/>
                        </a:rPr>
                        <a:t>③  节点收口</a:t>
                      </a:r>
                      <a:endParaRPr sz="1000" b="1" i="0">
                        <a:solidFill>
                          <a:srgbClr val="FFFFFF"/>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2A2A2A"/>
                    </a:solidFill>
                  </a:tcPr>
                </a:tc>
              </a:tr>
              <a:tr h="412750">
                <a:tc>
                  <a:txBody>
                    <a:bodyPr wrap="square"/>
                    <a:lstStyle/>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传播目的</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让 trendy 的人在秋冬继续把黑山放进衣橱与行程</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让高质旅行人群认识 GTX 黑山并建立防水心智</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把三个月的种草在双 11 — 跨年收成订单</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411480">
                <a:tc>
                  <a:txBody>
                    <a:bodyPr wrap="square"/>
                    <a:lstStyle/>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核心人群</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先锋机能审美、时尚、轻户外</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高质旅行、雪季奢旅、都市暴走</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品牌 &amp; 竞品、大促蓄水、礼赠购买</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411480">
                <a:tc>
                  <a:txBody>
                    <a:bodyPr wrap="square"/>
                    <a:lstStyle/>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投流重点</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服饰趋势词 + 穿搭词 + 竞品词</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场景词（初雪、雪季旅行、冬季出行）+ GTX 词</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大促词 + 礼物词 + 品牌词</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730885">
                <a:tc>
                  <a:txBody>
                    <a:bodyPr wrap="square"/>
                    <a:lstStyle/>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内容策略</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审美吸引 → 性能说服：秋冬趋势穿搭 + 跑山美学</a:t>
                      </a:r>
                      <a:endParaRPr sz="84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840">
                          <a:solidFill>
                            <a:srgbClr val="D8D8D8"/>
                          </a:solidFill>
                          <a:latin typeface="微软雅黑" panose="020B0503020204020204" charset="-122"/>
                          <a:ea typeface="微软雅黑" panose="020B0503020204020204" charset="-122"/>
                          <a:cs typeface="微软雅黑" panose="020B0503020204020204" charset="-122"/>
                          <a:sym typeface="+mn-ea"/>
                        </a:rPr>
                        <a:t>趋势借势穿搭（灰调 / 结构感廓形 / 隐形防护面料）</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场景代入 → 功能确认：雨雪实拍 + 泼水测试</a:t>
                      </a:r>
                      <a:endParaRPr sz="84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840">
                          <a:solidFill>
                            <a:srgbClr val="D8D8D8"/>
                          </a:solidFill>
                          <a:latin typeface="微软雅黑" panose="020B0503020204020204" charset="-122"/>
                          <a:ea typeface="微软雅黑" panose="020B0503020204020204" charset="-122"/>
                          <a:cs typeface="微软雅黑" panose="020B0503020204020204" charset="-122"/>
                          <a:sym typeface="+mn-ea"/>
                        </a:rPr>
                        <a:t>雪季旅行 vlog、行李清单、一双鞋走完一天</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购买判断 → 下单转化：怎么选 / 清单 / 开箱</a:t>
                      </a:r>
                      <a:endParaRPr sz="840" b="0" i="0">
                        <a:solidFill>
                          <a:srgbClr val="EDEDED"/>
                        </a:solidFill>
                        <a:latin typeface="微软雅黑" panose="020B0503020204020204" charset="-122"/>
                        <a:ea typeface="微软雅黑" panose="020B0503020204020204" charset="-122"/>
                        <a:cs typeface="微软雅黑" panose="020B0503020204020204" charset="-122"/>
                      </a:endParaRPr>
                    </a:p>
                    <a:p>
                      <a:pPr algn="ctr">
                        <a:lnSpc>
                          <a:spcPct val="112000"/>
                        </a:lnSpc>
                      </a:pPr>
                      <a:r>
                        <a:rPr sz="840">
                          <a:solidFill>
                            <a:srgbClr val="D8D8D8"/>
                          </a:solidFill>
                          <a:latin typeface="微软雅黑" panose="020B0503020204020204" charset="-122"/>
                          <a:ea typeface="微软雅黑" panose="020B0503020204020204" charset="-122"/>
                          <a:cs typeface="微软雅黑" panose="020B0503020204020204" charset="-122"/>
                          <a:sym typeface="+mn-ea"/>
                        </a:rPr>
                        <a:t>常规版 VS GTX 选购指南、好物清单、开箱晒单、礼物向推荐</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402590">
                <a:tc>
                  <a:txBody>
                    <a:bodyPr wrap="square"/>
                    <a:lstStyle/>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达人类型</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都市气质 / 时尚 / 创意艺术（含 Q3 已验证高效博主复投）</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奢旅 / 生活方式 / 雪季旅行 vlog / 情侣</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好物分享/ 晒鞋</a:t>
                      </a:r>
                      <a:r>
                        <a:rPr lang="zh-CN" sz="840" b="0" i="0">
                          <a:solidFill>
                            <a:srgbClr val="EDEDED"/>
                          </a:solidFill>
                          <a:latin typeface="微软雅黑" panose="020B0503020204020204" charset="-122"/>
                          <a:ea typeface="微软雅黑" panose="020B0503020204020204" charset="-122"/>
                          <a:cs typeface="微软雅黑" panose="020B0503020204020204" charset="-122"/>
                        </a:rPr>
                        <a:t>博主</a:t>
                      </a:r>
                      <a:endParaRPr lang="zh-CN"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412750">
                <a:tc>
                  <a:txBody>
                    <a:bodyPr wrap="square"/>
                    <a:lstStyle/>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产品主推</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源色（经典黑）/ 飞光 / 扶光</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子夜 GTX（雨雪主推）</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wrap="square"/>
                    <a:lstStyle/>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常规版 : GTX = 8 : 2，</a:t>
                      </a:r>
                      <a:r>
                        <a:rPr lang="zh-CN" sz="840" b="0" i="0">
                          <a:solidFill>
                            <a:srgbClr val="EDEDED"/>
                          </a:solidFill>
                          <a:latin typeface="微软雅黑" panose="020B0503020204020204" charset="-122"/>
                          <a:ea typeface="微软雅黑" panose="020B0503020204020204" charset="-122"/>
                          <a:cs typeface="微软雅黑" panose="020B0503020204020204" charset="-122"/>
                        </a:rPr>
                        <a:t>黑山家族</a:t>
                      </a:r>
                      <a:endParaRPr lang="zh-CN"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r h="411480">
                <a:tc>
                  <a:txBody>
                    <a:bodyPr/>
                    <a:p>
                      <a:pPr algn="ctr">
                        <a:lnSpc>
                          <a:spcPct val="112000"/>
                        </a:lnSpc>
                      </a:pPr>
                      <a:r>
                        <a:rPr sz="840" b="1" i="0">
                          <a:solidFill>
                            <a:srgbClr val="EDEDED"/>
                          </a:solidFill>
                          <a:latin typeface="微软雅黑" panose="020B0503020204020204" charset="-122"/>
                          <a:ea typeface="微软雅黑" panose="020B0503020204020204" charset="-122"/>
                          <a:cs typeface="微软雅黑" panose="020B0503020204020204" charset="-122"/>
                        </a:rPr>
                        <a:t>UGC 话题</a:t>
                      </a:r>
                      <a:endParaRPr sz="840" b="1"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#黑山的秋冬穿搭</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#去黑山不必挑天气（雨雪实拍）</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c>
                  <a:txBody>
                    <a:bodyPr/>
                    <a:p>
                      <a:pPr algn="ctr">
                        <a:lnSpc>
                          <a:spcPct val="112000"/>
                        </a:lnSpc>
                      </a:pPr>
                      <a:r>
                        <a:rPr sz="840" b="0" i="0">
                          <a:solidFill>
                            <a:srgbClr val="EDEDED"/>
                          </a:solidFill>
                          <a:latin typeface="微软雅黑" panose="020B0503020204020204" charset="-122"/>
                          <a:ea typeface="微软雅黑" panose="020B0503020204020204" charset="-122"/>
                          <a:cs typeface="微软雅黑" panose="020B0503020204020204" charset="-122"/>
                        </a:rPr>
                        <a:t>#我的黑山清单（选购与礼物）</a:t>
                      </a:r>
                      <a:endParaRPr sz="840" b="0" i="0">
                        <a:solidFill>
                          <a:srgbClr val="EDEDED"/>
                        </a:solidFill>
                        <a:latin typeface="微软雅黑" panose="020B0503020204020204" charset="-122"/>
                        <a:ea typeface="微软雅黑" panose="020B0503020204020204" charset="-122"/>
                        <a:cs typeface="微软雅黑" panose="020B0503020204020204" charset="-122"/>
                      </a:endParaRPr>
                    </a:p>
                  </a:txBody>
                  <a:tcPr marL="64008" marR="64008" marT="18288" marB="18288" anchor="ctr">
                    <a:lnL w="12700">
                      <a:solidFill>
                        <a:srgbClr val="3A3A3A"/>
                      </a:solidFill>
                    </a:lnL>
                    <a:lnR w="12700">
                      <a:solidFill>
                        <a:srgbClr val="3A3A3A"/>
                      </a:solidFill>
                    </a:lnR>
                    <a:lnT w="12700">
                      <a:solidFill>
                        <a:srgbClr val="3A3A3A"/>
                      </a:solidFill>
                    </a:lnT>
                    <a:lnB w="12700">
                      <a:solidFill>
                        <a:srgbClr val="3A3A3A"/>
                      </a:solidFill>
                    </a:lnB>
                    <a:solidFill>
                      <a:srgbClr val="1C1C1C"/>
                    </a:solidFill>
                  </a:tcPr>
                </a:tc>
              </a:tr>
            </a:tbl>
          </a:graphicData>
        </a:graphic>
      </p:graphicFrame>
      <p:sp>
        <p:nvSpPr>
          <p:cNvPr id="2" name="文本框 1"/>
          <p:cNvSpPr txBox="1"/>
          <p:nvPr/>
        </p:nvSpPr>
        <p:spPr>
          <a:xfrm>
            <a:off x="3171697" y="1332435"/>
            <a:ext cx="5848386" cy="983615"/>
          </a:xfrm>
          <a:prstGeom prst="rect">
            <a:avLst/>
          </a:prstGeom>
          <a:noFill/>
        </p:spPr>
        <p:txBody>
          <a:bodyPr wrap="square" rtlCol="0">
            <a:noAutofit/>
          </a:bodyPr>
          <a:p>
            <a:pPr algn="ctr"/>
            <a:r>
              <a:rPr sz="2300" b="1">
                <a:solidFill>
                  <a:schemeClr val="tx1"/>
                </a:solidFill>
                <a:latin typeface="微软雅黑" charset="0"/>
                <a:ea typeface="微软雅黑" charset="0"/>
                <a:cs typeface="微软雅黑" charset="0"/>
              </a:rPr>
              <a:t>传播主题：#黑山，全天候 </a:t>
            </a:r>
            <a:r>
              <a:rPr sz="1200" b="1">
                <a:solidFill>
                  <a:schemeClr val="tx1"/>
                </a:solidFill>
                <a:latin typeface="微软雅黑" charset="0"/>
                <a:ea typeface="微软雅黑" charset="0"/>
                <a:cs typeface="微软雅黑" charset="0"/>
              </a:rPr>
              <a:t>概念解析： GTX 防水 + 全地形大底功能支撑，雨雪实测线与都市穿搭线天然并行</a:t>
            </a:r>
            <a:endParaRPr sz="1200" b="1">
              <a:solidFill>
                <a:schemeClr val="tx1"/>
              </a:solidFill>
              <a:latin typeface="微软雅黑" charset="0"/>
              <a:ea typeface="微软雅黑" charset="0"/>
              <a:cs typeface="微软雅黑" charset="0"/>
            </a:endParaRPr>
          </a:p>
          <a:p>
            <a:pPr algn="ctr"/>
            <a:endParaRPr sz="1200" b="1">
              <a:solidFill>
                <a:schemeClr val="tx1"/>
              </a:solidFill>
              <a:latin typeface="微软雅黑" charset="0"/>
              <a:ea typeface="微软雅黑" charset="0"/>
              <a:cs typeface="微软雅黑" charset="0"/>
            </a:endParaRPr>
          </a:p>
          <a:p>
            <a:pPr algn="ctr"/>
            <a:r>
              <a:rPr lang="zh-CN" altLang="en-US" sz="1200" b="1">
                <a:solidFill>
                  <a:schemeClr val="tx1">
                    <a:lumMod val="85000"/>
                  </a:schemeClr>
                </a:solidFill>
                <a:latin typeface="微软雅黑" charset="0"/>
                <a:ea typeface="微软雅黑" charset="0"/>
                <a:cs typeface="微软雅黑" charset="0"/>
              </a:rPr>
              <a:t>备选主题： #秋冬衣橱，只留一双黑山</a:t>
            </a:r>
            <a:endParaRPr sz="1200">
              <a:solidFill>
                <a:schemeClr val="tx1">
                  <a:lumMod val="85000"/>
                </a:schemeClr>
              </a:solidFill>
              <a:latin typeface="微软雅黑" charset="0"/>
              <a:ea typeface="微软雅黑" charset="0"/>
              <a:cs typeface="微软雅黑"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06 ｜ P</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20</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504"/>
            <a:ext cx="11094415" cy="384048"/>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黑山 10—12 月规划</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1" name="TextBox 50"/>
          <p:cNvSpPr txBox="1"/>
          <p:nvPr/>
        </p:nvSpPr>
        <p:spPr>
          <a:xfrm>
            <a:off x="504190" y="6275705"/>
            <a:ext cx="11106785" cy="502920"/>
          </a:xfrm>
          <a:prstGeom prst="rect">
            <a:avLst/>
          </a:prstGeom>
          <a:solidFill>
            <a:srgbClr val="1C1C1C"/>
          </a:solidFill>
        </p:spPr>
        <p:txBody>
          <a:bodyPr wrap="square" lIns="0" tIns="0" rIns="0" bIns="0" anchor="t">
            <a:spAutoFit/>
          </a:bodyPr>
          <a:lstStyle/>
          <a:p>
            <a:pPr algn="ctr">
              <a:lnSpc>
                <a:spcPct val="126000"/>
              </a:lnSpc>
              <a:spcBef>
                <a:spcPts val="0"/>
              </a:spcBef>
              <a:spcAft>
                <a:spcPts val="300"/>
              </a:spcAft>
            </a:pPr>
            <a:r>
              <a:rPr sz="1400" i="0">
                <a:solidFill>
                  <a:schemeClr val="tx1"/>
                </a:solidFill>
                <a:latin typeface="微软雅黑" panose="020B0503020204020204" charset="-122"/>
                <a:ea typeface="微软雅黑" panose="020B0503020204020204" charset="-122"/>
                <a:cs typeface="微软雅黑" panose="020B0503020204020204" charset="-122"/>
              </a:rPr>
              <a:t>源色 4 : </a:t>
            </a:r>
            <a:r>
              <a:rPr sz="1400" i="0">
                <a:solidFill>
                  <a:srgbClr val="FFC000"/>
                </a:solidFill>
                <a:latin typeface="微软雅黑" panose="020B0503020204020204" charset="-122"/>
                <a:ea typeface="微软雅黑" panose="020B0503020204020204" charset="-122"/>
                <a:cs typeface="微软雅黑" panose="020B0503020204020204" charset="-122"/>
              </a:rPr>
              <a:t>子夜 GTX 2 :</a:t>
            </a:r>
            <a:r>
              <a:rPr sz="1400" i="0">
                <a:solidFill>
                  <a:schemeClr val="tx1"/>
                </a:solidFill>
                <a:latin typeface="微软雅黑" panose="020B0503020204020204" charset="-122"/>
                <a:ea typeface="微软雅黑" panose="020B0503020204020204" charset="-122"/>
                <a:cs typeface="微软雅黑" panose="020B0503020204020204" charset="-122"/>
              </a:rPr>
              <a:t> 飞光 2 : 扶光 2；都市场景 / 奢旅场景 = 7 : 3</a:t>
            </a:r>
            <a:r>
              <a:rPr lang="zh-CN" sz="1400" i="0">
                <a:solidFill>
                  <a:schemeClr val="tx1"/>
                </a:solidFill>
                <a:latin typeface="微软雅黑" panose="020B0503020204020204" charset="-122"/>
                <a:ea typeface="微软雅黑" panose="020B0503020204020204" charset="-122"/>
                <a:cs typeface="微软雅黑" panose="020B0503020204020204" charset="-122"/>
              </a:rPr>
              <a:t>；</a:t>
            </a:r>
            <a:endParaRPr lang="zh-CN" sz="1400" i="0">
              <a:solidFill>
                <a:schemeClr val="tx1"/>
              </a:solidFill>
              <a:latin typeface="微软雅黑" panose="020B0503020204020204" charset="-122"/>
              <a:ea typeface="微软雅黑" panose="020B0503020204020204" charset="-122"/>
              <a:cs typeface="微软雅黑" panose="020B0503020204020204" charset="-122"/>
            </a:endParaRPr>
          </a:p>
          <a:p>
            <a:pPr algn="ctr">
              <a:lnSpc>
                <a:spcPct val="126000"/>
              </a:lnSpc>
              <a:spcBef>
                <a:spcPts val="0"/>
              </a:spcBef>
              <a:spcAft>
                <a:spcPts val="300"/>
              </a:spcAft>
            </a:pPr>
            <a:r>
              <a:rPr sz="1000">
                <a:solidFill>
                  <a:srgbClr val="FFFFFF"/>
                </a:solidFill>
                <a:latin typeface="微软雅黑" panose="020B0503020204020204" charset="-122"/>
                <a:ea typeface="微软雅黑" panose="020B0503020204020204" charset="-122"/>
                <a:cs typeface="微软雅黑" panose="020B0503020204020204" charset="-122"/>
                <a:sym typeface="+mn-ea"/>
              </a:rPr>
              <a:t>关键词占位：【守】品牌词  ｜【攻】品类词 · 竞品词 · 穿搭趋势词  ｜【拓】初雪 · 雪季旅行 · 冬季出行 · 礼物清单</a:t>
            </a:r>
            <a:endParaRPr lang="zh-CN" sz="100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3" name="TextBox 62"/>
          <p:cNvSpPr txBox="1"/>
          <p:nvPr/>
        </p:nvSpPr>
        <p:spPr>
          <a:xfrm>
            <a:off x="548640" y="6044565"/>
            <a:ext cx="11107420" cy="193040"/>
          </a:xfrm>
          <a:prstGeom prst="rect">
            <a:avLst/>
          </a:prstGeom>
          <a:solidFill>
            <a:srgbClr val="1C1C1C"/>
          </a:solidFill>
        </p:spPr>
        <p:txBody>
          <a:bodyPr wrap="square" lIns="0" tIns="0" rIns="0" bIns="0" anchor="t">
            <a:spAutoFit/>
          </a:bodyPr>
          <a:lstStyle/>
          <a:p>
            <a:pPr algn="ctr">
              <a:lnSpc>
                <a:spcPct val="126000"/>
              </a:lnSpc>
              <a:spcBef>
                <a:spcPts val="0"/>
              </a:spcBef>
              <a:spcAft>
                <a:spcPts val="300"/>
              </a:spcAft>
            </a:pPr>
            <a:r>
              <a:rPr sz="1000" b="0" i="0">
                <a:solidFill>
                  <a:schemeClr val="tx1"/>
                </a:solidFill>
                <a:latin typeface="微软雅黑" panose="020B0503020204020204" charset="-122"/>
                <a:ea typeface="微软雅黑" panose="020B0503020204020204" charset="-122"/>
                <a:cs typeface="微软雅黑" panose="020B0503020204020204" charset="-122"/>
              </a:rPr>
              <a:t>K : F : S = 40% : 40% : 20%    </a:t>
            </a:r>
            <a:endParaRPr sz="1000" b="0" i="0">
              <a:solidFill>
                <a:schemeClr val="tx1"/>
              </a:solidFill>
              <a:latin typeface="微软雅黑" panose="020B0503020204020204" charset="-122"/>
              <a:ea typeface="微软雅黑" panose="020B0503020204020204" charset="-122"/>
              <a:cs typeface="微软雅黑" panose="020B0503020204020204" charset="-122"/>
            </a:endParaRPr>
          </a:p>
        </p:txBody>
      </p:sp>
      <p:grpSp>
        <p:nvGrpSpPr>
          <p:cNvPr id="81" name="组合 80"/>
          <p:cNvGrpSpPr/>
          <p:nvPr/>
        </p:nvGrpSpPr>
        <p:grpSpPr>
          <a:xfrm>
            <a:off x="529590" y="1068324"/>
            <a:ext cx="11127105" cy="4985131"/>
            <a:chOff x="849" y="2102"/>
            <a:chExt cx="17523" cy="7851"/>
          </a:xfrm>
        </p:grpSpPr>
        <p:sp>
          <p:nvSpPr>
            <p:cNvPr id="60" name="Rectangle 59"/>
            <p:cNvSpPr/>
            <p:nvPr/>
          </p:nvSpPr>
          <p:spPr>
            <a:xfrm>
              <a:off x="12708" y="8355"/>
              <a:ext cx="5613" cy="152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5" name="Rectangle 4"/>
            <p:cNvSpPr/>
            <p:nvPr/>
          </p:nvSpPr>
          <p:spPr>
            <a:xfrm>
              <a:off x="864" y="2102"/>
              <a:ext cx="17472" cy="893"/>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TextBox 5"/>
            <p:cNvSpPr txBox="1"/>
            <p:nvPr/>
          </p:nvSpPr>
          <p:spPr>
            <a:xfrm>
              <a:off x="1267" y="2410"/>
              <a:ext cx="11497" cy="413"/>
            </a:xfrm>
            <a:prstGeom prst="rect">
              <a:avLst/>
            </a:prstGeom>
            <a:noFill/>
          </p:spPr>
          <p:txBody>
            <a:bodyPr wrap="square" lIns="0" tIns="0" rIns="0" bIns="0" anchor="ctr">
              <a:spAutoFit/>
            </a:bodyPr>
            <a:lstStyle/>
            <a:p>
              <a:pPr algn="l">
                <a:lnSpc>
                  <a:spcPct val="122000"/>
                </a:lnSpc>
                <a:spcBef>
                  <a:spcPts val="0"/>
                </a:spcBef>
                <a:spcAft>
                  <a:spcPts val="300"/>
                </a:spcAft>
              </a:pPr>
              <a:r>
                <a:rPr sz="1050" b="1" i="0">
                  <a:solidFill>
                    <a:srgbClr val="FFFFFF"/>
                  </a:solidFill>
                  <a:latin typeface="微软雅黑" panose="020B0503020204020204" charset="-122"/>
                  <a:ea typeface="微软雅黑" panose="020B0503020204020204" charset="-122"/>
                  <a:cs typeface="微软雅黑" panose="020B0503020204020204" charset="-122"/>
                </a:rPr>
                <a:t>以</a:t>
              </a:r>
              <a:r>
                <a:rPr sz="1400" b="1" i="0">
                  <a:solidFill>
                    <a:srgbClr val="FFC000"/>
                  </a:solidFill>
                  <a:latin typeface="微软雅黑" panose="020B0503020204020204" charset="-122"/>
                  <a:ea typeface="微软雅黑" panose="020B0503020204020204" charset="-122"/>
                  <a:cs typeface="微软雅黑" panose="020B0503020204020204" charset="-122"/>
                </a:rPr>
                <a:t>「秋冬种草 + 礼赠场景 + 双 11 蓄水转化」</a:t>
              </a:r>
              <a:r>
                <a:rPr sz="1050" b="1" i="0">
                  <a:solidFill>
                    <a:srgbClr val="FFFFFF"/>
                  </a:solidFill>
                  <a:latin typeface="微软雅黑" panose="020B0503020204020204" charset="-122"/>
                  <a:ea typeface="微软雅黑" panose="020B0503020204020204" charset="-122"/>
                  <a:cs typeface="微软雅黑" panose="020B0503020204020204" charset="-122"/>
                </a:rPr>
                <a:t>为三大核心，精准触达不同人群，实现声量与销量双增长</a:t>
              </a:r>
              <a:endParaRPr sz="105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Rectangle 6"/>
            <p:cNvSpPr/>
            <p:nvPr/>
          </p:nvSpPr>
          <p:spPr>
            <a:xfrm>
              <a:off x="864" y="3139"/>
              <a:ext cx="5613" cy="496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8" name="Rectangle 7"/>
            <p:cNvSpPr/>
            <p:nvPr/>
          </p:nvSpPr>
          <p:spPr>
            <a:xfrm>
              <a:off x="864" y="3139"/>
              <a:ext cx="5613" cy="8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9" name="TextBox 8"/>
            <p:cNvSpPr txBox="1"/>
            <p:nvPr/>
          </p:nvSpPr>
          <p:spPr>
            <a:xfrm>
              <a:off x="1152" y="3341"/>
              <a:ext cx="5037" cy="403"/>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FFFFFF"/>
                  </a:solidFill>
                  <a:latin typeface="微软雅黑" panose="020B0503020204020204" charset="-122"/>
                  <a:ea typeface="微软雅黑" panose="020B0503020204020204" charset="-122"/>
                  <a:cs typeface="微软雅黑" panose="020B0503020204020204" charset="-122"/>
                </a:rPr>
                <a:t>10 月 ｜ 秋冬场景进入</a:t>
              </a:r>
              <a:endParaRPr sz="1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5109" y="3312"/>
              <a:ext cx="1080" cy="432"/>
            </a:xfrm>
            <a:prstGeom prst="rect">
              <a:avLst/>
            </a:prstGeom>
            <a:noFill/>
          </p:spPr>
          <p:txBody>
            <a:bodyPr wrap="square" lIns="0" tIns="0" rIns="0" bIns="0" anchor="t">
              <a:spAutoFit/>
            </a:bodyPr>
            <a:lstStyle/>
            <a:p>
              <a:pPr algn="r">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预算 40%</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11" name="TextBox 10"/>
            <p:cNvSpPr txBox="1"/>
            <p:nvPr/>
          </p:nvSpPr>
          <p:spPr>
            <a:xfrm>
              <a:off x="1152" y="3830"/>
              <a:ext cx="5037" cy="957"/>
            </a:xfrm>
            <a:prstGeom prst="rect">
              <a:avLst/>
            </a:prstGeom>
            <a:noFill/>
          </p:spPr>
          <p:txBody>
            <a:bodyPr wrap="square" lIns="0" tIns="0" rIns="0" bIns="0" anchor="t">
              <a:spAutoFit/>
            </a:bodyPr>
            <a:lstStyle/>
            <a:p>
              <a:pPr algn="l">
                <a:lnSpc>
                  <a:spcPct val="128000"/>
                </a:lnSpc>
                <a:spcBef>
                  <a:spcPts val="0"/>
                </a:spcBef>
                <a:spcAft>
                  <a:spcPts val="300"/>
                </a:spcAft>
              </a:pPr>
              <a:r>
                <a:rPr sz="900">
                  <a:solidFill>
                    <a:srgbClr val="A8A8A8"/>
                  </a:solidFill>
                  <a:latin typeface="微软雅黑" panose="020B0503020204020204" charset="-122"/>
                  <a:ea typeface="微软雅黑" panose="020B0503020204020204" charset="-122"/>
                  <a:cs typeface="微软雅黑" panose="020B0503020204020204" charset="-122"/>
                  <a:sym typeface="+mn-ea"/>
                </a:rPr>
                <a:t>节点｜寒露入秋 · 万圣夜 · </a:t>
              </a:r>
              <a:r>
                <a:rPr lang="zh-CN" sz="900">
                  <a:solidFill>
                    <a:srgbClr val="A8A8A8"/>
                  </a:solidFill>
                  <a:latin typeface="微软雅黑" panose="020B0503020204020204" charset="-122"/>
                  <a:ea typeface="微软雅黑" panose="020B0503020204020204" charset="-122"/>
                  <a:cs typeface="微软雅黑" panose="020B0503020204020204" charset="-122"/>
                  <a:sym typeface="+mn-ea"/>
                </a:rPr>
                <a:t>双</a:t>
              </a:r>
              <a:r>
                <a:rPr lang="en-US" altLang="zh-CN" sz="900">
                  <a:solidFill>
                    <a:srgbClr val="A8A8A8"/>
                  </a:solidFill>
                  <a:latin typeface="微软雅黑" panose="020B0503020204020204" charset="-122"/>
                  <a:ea typeface="微软雅黑" panose="020B0503020204020204" charset="-122"/>
                  <a:cs typeface="微软雅黑" panose="020B0503020204020204" charset="-122"/>
                  <a:sym typeface="+mn-ea"/>
                </a:rPr>
                <a:t>11</a:t>
              </a:r>
              <a:r>
                <a:rPr lang="zh-CN" altLang="en-US" sz="900">
                  <a:solidFill>
                    <a:srgbClr val="A8A8A8"/>
                  </a:solidFill>
                  <a:latin typeface="微软雅黑" panose="020B0503020204020204" charset="-122"/>
                  <a:ea typeface="微软雅黑" panose="020B0503020204020204" charset="-122"/>
                  <a:cs typeface="微软雅黑" panose="020B0503020204020204" charset="-122"/>
                  <a:sym typeface="+mn-ea"/>
                </a:rPr>
                <a:t>预热</a:t>
              </a:r>
              <a:endParaRPr lang="zh-CN" altLang="en-US" sz="900">
                <a:solidFill>
                  <a:srgbClr val="A8A8A8"/>
                </a:solidFill>
                <a:latin typeface="微软雅黑" panose="020B0503020204020204" charset="-122"/>
                <a:ea typeface="微软雅黑" panose="020B0503020204020204" charset="-122"/>
                <a:cs typeface="微软雅黑" panose="020B0503020204020204" charset="-122"/>
                <a:sym typeface="+mn-ea"/>
              </a:endParaRPr>
            </a:p>
            <a:p>
              <a:pPr algn="l">
                <a:lnSpc>
                  <a:spcPct val="128000"/>
                </a:lnSpc>
                <a:spcBef>
                  <a:spcPts val="0"/>
                </a:spcBef>
                <a:spcAft>
                  <a:spcPts val="300"/>
                </a:spcAft>
              </a:pPr>
              <a:r>
                <a:rPr sz="900">
                  <a:solidFill>
                    <a:srgbClr val="D8D8D8"/>
                  </a:solidFill>
                  <a:latin typeface="微软雅黑" panose="020B0503020204020204" charset="-122"/>
                  <a:ea typeface="微软雅黑" panose="020B0503020204020204" charset="-122"/>
                  <a:cs typeface="微软雅黑" panose="020B0503020204020204" charset="-122"/>
                  <a:sym typeface="+mn-ea"/>
                </a:rPr>
                <a:t>秋冬穿搭趋势话题集中爆发</a:t>
              </a:r>
              <a:endParaRPr sz="900" b="0" i="0">
                <a:solidFill>
                  <a:srgbClr val="D8D8D8"/>
                </a:solidFill>
                <a:latin typeface="微软雅黑" panose="020B0503020204020204" charset="-122"/>
                <a:ea typeface="微软雅黑" panose="020B0503020204020204" charset="-122"/>
                <a:cs typeface="微软雅黑" panose="020B0503020204020204" charset="-122"/>
              </a:endParaRPr>
            </a:p>
            <a:p>
              <a:pPr algn="l">
                <a:lnSpc>
                  <a:spcPct val="128000"/>
                </a:lnSpc>
                <a:spcBef>
                  <a:spcPts val="0"/>
                </a:spcBef>
                <a:spcAft>
                  <a:spcPts val="300"/>
                </a:spcAft>
              </a:pPr>
              <a:endParaRPr sz="9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2" name="Rectangle 11"/>
            <p:cNvSpPr/>
            <p:nvPr/>
          </p:nvSpPr>
          <p:spPr>
            <a:xfrm>
              <a:off x="1152" y="4522"/>
              <a:ext cx="5037" cy="17"/>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3" name="TextBox 12"/>
            <p:cNvSpPr txBox="1"/>
            <p:nvPr/>
          </p:nvSpPr>
          <p:spPr>
            <a:xfrm>
              <a:off x="1152" y="4666"/>
              <a:ext cx="5037" cy="253"/>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笔记</a:t>
              </a:r>
              <a:r>
                <a:rPr lang="zh-CN" sz="860" b="1" i="0">
                  <a:solidFill>
                    <a:srgbClr val="A8A8A8"/>
                  </a:solidFill>
                  <a:latin typeface="微软雅黑" panose="020B0503020204020204" charset="-122"/>
                  <a:ea typeface="微软雅黑" panose="020B0503020204020204" charset="-122"/>
                  <a:cs typeface="微软雅黑" panose="020B0503020204020204" charset="-122"/>
                </a:rPr>
                <a:t>规划</a:t>
              </a:r>
              <a:endParaRPr lang="zh-CN"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4" name="TextBox 13"/>
            <p:cNvSpPr txBox="1"/>
            <p:nvPr/>
          </p:nvSpPr>
          <p:spPr>
            <a:xfrm>
              <a:off x="1152" y="5011"/>
              <a:ext cx="5037" cy="1051"/>
            </a:xfrm>
            <a:prstGeom prst="rect">
              <a:avLst/>
            </a:prstGeom>
            <a:noFill/>
          </p:spPr>
          <p:txBody>
            <a:bodyPr wrap="square" lIns="0" tIns="0" rIns="0" bIns="0" anchor="t">
              <a:spAutoFit/>
            </a:bodyPr>
            <a:lstStyle/>
            <a:p>
              <a:pPr algn="l">
                <a:lnSpc>
                  <a:spcPct val="130000"/>
                </a:lnSpc>
                <a:spcBef>
                  <a:spcPts val="0"/>
                </a:spcBef>
                <a:spcAft>
                  <a:spcPts val="300"/>
                </a:spcAft>
              </a:pPr>
              <a:r>
                <a:rPr sz="1050" b="0" i="0">
                  <a:solidFill>
                    <a:schemeClr val="tx1"/>
                  </a:solidFill>
                  <a:latin typeface="微软雅黑" panose="020B0503020204020204" charset="-122"/>
                  <a:ea typeface="微软雅黑" panose="020B0503020204020204" charset="-122"/>
                  <a:cs typeface="微软雅黑" panose="020B0503020204020204" charset="-122"/>
                </a:rPr>
                <a:t>秋冬穿搭 10 · 时尚跑者 3 · 产品开箱 5 · 万圣夜轻 cos 便装 2 · 创意插画 3（万圣节主题「黑山的黑」）</a:t>
              </a:r>
              <a:endParaRPr sz="1050" b="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r>
                <a:rPr lang="zh-CN" sz="1050" b="0" i="0">
                  <a:solidFill>
                    <a:schemeClr val="tx1"/>
                  </a:solidFill>
                  <a:latin typeface="微软雅黑" panose="020B0503020204020204" charset="-122"/>
                  <a:ea typeface="微软雅黑" panose="020B0503020204020204" charset="-122"/>
                  <a:cs typeface="微软雅黑" panose="020B0503020204020204" charset="-122"/>
                </a:rPr>
                <a:t>合计</a:t>
              </a:r>
              <a:r>
                <a:rPr lang="en-US" altLang="zh-CN" sz="1050" b="0" i="0">
                  <a:solidFill>
                    <a:schemeClr val="tx1"/>
                  </a:solidFill>
                  <a:latin typeface="微软雅黑" panose="020B0503020204020204" charset="-122"/>
                  <a:ea typeface="微软雅黑" panose="020B0503020204020204" charset="-122"/>
                  <a:cs typeface="微软雅黑" panose="020B0503020204020204" charset="-122"/>
                </a:rPr>
                <a:t> 23</a:t>
              </a:r>
              <a:r>
                <a:rPr lang="zh-CN" altLang="en-US" sz="1050" b="0" i="0">
                  <a:solidFill>
                    <a:schemeClr val="tx1"/>
                  </a:solidFill>
                  <a:latin typeface="微软雅黑" panose="020B0503020204020204" charset="-122"/>
                  <a:ea typeface="微软雅黑" panose="020B0503020204020204" charset="-122"/>
                  <a:cs typeface="微软雅黑" panose="020B0503020204020204" charset="-122"/>
                </a:rPr>
                <a:t>篇</a:t>
              </a:r>
              <a:endParaRPr lang="zh-CN" altLang="en-US" sz="10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 name="TextBox 14"/>
            <p:cNvSpPr txBox="1"/>
            <p:nvPr/>
          </p:nvSpPr>
          <p:spPr>
            <a:xfrm>
              <a:off x="1152" y="6106"/>
              <a:ext cx="5037" cy="346"/>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达人合作</a:t>
              </a:r>
              <a:endParaRPr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6" name="TextBox 15"/>
            <p:cNvSpPr txBox="1"/>
            <p:nvPr/>
          </p:nvSpPr>
          <p:spPr>
            <a:xfrm>
              <a:off x="1152" y="6451"/>
              <a:ext cx="5037" cy="690"/>
            </a:xfrm>
            <a:prstGeom prst="rect">
              <a:avLst/>
            </a:prstGeom>
            <a:noFill/>
          </p:spPr>
          <p:txBody>
            <a:bodyPr wrap="square" lIns="0" tIns="0" rIns="0" bIns="0" anchor="t">
              <a:spAutoFit/>
            </a:bodyPr>
            <a:lstStyle/>
            <a:p>
              <a:pPr algn="l">
                <a:lnSpc>
                  <a:spcPct val="130000"/>
                </a:lnSpc>
                <a:spcBef>
                  <a:spcPts val="0"/>
                </a:spcBef>
                <a:spcAft>
                  <a:spcPts val="300"/>
                </a:spcAft>
              </a:pPr>
              <a:r>
                <a:rPr sz="1000" b="0" i="0">
                  <a:solidFill>
                    <a:schemeClr val="tx1"/>
                  </a:solidFill>
                  <a:latin typeface="微软雅黑" panose="020B0503020204020204" charset="-122"/>
                  <a:ea typeface="微软雅黑" panose="020B0503020204020204" charset="-122"/>
                  <a:cs typeface="微软雅黑" panose="020B0503020204020204" charset="-122"/>
                </a:rPr>
                <a:t>都市气质人群 / 时尚博主 / 创意艺术类 / 运动型博主</a:t>
              </a:r>
              <a:endParaRPr sz="1000" b="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endParaRPr sz="100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a:xfrm>
              <a:off x="1152" y="6831"/>
              <a:ext cx="5037" cy="346"/>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内容策略</a:t>
              </a:r>
              <a:endParaRPr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1076" y="7133"/>
              <a:ext cx="5325" cy="896"/>
            </a:xfrm>
            <a:prstGeom prst="rect">
              <a:avLst/>
            </a:prstGeom>
            <a:noFill/>
          </p:spPr>
          <p:txBody>
            <a:bodyPr wrap="square" lIns="0" tIns="0" rIns="0" bIns="0" anchor="t">
              <a:spAutoFit/>
            </a:bodyPr>
            <a:lstStyle/>
            <a:p>
              <a:pPr algn="l">
                <a:lnSpc>
                  <a:spcPct val="130000"/>
                </a:lnSpc>
                <a:spcBef>
                  <a:spcPts val="0"/>
                </a:spcBef>
                <a:spcAft>
                  <a:spcPts val="300"/>
                </a:spcAft>
              </a:pPr>
              <a:r>
                <a:rPr sz="950" b="0" i="0">
                  <a:solidFill>
                    <a:schemeClr val="tx1"/>
                  </a:solidFill>
                  <a:latin typeface="微软雅黑" panose="020B0503020204020204" charset="-122"/>
                  <a:ea typeface="微软雅黑" panose="020B0503020204020204" charset="-122"/>
                  <a:cs typeface="微软雅黑" panose="020B0503020204020204" charset="-122"/>
                </a:rPr>
                <a:t>「秋天第一双户外鞋」「无 logo 贵气穿搭」</a:t>
              </a:r>
              <a:r>
                <a:rPr sz="950">
                  <a:solidFill>
                    <a:schemeClr val="tx1"/>
                  </a:solidFill>
                  <a:latin typeface="微软雅黑" panose="020B0503020204020204" charset="-122"/>
                  <a:ea typeface="微软雅黑" panose="020B0503020204020204" charset="-122"/>
                  <a:cs typeface="微软雅黑" panose="020B0503020204020204" charset="-122"/>
                  <a:sym typeface="+mn-ea"/>
                </a:rPr>
                <a:t>「</a:t>
              </a:r>
              <a:r>
                <a:rPr sz="950">
                  <a:solidFill>
                    <a:schemeClr val="tx1"/>
                  </a:solidFill>
                  <a:latin typeface="微软雅黑" panose="020B0503020204020204" charset="-122"/>
                  <a:ea typeface="微软雅黑" panose="020B0503020204020204" charset="-122"/>
                  <a:cs typeface="微软雅黑" panose="020B0503020204020204" charset="-122"/>
                  <a:sym typeface="+mn-ea"/>
                </a:rPr>
                <a:t>秋冬训练实测 · </a:t>
              </a:r>
              <a:r>
                <a:rPr sz="950">
                  <a:solidFill>
                    <a:schemeClr val="tx1"/>
                  </a:solidFill>
                  <a:latin typeface="微软雅黑" panose="020B0503020204020204" charset="-122"/>
                  <a:ea typeface="微软雅黑" panose="020B0503020204020204" charset="-122"/>
                  <a:cs typeface="微软雅黑" panose="020B0503020204020204" charset="-122"/>
                  <a:sym typeface="+mn-ea"/>
                </a:rPr>
                <a:t>」</a:t>
              </a:r>
              <a:r>
                <a:rPr sz="950" b="0" i="0">
                  <a:solidFill>
                    <a:schemeClr val="tx1"/>
                  </a:solidFill>
                  <a:latin typeface="微软雅黑" panose="020B0503020204020204" charset="-122"/>
                  <a:ea typeface="微软雅黑" panose="020B0503020204020204" charset="-122"/>
                  <a:cs typeface="微软雅黑" panose="020B0503020204020204" charset="-122"/>
                </a:rPr>
                <a:t>「比万圣夜更黑的是黑山」</a:t>
              </a:r>
              <a:r>
                <a:rPr sz="950">
                  <a:solidFill>
                    <a:srgbClr val="D8D8D8"/>
                  </a:solidFill>
                  <a:latin typeface="微软雅黑" panose="020B0503020204020204" charset="-122"/>
                  <a:ea typeface="微软雅黑" panose="020B0503020204020204" charset="-122"/>
                  <a:cs typeface="微软雅黑" panose="020B0503020204020204" charset="-122"/>
                  <a:sym typeface="+mn-ea"/>
                </a:rPr>
                <a:t>「灰调取代美拉德」</a:t>
              </a:r>
              <a:r>
                <a:rPr sz="950">
                  <a:solidFill>
                    <a:schemeClr val="tx1"/>
                  </a:solidFill>
                  <a:latin typeface="微软雅黑" panose="020B0503020204020204" charset="-122"/>
                  <a:ea typeface="微软雅黑" panose="020B0503020204020204" charset="-122"/>
                  <a:cs typeface="微软雅黑" panose="020B0503020204020204" charset="-122"/>
                  <a:sym typeface="+mn-ea"/>
                </a:rPr>
                <a:t>· </a:t>
              </a:r>
              <a:r>
                <a:rPr sz="950">
                  <a:solidFill>
                    <a:srgbClr val="D8D8D8"/>
                  </a:solidFill>
                  <a:latin typeface="微软雅黑" panose="020B0503020204020204" charset="-122"/>
                  <a:ea typeface="微软雅黑" panose="020B0503020204020204" charset="-122"/>
                  <a:cs typeface="微软雅黑" panose="020B0503020204020204" charset="-122"/>
                  <a:sym typeface="+mn-ea"/>
                </a:rPr>
                <a:t>巴恩风</a:t>
              </a:r>
              <a:r>
                <a:rPr sz="950">
                  <a:latin typeface="微软雅黑" panose="020B0503020204020204" charset="-122"/>
                  <a:ea typeface="微软雅黑" panose="020B0503020204020204" charset="-122"/>
                  <a:cs typeface="微软雅黑" panose="020B0503020204020204" charset="-122"/>
                  <a:sym typeface="+mn-ea"/>
                </a:rPr>
                <a:t>·</a:t>
              </a:r>
              <a:r>
                <a:rPr sz="950">
                  <a:solidFill>
                    <a:srgbClr val="D8D8D8"/>
                  </a:solidFill>
                  <a:latin typeface="微软雅黑" panose="020B0503020204020204" charset="-122"/>
                  <a:ea typeface="微软雅黑" panose="020B0503020204020204" charset="-122"/>
                  <a:cs typeface="微软雅黑" panose="020B0503020204020204" charset="-122"/>
                  <a:sym typeface="+mn-ea"/>
                </a:rPr>
                <a:t>结构感廓形</a:t>
              </a:r>
              <a:r>
                <a:rPr lang="zh-CN" sz="950" b="0" i="0">
                  <a:solidFill>
                    <a:schemeClr val="tx1"/>
                  </a:solidFill>
                  <a:latin typeface="微软雅黑" panose="020B0503020204020204" charset="-122"/>
                  <a:ea typeface="微软雅黑" panose="020B0503020204020204" charset="-122"/>
                  <a:cs typeface="微软雅黑" panose="020B0503020204020204" charset="-122"/>
                </a:rPr>
                <a:t>）</a:t>
              </a:r>
              <a:endParaRPr lang="zh-CN" sz="9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9" name="Rectangle 18"/>
            <p:cNvSpPr/>
            <p:nvPr/>
          </p:nvSpPr>
          <p:spPr>
            <a:xfrm>
              <a:off x="6793" y="3139"/>
              <a:ext cx="5613" cy="496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0" name="Rectangle 19"/>
            <p:cNvSpPr/>
            <p:nvPr/>
          </p:nvSpPr>
          <p:spPr>
            <a:xfrm>
              <a:off x="6793" y="3139"/>
              <a:ext cx="5613" cy="8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1" name="TextBox 20"/>
            <p:cNvSpPr txBox="1"/>
            <p:nvPr/>
          </p:nvSpPr>
          <p:spPr>
            <a:xfrm>
              <a:off x="7081" y="3341"/>
              <a:ext cx="5037" cy="403"/>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FFFFFF"/>
                  </a:solidFill>
                  <a:latin typeface="微软雅黑" panose="020B0503020204020204" charset="-122"/>
                  <a:ea typeface="微软雅黑" panose="020B0503020204020204" charset="-122"/>
                  <a:cs typeface="微软雅黑" panose="020B0503020204020204" charset="-122"/>
                </a:rPr>
                <a:t>11 月 ｜ 大促购买理由强化</a:t>
              </a:r>
              <a:endParaRPr sz="1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 name="TextBox 21"/>
            <p:cNvSpPr txBox="1"/>
            <p:nvPr/>
          </p:nvSpPr>
          <p:spPr>
            <a:xfrm>
              <a:off x="11038" y="3312"/>
              <a:ext cx="1080" cy="432"/>
            </a:xfrm>
            <a:prstGeom prst="rect">
              <a:avLst/>
            </a:prstGeom>
            <a:noFill/>
          </p:spPr>
          <p:txBody>
            <a:bodyPr wrap="square" lIns="0" tIns="0" rIns="0" bIns="0" anchor="t">
              <a:spAutoFit/>
            </a:bodyPr>
            <a:lstStyle/>
            <a:p>
              <a:pPr algn="r">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预算 30%</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23" name="TextBox 22"/>
            <p:cNvSpPr txBox="1"/>
            <p:nvPr/>
          </p:nvSpPr>
          <p:spPr>
            <a:xfrm>
              <a:off x="7081" y="3830"/>
              <a:ext cx="5257" cy="617"/>
            </a:xfrm>
            <a:prstGeom prst="rect">
              <a:avLst/>
            </a:prstGeom>
            <a:noFill/>
          </p:spPr>
          <p:txBody>
            <a:bodyPr wrap="square" lIns="0" tIns="0" rIns="0" bIns="0" anchor="t">
              <a:spAutoFit/>
            </a:bodyPr>
            <a:lstStyle/>
            <a:p>
              <a:pPr algn="l">
                <a:lnSpc>
                  <a:spcPct val="128000"/>
                </a:lnSpc>
                <a:spcBef>
                  <a:spcPts val="0"/>
                </a:spcBef>
                <a:spcAft>
                  <a:spcPts val="300"/>
                </a:spcAft>
              </a:pPr>
              <a:r>
                <a:rPr sz="900">
                  <a:solidFill>
                    <a:srgbClr val="A8A8A8"/>
                  </a:solidFill>
                  <a:latin typeface="微软雅黑" panose="020B0503020204020204" charset="-122"/>
                  <a:ea typeface="微软雅黑" panose="020B0503020204020204" charset="-122"/>
                  <a:cs typeface="微软雅黑" panose="020B0503020204020204" charset="-122"/>
                  <a:sym typeface="+mn-ea"/>
                </a:rPr>
                <a:t>节点｜</a:t>
              </a:r>
              <a:r>
                <a:rPr sz="900">
                  <a:solidFill>
                    <a:srgbClr val="D8D8D8"/>
                  </a:solidFill>
                  <a:latin typeface="微软雅黑" panose="020B0503020204020204" charset="-122"/>
                  <a:ea typeface="微软雅黑" panose="020B0503020204020204" charset="-122"/>
                  <a:cs typeface="微软雅黑" panose="020B0503020204020204" charset="-122"/>
                  <a:sym typeface="+mn-ea"/>
                </a:rPr>
                <a:t>11.2—11.11 热销破峰 · 立冬初雪 · 双 11 返场 </a:t>
              </a:r>
              <a:endParaRPr sz="900">
                <a:solidFill>
                  <a:srgbClr val="D8D8D8"/>
                </a:solidFill>
                <a:latin typeface="微软雅黑" panose="020B0503020204020204" charset="-122"/>
                <a:ea typeface="微软雅黑" panose="020B0503020204020204" charset="-122"/>
                <a:cs typeface="微软雅黑" panose="020B0503020204020204" charset="-122"/>
                <a:sym typeface="+mn-ea"/>
              </a:endParaRPr>
            </a:p>
            <a:p>
              <a:pPr algn="l">
                <a:lnSpc>
                  <a:spcPct val="128000"/>
                </a:lnSpc>
                <a:spcBef>
                  <a:spcPts val="0"/>
                </a:spcBef>
                <a:spcAft>
                  <a:spcPts val="300"/>
                </a:spcAft>
              </a:pPr>
              <a:r>
                <a:rPr sz="900">
                  <a:solidFill>
                    <a:srgbClr val="D8D8D8"/>
                  </a:solidFill>
                  <a:latin typeface="微软雅黑" panose="020B0503020204020204" charset="-122"/>
                  <a:ea typeface="微软雅黑" panose="020B0503020204020204" charset="-122"/>
                  <a:cs typeface="微软雅黑" panose="020B0503020204020204" charset="-122"/>
                  <a:sym typeface="+mn-ea"/>
                </a:rPr>
                <a:t>「黑山怎么选｜常规版 VS GTX」承接决策期加购 </a:t>
              </a:r>
              <a:endParaRPr sz="9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4" name="Rectangle 23"/>
            <p:cNvSpPr/>
            <p:nvPr/>
          </p:nvSpPr>
          <p:spPr>
            <a:xfrm>
              <a:off x="7081" y="4522"/>
              <a:ext cx="5037" cy="17"/>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5" name="TextBox 24"/>
            <p:cNvSpPr txBox="1"/>
            <p:nvPr/>
          </p:nvSpPr>
          <p:spPr>
            <a:xfrm>
              <a:off x="7081" y="4666"/>
              <a:ext cx="5037" cy="253"/>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笔记</a:t>
              </a:r>
              <a:r>
                <a:rPr lang="zh-CN" sz="860" b="1" i="0">
                  <a:solidFill>
                    <a:srgbClr val="A8A8A8"/>
                  </a:solidFill>
                  <a:latin typeface="微软雅黑" panose="020B0503020204020204" charset="-122"/>
                  <a:ea typeface="微软雅黑" panose="020B0503020204020204" charset="-122"/>
                  <a:cs typeface="微软雅黑" panose="020B0503020204020204" charset="-122"/>
                </a:rPr>
                <a:t>规划</a:t>
              </a:r>
              <a:endParaRPr lang="zh-CN"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26" name="TextBox 25"/>
            <p:cNvSpPr txBox="1"/>
            <p:nvPr/>
          </p:nvSpPr>
          <p:spPr>
            <a:xfrm>
              <a:off x="7081" y="5011"/>
              <a:ext cx="5037" cy="1051"/>
            </a:xfrm>
            <a:prstGeom prst="rect">
              <a:avLst/>
            </a:prstGeom>
            <a:noFill/>
          </p:spPr>
          <p:txBody>
            <a:bodyPr wrap="square" lIns="0" tIns="0" rIns="0" bIns="0" anchor="t">
              <a:spAutoFit/>
            </a:bodyPr>
            <a:lstStyle/>
            <a:p>
              <a:pPr algn="l">
                <a:lnSpc>
                  <a:spcPct val="130000"/>
                </a:lnSpc>
                <a:spcBef>
                  <a:spcPts val="0"/>
                </a:spcBef>
                <a:spcAft>
                  <a:spcPts val="300"/>
                </a:spcAft>
              </a:pPr>
              <a:r>
                <a:rPr sz="1050" b="0" i="0">
                  <a:solidFill>
                    <a:schemeClr val="tx1"/>
                  </a:solidFill>
                  <a:latin typeface="微软雅黑" panose="020B0503020204020204" charset="-122"/>
                  <a:ea typeface="微软雅黑" panose="020B0503020204020204" charset="-122"/>
                  <a:cs typeface="微软雅黑" panose="020B0503020204020204" charset="-122"/>
                </a:rPr>
                <a:t>时尚跑者 4 · 产品开箱 5 · 秋冬穿搭 10 · 好物分享 PLOG / 晒鞋 5</a:t>
              </a:r>
              <a:endParaRPr sz="1050" b="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r>
                <a:rPr lang="zh-CN" sz="1050" b="0" i="0">
                  <a:solidFill>
                    <a:schemeClr val="tx1"/>
                  </a:solidFill>
                  <a:latin typeface="微软雅黑" panose="020B0503020204020204" charset="-122"/>
                  <a:ea typeface="微软雅黑" panose="020B0503020204020204" charset="-122"/>
                  <a:cs typeface="微软雅黑" panose="020B0503020204020204" charset="-122"/>
                </a:rPr>
                <a:t>合计</a:t>
              </a:r>
              <a:r>
                <a:rPr lang="en-US" altLang="zh-CN" sz="1050" b="0" i="0">
                  <a:solidFill>
                    <a:schemeClr val="tx1"/>
                  </a:solidFill>
                  <a:latin typeface="微软雅黑" panose="020B0503020204020204" charset="-122"/>
                  <a:ea typeface="微软雅黑" panose="020B0503020204020204" charset="-122"/>
                  <a:cs typeface="微软雅黑" panose="020B0503020204020204" charset="-122"/>
                </a:rPr>
                <a:t> 24</a:t>
              </a:r>
              <a:r>
                <a:rPr lang="zh-CN" altLang="en-US" sz="1050" b="0" i="0">
                  <a:solidFill>
                    <a:schemeClr val="tx1"/>
                  </a:solidFill>
                  <a:latin typeface="微软雅黑" panose="020B0503020204020204" charset="-122"/>
                  <a:ea typeface="微软雅黑" panose="020B0503020204020204" charset="-122"/>
                  <a:cs typeface="微软雅黑" panose="020B0503020204020204" charset="-122"/>
                </a:rPr>
                <a:t>篇</a:t>
              </a:r>
              <a:endParaRPr lang="zh-CN" altLang="en-US" sz="10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7" name="TextBox 26"/>
            <p:cNvSpPr txBox="1"/>
            <p:nvPr/>
          </p:nvSpPr>
          <p:spPr>
            <a:xfrm>
              <a:off x="7081" y="6106"/>
              <a:ext cx="5037" cy="346"/>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达人合作</a:t>
              </a:r>
              <a:endParaRPr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28" name="TextBox 27"/>
            <p:cNvSpPr txBox="1"/>
            <p:nvPr/>
          </p:nvSpPr>
          <p:spPr>
            <a:xfrm>
              <a:off x="7081" y="6451"/>
              <a:ext cx="5037" cy="298"/>
            </a:xfrm>
            <a:prstGeom prst="rect">
              <a:avLst/>
            </a:prstGeom>
            <a:noFill/>
          </p:spPr>
          <p:txBody>
            <a:bodyPr wrap="square" lIns="0" tIns="0" rIns="0" bIns="0" anchor="t">
              <a:spAutoFit/>
            </a:bodyPr>
            <a:lstStyle/>
            <a:p>
              <a:pPr algn="l">
                <a:lnSpc>
                  <a:spcPct val="130000"/>
                </a:lnSpc>
                <a:spcBef>
                  <a:spcPts val="0"/>
                </a:spcBef>
                <a:spcAft>
                  <a:spcPts val="300"/>
                </a:spcAft>
              </a:pPr>
              <a:r>
                <a:rPr sz="950" b="0" i="0">
                  <a:solidFill>
                    <a:schemeClr val="tx1"/>
                  </a:solidFill>
                  <a:latin typeface="微软雅黑" panose="020B0503020204020204" charset="-122"/>
                  <a:ea typeface="微软雅黑" panose="020B0503020204020204" charset="-122"/>
                  <a:cs typeface="微软雅黑" panose="020B0503020204020204" charset="-122"/>
                </a:rPr>
                <a:t>聚焦生意转化：时尚博主 + 好物分享博主 + 晒鞋 UGC</a:t>
              </a:r>
              <a:endParaRPr sz="9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9" name="TextBox 28"/>
            <p:cNvSpPr txBox="1"/>
            <p:nvPr/>
          </p:nvSpPr>
          <p:spPr>
            <a:xfrm>
              <a:off x="7081" y="6831"/>
              <a:ext cx="5037" cy="346"/>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内容策略</a:t>
              </a:r>
              <a:endParaRPr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30" name="TextBox 29"/>
            <p:cNvSpPr txBox="1"/>
            <p:nvPr/>
          </p:nvSpPr>
          <p:spPr>
            <a:xfrm>
              <a:off x="7081" y="7148"/>
              <a:ext cx="5037" cy="597"/>
            </a:xfrm>
            <a:prstGeom prst="rect">
              <a:avLst/>
            </a:prstGeom>
            <a:noFill/>
          </p:spPr>
          <p:txBody>
            <a:bodyPr wrap="square" lIns="0" tIns="0" rIns="0" bIns="0" anchor="t">
              <a:spAutoFit/>
            </a:bodyPr>
            <a:lstStyle/>
            <a:p>
              <a:pPr algn="l">
                <a:lnSpc>
                  <a:spcPct val="130000"/>
                </a:lnSpc>
                <a:spcBef>
                  <a:spcPts val="0"/>
                </a:spcBef>
                <a:spcAft>
                  <a:spcPts val="300"/>
                </a:spcAft>
              </a:pPr>
              <a:r>
                <a:rPr sz="950" b="0" i="0">
                  <a:solidFill>
                    <a:schemeClr val="tx1"/>
                  </a:solidFill>
                  <a:latin typeface="微软雅黑" panose="020B0503020204020204" charset="-122"/>
                  <a:ea typeface="微软雅黑" panose="020B0503020204020204" charset="-122"/>
                  <a:cs typeface="微软雅黑" panose="020B0503020204020204" charset="-122"/>
                </a:rPr>
                <a:t>双 11 好物回购 / 购物清单承接长尾流量；Q3 低 CPUV 笔记续投</a:t>
              </a:r>
              <a:endParaRPr sz="9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1" name="Rectangle 30"/>
            <p:cNvSpPr/>
            <p:nvPr/>
          </p:nvSpPr>
          <p:spPr>
            <a:xfrm>
              <a:off x="12723" y="3139"/>
              <a:ext cx="5613" cy="4968"/>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2" name="Rectangle 31"/>
            <p:cNvSpPr/>
            <p:nvPr/>
          </p:nvSpPr>
          <p:spPr>
            <a:xfrm>
              <a:off x="12723" y="3139"/>
              <a:ext cx="5613" cy="86"/>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3" name="TextBox 32"/>
            <p:cNvSpPr txBox="1"/>
            <p:nvPr/>
          </p:nvSpPr>
          <p:spPr>
            <a:xfrm>
              <a:off x="13011" y="3341"/>
              <a:ext cx="5037" cy="403"/>
            </a:xfrm>
            <a:prstGeom prst="rect">
              <a:avLst/>
            </a:prstGeom>
            <a:noFill/>
          </p:spPr>
          <p:txBody>
            <a:bodyPr wrap="square" lIns="0" tIns="0" rIns="0" bIns="0" anchor="t">
              <a:spAutoFit/>
            </a:bodyPr>
            <a:lstStyle/>
            <a:p>
              <a:pPr algn="l">
                <a:lnSpc>
                  <a:spcPct val="122000"/>
                </a:lnSpc>
                <a:spcBef>
                  <a:spcPts val="0"/>
                </a:spcBef>
                <a:spcAft>
                  <a:spcPts val="300"/>
                </a:spcAft>
              </a:pPr>
              <a:r>
                <a:rPr sz="1100" b="1" i="0">
                  <a:solidFill>
                    <a:srgbClr val="FFFFFF"/>
                  </a:solidFill>
                  <a:latin typeface="微软雅黑" panose="020B0503020204020204" charset="-122"/>
                  <a:ea typeface="微软雅黑" panose="020B0503020204020204" charset="-122"/>
                  <a:cs typeface="微软雅黑" panose="020B0503020204020204" charset="-122"/>
                </a:rPr>
                <a:t>12 月 ｜ 秋冬场景深化</a:t>
              </a:r>
              <a:endParaRPr sz="110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 name="TextBox 33"/>
            <p:cNvSpPr txBox="1"/>
            <p:nvPr/>
          </p:nvSpPr>
          <p:spPr>
            <a:xfrm>
              <a:off x="16968" y="3312"/>
              <a:ext cx="1080" cy="432"/>
            </a:xfrm>
            <a:prstGeom prst="rect">
              <a:avLst/>
            </a:prstGeom>
            <a:noFill/>
          </p:spPr>
          <p:txBody>
            <a:bodyPr wrap="square" lIns="0" tIns="0" rIns="0" bIns="0" anchor="t">
              <a:spAutoFit/>
            </a:bodyPr>
            <a:lstStyle/>
            <a:p>
              <a:pPr algn="r">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预算 30%</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5" name="TextBox 34"/>
            <p:cNvSpPr txBox="1"/>
            <p:nvPr/>
          </p:nvSpPr>
          <p:spPr>
            <a:xfrm>
              <a:off x="12764" y="3744"/>
              <a:ext cx="5608" cy="896"/>
            </a:xfrm>
            <a:prstGeom prst="rect">
              <a:avLst/>
            </a:prstGeom>
            <a:noFill/>
          </p:spPr>
          <p:txBody>
            <a:bodyPr wrap="square" lIns="0" tIns="0" rIns="0" bIns="0" anchor="t">
              <a:spAutoFit/>
            </a:bodyPr>
            <a:lstStyle/>
            <a:p>
              <a:pPr algn="l">
                <a:lnSpc>
                  <a:spcPct val="128000"/>
                </a:lnSpc>
                <a:spcBef>
                  <a:spcPts val="0"/>
                </a:spcBef>
                <a:spcAft>
                  <a:spcPts val="300"/>
                </a:spcAft>
              </a:pPr>
              <a:r>
                <a:rPr sz="900">
                  <a:solidFill>
                    <a:srgbClr val="A8A8A8"/>
                  </a:solidFill>
                  <a:latin typeface="微软雅黑" panose="020B0503020204020204" charset="-122"/>
                  <a:ea typeface="微软雅黑" panose="020B0503020204020204" charset="-122"/>
                  <a:cs typeface="微软雅黑" panose="020B0503020204020204" charset="-122"/>
                  <a:sym typeface="+mn-ea"/>
                </a:rPr>
                <a:t>节点｜双 12 · 冬至 · 圣诞市集 · </a:t>
              </a:r>
              <a:r>
                <a:rPr lang="zh-CN" sz="900">
                  <a:solidFill>
                    <a:srgbClr val="A8A8A8"/>
                  </a:solidFill>
                  <a:latin typeface="微软雅黑" panose="020B0503020204020204" charset="-122"/>
                  <a:ea typeface="微软雅黑" panose="020B0503020204020204" charset="-122"/>
                  <a:cs typeface="微软雅黑" panose="020B0503020204020204" charset="-122"/>
                  <a:sym typeface="+mn-ea"/>
                </a:rPr>
                <a:t>秋冬奢旅</a:t>
              </a:r>
              <a:r>
                <a:rPr sz="900">
                  <a:solidFill>
                    <a:srgbClr val="A8A8A8"/>
                  </a:solidFill>
                  <a:latin typeface="微软雅黑" panose="020B0503020204020204" charset="-122"/>
                  <a:ea typeface="微软雅黑" panose="020B0503020204020204" charset="-122"/>
                  <a:cs typeface="微软雅黑" panose="020B0503020204020204" charset="-122"/>
                  <a:sym typeface="+mn-ea"/>
                </a:rPr>
                <a:t> ·</a:t>
              </a:r>
              <a:r>
                <a:rPr sz="900">
                  <a:solidFill>
                    <a:srgbClr val="A8A8A8"/>
                  </a:solidFill>
                  <a:latin typeface="微软雅黑" panose="020B0503020204020204" charset="-122"/>
                  <a:ea typeface="微软雅黑" panose="020B0503020204020204" charset="-122"/>
                  <a:cs typeface="微软雅黑" panose="020B0503020204020204" charset="-122"/>
                  <a:sym typeface="+mn-ea"/>
                </a:rPr>
                <a:t>跨年倒计时 · 元旦</a:t>
              </a:r>
              <a:endParaRPr sz="900" b="0" i="0">
                <a:solidFill>
                  <a:srgbClr val="A8A8A8"/>
                </a:solidFill>
                <a:latin typeface="微软雅黑" panose="020B0503020204020204" charset="-122"/>
                <a:ea typeface="微软雅黑" panose="020B0503020204020204" charset="-122"/>
                <a:cs typeface="微软雅黑" panose="020B0503020204020204" charset="-122"/>
              </a:endParaRPr>
            </a:p>
            <a:p>
              <a:pPr algn="l">
                <a:lnSpc>
                  <a:spcPct val="128000"/>
                </a:lnSpc>
                <a:spcBef>
                  <a:spcPts val="0"/>
                </a:spcBef>
                <a:spcAft>
                  <a:spcPts val="300"/>
                </a:spcAft>
              </a:pPr>
              <a:r>
                <a:rPr sz="900">
                  <a:solidFill>
                    <a:srgbClr val="D8D8D8"/>
                  </a:solidFill>
                  <a:latin typeface="微软雅黑" panose="020B0503020204020204" charset="-122"/>
                  <a:ea typeface="微软雅黑" panose="020B0503020204020204" charset="-122"/>
                  <a:cs typeface="微软雅黑" panose="020B0503020204020204" charset="-122"/>
                  <a:sym typeface="+mn-ea"/>
                </a:rPr>
                <a:t>讲清楚为什么在北海道、雨雪旅行、城市暴走、秋冬出行时，黑山成立？
</a:t>
              </a:r>
              <a:endParaRPr sz="90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6" name="Rectangle 35"/>
            <p:cNvSpPr/>
            <p:nvPr/>
          </p:nvSpPr>
          <p:spPr>
            <a:xfrm>
              <a:off x="13011" y="4522"/>
              <a:ext cx="5037" cy="17"/>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7" name="TextBox 36"/>
            <p:cNvSpPr txBox="1"/>
            <p:nvPr/>
          </p:nvSpPr>
          <p:spPr>
            <a:xfrm>
              <a:off x="13011" y="4666"/>
              <a:ext cx="5037" cy="253"/>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笔记</a:t>
              </a:r>
              <a:r>
                <a:rPr lang="zh-CN" sz="860" b="1" i="0">
                  <a:solidFill>
                    <a:srgbClr val="A8A8A8"/>
                  </a:solidFill>
                  <a:latin typeface="微软雅黑" panose="020B0503020204020204" charset="-122"/>
                  <a:ea typeface="微软雅黑" panose="020B0503020204020204" charset="-122"/>
                  <a:cs typeface="微软雅黑" panose="020B0503020204020204" charset="-122"/>
                </a:rPr>
                <a:t>规划</a:t>
              </a:r>
              <a:endParaRPr lang="zh-CN"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38" name="TextBox 37"/>
            <p:cNvSpPr txBox="1"/>
            <p:nvPr/>
          </p:nvSpPr>
          <p:spPr>
            <a:xfrm>
              <a:off x="13011" y="5011"/>
              <a:ext cx="5037" cy="720"/>
            </a:xfrm>
            <a:prstGeom prst="rect">
              <a:avLst/>
            </a:prstGeom>
            <a:noFill/>
          </p:spPr>
          <p:txBody>
            <a:bodyPr wrap="square" lIns="0" tIns="0" rIns="0" bIns="0" anchor="t">
              <a:spAutoFit/>
            </a:bodyPr>
            <a:lstStyle/>
            <a:p>
              <a:pPr algn="l">
                <a:lnSpc>
                  <a:spcPct val="130000"/>
                </a:lnSpc>
                <a:spcBef>
                  <a:spcPts val="0"/>
                </a:spcBef>
                <a:spcAft>
                  <a:spcPts val="300"/>
                </a:spcAft>
              </a:pPr>
              <a:r>
                <a:rPr sz="1050" b="0" i="0">
                  <a:solidFill>
                    <a:schemeClr val="tx1"/>
                  </a:solidFill>
                  <a:latin typeface="微软雅黑" panose="020B0503020204020204" charset="-122"/>
                  <a:ea typeface="微软雅黑" panose="020B0503020204020204" charset="-122"/>
                  <a:cs typeface="微软雅黑" panose="020B0503020204020204" charset="-122"/>
                </a:rPr>
                <a:t>奢旅穿搭 2 · 秋冬穿搭 10 · 产品开箱 2 · UGC 晒鞋 2</a:t>
              </a:r>
              <a:endParaRPr sz="1050" b="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r>
                <a:rPr lang="zh-CN" sz="1050" b="0" i="0">
                  <a:solidFill>
                    <a:schemeClr val="tx1"/>
                  </a:solidFill>
                  <a:latin typeface="微软雅黑" panose="020B0503020204020204" charset="-122"/>
                  <a:ea typeface="微软雅黑" panose="020B0503020204020204" charset="-122"/>
                  <a:cs typeface="微软雅黑" panose="020B0503020204020204" charset="-122"/>
                </a:rPr>
                <a:t>合计</a:t>
              </a:r>
              <a:r>
                <a:rPr lang="en-US" altLang="zh-CN" sz="1050" b="0" i="0">
                  <a:solidFill>
                    <a:schemeClr val="tx1"/>
                  </a:solidFill>
                  <a:latin typeface="微软雅黑" panose="020B0503020204020204" charset="-122"/>
                  <a:ea typeface="微软雅黑" panose="020B0503020204020204" charset="-122"/>
                  <a:cs typeface="微软雅黑" panose="020B0503020204020204" charset="-122"/>
                </a:rPr>
                <a:t>16</a:t>
              </a:r>
              <a:r>
                <a:rPr lang="zh-CN" altLang="en-US" sz="1050" b="0" i="0">
                  <a:solidFill>
                    <a:schemeClr val="tx1"/>
                  </a:solidFill>
                  <a:latin typeface="微软雅黑" panose="020B0503020204020204" charset="-122"/>
                  <a:ea typeface="微软雅黑" panose="020B0503020204020204" charset="-122"/>
                  <a:cs typeface="微软雅黑" panose="020B0503020204020204" charset="-122"/>
                </a:rPr>
                <a:t>篇</a:t>
              </a:r>
              <a:endParaRPr lang="zh-CN" altLang="en-US" sz="10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39" name="TextBox 38"/>
            <p:cNvSpPr txBox="1"/>
            <p:nvPr/>
          </p:nvSpPr>
          <p:spPr>
            <a:xfrm>
              <a:off x="13011" y="6106"/>
              <a:ext cx="5037" cy="567"/>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chemeClr val="tx1"/>
                  </a:solidFill>
                  <a:latin typeface="微软雅黑" panose="020B0503020204020204" charset="-122"/>
                  <a:ea typeface="微软雅黑" panose="020B0503020204020204" charset="-122"/>
                  <a:cs typeface="微软雅黑" panose="020B0503020204020204" charset="-122"/>
                </a:rPr>
                <a:t>达人合作</a:t>
              </a:r>
              <a:r>
                <a:rPr lang="zh-CN" sz="860">
                  <a:solidFill>
                    <a:schemeClr val="tx1"/>
                  </a:solidFill>
                  <a:latin typeface="微软雅黑" panose="020B0503020204020204" charset="-122"/>
                  <a:ea typeface="微软雅黑" panose="020B0503020204020204" charset="-122"/>
                  <a:cs typeface="微软雅黑" panose="020B0503020204020204" charset="-122"/>
                  <a:sym typeface="+mn-ea"/>
                </a:rPr>
                <a:t>合计</a:t>
              </a:r>
              <a:r>
                <a:rPr lang="en-US" altLang="zh-CN" sz="860">
                  <a:solidFill>
                    <a:schemeClr val="tx1"/>
                  </a:solidFill>
                  <a:latin typeface="微软雅黑" panose="020B0503020204020204" charset="-122"/>
                  <a:ea typeface="微软雅黑" panose="020B0503020204020204" charset="-122"/>
                  <a:cs typeface="微软雅黑" panose="020B0503020204020204" charset="-122"/>
                  <a:sym typeface="+mn-ea"/>
                </a:rPr>
                <a:t> 24</a:t>
              </a:r>
              <a:r>
                <a:rPr lang="zh-CN" altLang="en-US" sz="860">
                  <a:solidFill>
                    <a:schemeClr val="tx1"/>
                  </a:solidFill>
                  <a:latin typeface="微软雅黑" panose="020B0503020204020204" charset="-122"/>
                  <a:ea typeface="微软雅黑" panose="020B0503020204020204" charset="-122"/>
                  <a:cs typeface="微软雅黑" panose="020B0503020204020204" charset="-122"/>
                  <a:sym typeface="+mn-ea"/>
                </a:rPr>
                <a:t>篇</a:t>
              </a:r>
              <a:endParaRPr lang="zh-CN" altLang="en-US" sz="860" b="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22000"/>
                </a:lnSpc>
                <a:spcBef>
                  <a:spcPts val="0"/>
                </a:spcBef>
                <a:spcAft>
                  <a:spcPts val="300"/>
                </a:spcAft>
              </a:pPr>
              <a:endParaRPr lang="zh-CN" altLang="en-US" sz="86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0" name="TextBox 39"/>
            <p:cNvSpPr txBox="1"/>
            <p:nvPr/>
          </p:nvSpPr>
          <p:spPr>
            <a:xfrm>
              <a:off x="13011" y="6451"/>
              <a:ext cx="5037" cy="284"/>
            </a:xfrm>
            <a:prstGeom prst="rect">
              <a:avLst/>
            </a:prstGeom>
            <a:noFill/>
          </p:spPr>
          <p:txBody>
            <a:bodyPr wrap="square" lIns="0" tIns="0" rIns="0" bIns="0" anchor="t">
              <a:spAutoFit/>
            </a:bodyPr>
            <a:lstStyle/>
            <a:p>
              <a:pPr algn="l">
                <a:lnSpc>
                  <a:spcPct val="124000"/>
                </a:lnSpc>
                <a:spcBef>
                  <a:spcPts val="0"/>
                </a:spcBef>
                <a:spcAft>
                  <a:spcPts val="300"/>
                </a:spcAft>
              </a:pPr>
              <a:r>
                <a:rPr sz="950">
                  <a:solidFill>
                    <a:srgbClr val="D8D8D8"/>
                  </a:solidFill>
                  <a:latin typeface="微软雅黑" panose="020B0503020204020204" charset="-122"/>
                  <a:ea typeface="微软雅黑" panose="020B0503020204020204" charset="-122"/>
                  <a:cs typeface="微软雅黑" panose="020B0503020204020204" charset="-122"/>
                  <a:sym typeface="+mn-ea"/>
                </a:rPr>
                <a:t>奢旅 / 生活方式 / 情侣 / 家庭礼赠向 + 高质旅行 vlog 博主</a:t>
              </a:r>
              <a:endParaRPr sz="950" b="0" i="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41" name="TextBox 40"/>
            <p:cNvSpPr txBox="1"/>
            <p:nvPr/>
          </p:nvSpPr>
          <p:spPr>
            <a:xfrm>
              <a:off x="13011" y="6831"/>
              <a:ext cx="5037" cy="346"/>
            </a:xfrm>
            <a:prstGeom prst="rect">
              <a:avLst/>
            </a:prstGeom>
            <a:noFill/>
          </p:spPr>
          <p:txBody>
            <a:bodyPr wrap="square" lIns="0" tIns="0" rIns="0" bIns="0" anchor="t">
              <a:spAutoFit/>
            </a:bodyPr>
            <a:lstStyle/>
            <a:p>
              <a:pPr algn="l">
                <a:lnSpc>
                  <a:spcPct val="122000"/>
                </a:lnSpc>
                <a:spcBef>
                  <a:spcPts val="0"/>
                </a:spcBef>
                <a:spcAft>
                  <a:spcPts val="300"/>
                </a:spcAft>
              </a:pPr>
              <a:r>
                <a:rPr sz="860" b="1" i="0">
                  <a:solidFill>
                    <a:srgbClr val="A8A8A8"/>
                  </a:solidFill>
                  <a:latin typeface="微软雅黑" panose="020B0503020204020204" charset="-122"/>
                  <a:ea typeface="微软雅黑" panose="020B0503020204020204" charset="-122"/>
                  <a:cs typeface="微软雅黑" panose="020B0503020204020204" charset="-122"/>
                </a:rPr>
                <a:t>内容策略</a:t>
              </a:r>
              <a:endParaRPr sz="860" b="1" i="0">
                <a:solidFill>
                  <a:srgbClr val="A8A8A8"/>
                </a:solidFill>
                <a:latin typeface="微软雅黑" panose="020B0503020204020204" charset="-122"/>
                <a:ea typeface="微软雅黑" panose="020B0503020204020204" charset="-122"/>
                <a:cs typeface="微软雅黑" panose="020B0503020204020204" charset="-122"/>
              </a:endParaRPr>
            </a:p>
          </p:txBody>
        </p:sp>
        <p:sp>
          <p:nvSpPr>
            <p:cNvPr id="42" name="TextBox 41"/>
            <p:cNvSpPr txBox="1"/>
            <p:nvPr/>
          </p:nvSpPr>
          <p:spPr>
            <a:xfrm>
              <a:off x="13011" y="7148"/>
              <a:ext cx="5037" cy="957"/>
            </a:xfrm>
            <a:prstGeom prst="rect">
              <a:avLst/>
            </a:prstGeom>
            <a:noFill/>
          </p:spPr>
          <p:txBody>
            <a:bodyPr wrap="square" lIns="0" tIns="0" rIns="0" bIns="0" anchor="t">
              <a:spAutoFit/>
            </a:bodyPr>
            <a:lstStyle/>
            <a:p>
              <a:pPr algn="l">
                <a:lnSpc>
                  <a:spcPct val="130000"/>
                </a:lnSpc>
                <a:spcBef>
                  <a:spcPts val="0"/>
                </a:spcBef>
                <a:spcAft>
                  <a:spcPts val="300"/>
                </a:spcAft>
              </a:pPr>
              <a:r>
                <a:rPr sz="950" b="0" i="0">
                  <a:solidFill>
                    <a:schemeClr val="tx1"/>
                  </a:solidFill>
                  <a:latin typeface="微软雅黑" panose="020B0503020204020204" charset="-122"/>
                  <a:ea typeface="微软雅黑" panose="020B0503020204020204" charset="-122"/>
                  <a:cs typeface="微软雅黑" panose="020B0503020204020204" charset="-122"/>
                </a:rPr>
                <a:t>秋冬旅行穿搭 · 跨年圣诞礼物向开箱 · 年度爱用跑</a:t>
              </a:r>
              <a:r>
                <a:rPr lang="zh-CN" sz="950" b="0" i="0">
                  <a:solidFill>
                    <a:schemeClr val="tx1"/>
                  </a:solidFill>
                  <a:latin typeface="微软雅黑" panose="020B0503020204020204" charset="-122"/>
                  <a:ea typeface="微软雅黑" panose="020B0503020204020204" charset="-122"/>
                  <a:cs typeface="微软雅黑" panose="020B0503020204020204" charset="-122"/>
                </a:rPr>
                <a:t>山</a:t>
              </a:r>
              <a:r>
                <a:rPr sz="950" b="0" i="0">
                  <a:solidFill>
                    <a:schemeClr val="tx1"/>
                  </a:solidFill>
                  <a:latin typeface="微软雅黑" panose="020B0503020204020204" charset="-122"/>
                  <a:ea typeface="微软雅黑" panose="020B0503020204020204" charset="-122"/>
                  <a:cs typeface="微软雅黑" panose="020B0503020204020204" charset="-122"/>
                </a:rPr>
                <a:t>鞋盘点</a:t>
              </a:r>
              <a:endParaRPr sz="950" b="0" i="0">
                <a:solidFill>
                  <a:schemeClr val="tx1"/>
                </a:solidFill>
                <a:latin typeface="微软雅黑" panose="020B0503020204020204" charset="-122"/>
                <a:ea typeface="微软雅黑" panose="020B0503020204020204" charset="-122"/>
                <a:cs typeface="微软雅黑" panose="020B0503020204020204" charset="-122"/>
              </a:endParaRPr>
            </a:p>
            <a:p>
              <a:pPr algn="l">
                <a:lnSpc>
                  <a:spcPct val="130000"/>
                </a:lnSpc>
                <a:spcBef>
                  <a:spcPts val="0"/>
                </a:spcBef>
                <a:spcAft>
                  <a:spcPts val="300"/>
                </a:spcAft>
              </a:pPr>
              <a:r>
                <a:rPr lang="zh-CN" sz="950" b="0" i="0">
                  <a:solidFill>
                    <a:schemeClr val="tx1"/>
                  </a:solidFill>
                  <a:latin typeface="微软雅黑" panose="020B0503020204020204" charset="-122"/>
                  <a:ea typeface="微软雅黑" panose="020B0503020204020204" charset="-122"/>
                  <a:cs typeface="微软雅黑" panose="020B0503020204020204" charset="-122"/>
                </a:rPr>
                <a:t>（</a:t>
              </a:r>
              <a:r>
                <a:rPr sz="950">
                  <a:solidFill>
                    <a:schemeClr val="tx1"/>
                  </a:solidFill>
                  <a:latin typeface="微软雅黑" panose="020B0503020204020204" charset="-122"/>
                  <a:ea typeface="微软雅黑" panose="020B0503020204020204" charset="-122"/>
                  <a:cs typeface="微软雅黑" panose="020B0503020204020204" charset="-122"/>
                  <a:sym typeface="+mn-ea"/>
                </a:rPr>
                <a:t>「不同旅行目的地怎么选」「情侣 / 家庭 / 礼赠不同需求怎么选」</a:t>
              </a:r>
              <a:r>
                <a:rPr lang="zh-CN" sz="950" b="0" i="0">
                  <a:solidFill>
                    <a:schemeClr val="tx1"/>
                  </a:solidFill>
                  <a:latin typeface="微软雅黑" panose="020B0503020204020204" charset="-122"/>
                  <a:ea typeface="微软雅黑" panose="020B0503020204020204" charset="-122"/>
                  <a:cs typeface="微软雅黑" panose="020B0503020204020204" charset="-122"/>
                </a:rPr>
                <a:t>）</a:t>
              </a:r>
              <a:r>
                <a:rPr sz="950">
                  <a:solidFill>
                    <a:schemeClr val="tx1"/>
                  </a:solidFill>
                  <a:latin typeface="微软雅黑" panose="020B0503020204020204" charset="-122"/>
                  <a:ea typeface="微软雅黑" panose="020B0503020204020204" charset="-122"/>
                  <a:cs typeface="微软雅黑" panose="020B0503020204020204" charset="-122"/>
                  <a:sym typeface="+mn-ea"/>
                </a:rPr>
                <a:t> 行李清单 · 「一双鞋走完北海道」vlog · 情侣</a:t>
              </a:r>
              <a:endParaRPr lang="zh-CN" sz="950" b="0" i="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61" name="Rectangle 60"/>
            <p:cNvSpPr/>
            <p:nvPr/>
          </p:nvSpPr>
          <p:spPr>
            <a:xfrm>
              <a:off x="12708" y="8355"/>
              <a:ext cx="5592" cy="130"/>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grpSp>
          <p:nvGrpSpPr>
            <p:cNvPr id="70" name="组合 69"/>
            <p:cNvGrpSpPr/>
            <p:nvPr/>
          </p:nvGrpSpPr>
          <p:grpSpPr>
            <a:xfrm rot="0">
              <a:off x="6750" y="8427"/>
              <a:ext cx="11550" cy="1526"/>
              <a:chOff x="6793" y="8640"/>
              <a:chExt cx="11550" cy="1526"/>
            </a:xfrm>
          </p:grpSpPr>
          <p:sp>
            <p:nvSpPr>
              <p:cNvPr id="56" name="Rectangle 55"/>
              <p:cNvSpPr/>
              <p:nvPr/>
            </p:nvSpPr>
            <p:spPr>
              <a:xfrm>
                <a:off x="6793" y="8640"/>
                <a:ext cx="5656" cy="152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57" name="Rectangle 56"/>
              <p:cNvSpPr/>
              <p:nvPr/>
            </p:nvSpPr>
            <p:spPr>
              <a:xfrm>
                <a:off x="6793" y="8640"/>
                <a:ext cx="5656" cy="131"/>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59" name="TextBox 58"/>
              <p:cNvSpPr txBox="1"/>
              <p:nvPr/>
            </p:nvSpPr>
            <p:spPr>
              <a:xfrm>
                <a:off x="7023" y="8985"/>
                <a:ext cx="5359" cy="1078"/>
              </a:xfrm>
              <a:prstGeom prst="rect">
                <a:avLst/>
              </a:prstGeom>
              <a:noFill/>
            </p:spPr>
            <p:txBody>
              <a:bodyPr wrap="square" lIns="0" tIns="0" rIns="0" bIns="0" anchor="t">
                <a:spAutoFit/>
              </a:bodyPr>
              <a:lstStyle/>
              <a:p>
                <a:pPr algn="ctr">
                  <a:lnSpc>
                    <a:spcPct val="150000"/>
                  </a:lnSpc>
                  <a:spcBef>
                    <a:spcPts val="0"/>
                  </a:spcBef>
                  <a:spcAft>
                    <a:spcPts val="300"/>
                  </a:spcAft>
                </a:pPr>
                <a:r>
                  <a:rPr sz="1400" b="1">
                    <a:solidFill>
                      <a:srgbClr val="FFC000"/>
                    </a:solidFill>
                    <a:latin typeface="微软雅黑" panose="020B0503020204020204" charset="-122"/>
                    <a:ea typeface="微软雅黑" panose="020B0503020204020204" charset="-122"/>
                    <a:cs typeface="微软雅黑" panose="020B0503020204020204" charset="-122"/>
                    <a:sym typeface="+mn-ea"/>
                  </a:rPr>
                  <a:t>好物分享 / 晒鞋 UGC 讲常规 VS GTX</a:t>
                </a:r>
                <a:endParaRPr sz="1400" b="1">
                  <a:solidFill>
                    <a:srgbClr val="FFC000"/>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spcBef>
                    <a:spcPts val="0"/>
                  </a:spcBef>
                  <a:spcAft>
                    <a:spcPts val="300"/>
                  </a:spcAft>
                </a:pPr>
                <a:r>
                  <a:rPr sz="1400" b="1">
                    <a:solidFill>
                      <a:srgbClr val="FFC000"/>
                    </a:solidFill>
                    <a:latin typeface="微软雅黑" panose="020B0503020204020204" charset="-122"/>
                    <a:ea typeface="微软雅黑" panose="020B0503020204020204" charset="-122"/>
                    <a:cs typeface="微软雅黑" panose="020B0503020204020204" charset="-122"/>
                    <a:sym typeface="+mn-ea"/>
                  </a:rPr>
                  <a:t>投给双 11 蓄水与品牌竞品人群</a:t>
                </a:r>
                <a:endParaRPr sz="1400" b="1" i="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76" name="TextBox 58"/>
              <p:cNvSpPr txBox="1"/>
              <p:nvPr/>
            </p:nvSpPr>
            <p:spPr>
              <a:xfrm>
                <a:off x="12984" y="8985"/>
                <a:ext cx="5359" cy="1078"/>
              </a:xfrm>
              <a:prstGeom prst="rect">
                <a:avLst/>
              </a:prstGeom>
              <a:noFill/>
            </p:spPr>
            <p:txBody>
              <a:bodyPr wrap="square" lIns="0" tIns="0" rIns="0" bIns="0" anchor="t">
                <a:spAutoFit/>
              </a:bodyPr>
              <a:lstStyle/>
              <a:p>
                <a:pPr algn="ctr">
                  <a:lnSpc>
                    <a:spcPct val="150000"/>
                  </a:lnSpc>
                  <a:spcBef>
                    <a:spcPts val="0"/>
                  </a:spcBef>
                  <a:spcAft>
                    <a:spcPts val="300"/>
                  </a:spcAft>
                </a:pPr>
                <a:r>
                  <a:rPr sz="1400" b="1">
                    <a:solidFill>
                      <a:srgbClr val="FFC000"/>
                    </a:solidFill>
                    <a:latin typeface="微软雅黑" panose="020B0503020204020204" charset="-122"/>
                    <a:ea typeface="微软雅黑" panose="020B0503020204020204" charset="-122"/>
                    <a:cs typeface="微软雅黑" panose="020B0503020204020204" charset="-122"/>
                    <a:sym typeface="+mn-ea"/>
                  </a:rPr>
                  <a:t>奢旅 / 生活方式博主讲专业 × 场景</a:t>
                </a:r>
                <a:endParaRPr sz="1400" b="1">
                  <a:solidFill>
                    <a:srgbClr val="FFC000"/>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spcBef>
                    <a:spcPts val="0"/>
                  </a:spcBef>
                  <a:spcAft>
                    <a:spcPts val="300"/>
                  </a:spcAft>
                </a:pPr>
                <a:r>
                  <a:rPr sz="1400" b="1">
                    <a:solidFill>
                      <a:srgbClr val="FFC000"/>
                    </a:solidFill>
                    <a:latin typeface="微软雅黑" panose="020B0503020204020204" charset="-122"/>
                    <a:ea typeface="微软雅黑" panose="020B0503020204020204" charset="-122"/>
                    <a:cs typeface="微软雅黑" panose="020B0503020204020204" charset="-122"/>
                    <a:sym typeface="+mn-ea"/>
                  </a:rPr>
                  <a:t>投给高质旅行与秋冬出游人群</a:t>
                </a:r>
                <a:endParaRPr sz="1400" b="1" i="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1" name="组合 70"/>
            <p:cNvGrpSpPr/>
            <p:nvPr/>
          </p:nvGrpSpPr>
          <p:grpSpPr>
            <a:xfrm rot="0">
              <a:off x="849" y="8427"/>
              <a:ext cx="5656" cy="1526"/>
              <a:chOff x="6793" y="8640"/>
              <a:chExt cx="5656" cy="1526"/>
            </a:xfrm>
          </p:grpSpPr>
          <p:sp>
            <p:nvSpPr>
              <p:cNvPr id="72" name="Rectangle 55"/>
              <p:cNvSpPr/>
              <p:nvPr/>
            </p:nvSpPr>
            <p:spPr>
              <a:xfrm>
                <a:off x="6793" y="8640"/>
                <a:ext cx="5656" cy="1526"/>
              </a:xfrm>
              <a:prstGeom prst="rect">
                <a:avLst/>
              </a:prstGeom>
              <a:solidFill>
                <a:srgbClr val="24242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73" name="Rectangle 56"/>
              <p:cNvSpPr/>
              <p:nvPr/>
            </p:nvSpPr>
            <p:spPr>
              <a:xfrm>
                <a:off x="6793" y="8640"/>
                <a:ext cx="5656" cy="131"/>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75" name="TextBox 58"/>
              <p:cNvSpPr txBox="1"/>
              <p:nvPr/>
            </p:nvSpPr>
            <p:spPr>
              <a:xfrm>
                <a:off x="6883" y="8985"/>
                <a:ext cx="5359" cy="1078"/>
              </a:xfrm>
              <a:prstGeom prst="rect">
                <a:avLst/>
              </a:prstGeom>
              <a:noFill/>
            </p:spPr>
            <p:txBody>
              <a:bodyPr wrap="square" lIns="0" tIns="0" rIns="0" bIns="0" anchor="t">
                <a:spAutoFit/>
              </a:bodyPr>
              <a:lstStyle/>
              <a:p>
                <a:pPr algn="ctr">
                  <a:lnSpc>
                    <a:spcPct val="150000"/>
                  </a:lnSpc>
                  <a:spcBef>
                    <a:spcPts val="0"/>
                  </a:spcBef>
                  <a:spcAft>
                    <a:spcPts val="300"/>
                  </a:spcAft>
                </a:pPr>
                <a:r>
                  <a:rPr sz="1400" b="1">
                    <a:solidFill>
                      <a:srgbClr val="FFC000"/>
                    </a:solidFill>
                    <a:latin typeface="微软雅黑" panose="020B0503020204020204" charset="-122"/>
                    <a:ea typeface="微软雅黑" panose="020B0503020204020204" charset="-122"/>
                    <a:cs typeface="微软雅黑" panose="020B0503020204020204" charset="-122"/>
                    <a:sym typeface="+mn-ea"/>
                  </a:rPr>
                  <a:t>时尚 / 都市质感博主讲审美 × 性能</a:t>
                </a:r>
                <a:endParaRPr sz="1400" b="0" i="0">
                  <a:solidFill>
                    <a:srgbClr val="FFC000"/>
                  </a:solidFill>
                  <a:latin typeface="微软雅黑" panose="020B0503020204020204" charset="-122"/>
                  <a:ea typeface="微软雅黑" panose="020B0503020204020204" charset="-122"/>
                  <a:cs typeface="微软雅黑" panose="020B0503020204020204" charset="-122"/>
                </a:endParaRPr>
              </a:p>
              <a:p>
                <a:pPr algn="ctr">
                  <a:lnSpc>
                    <a:spcPct val="150000"/>
                  </a:lnSpc>
                  <a:spcBef>
                    <a:spcPts val="0"/>
                  </a:spcBef>
                  <a:spcAft>
                    <a:spcPts val="300"/>
                  </a:spcAft>
                </a:pPr>
                <a:r>
                  <a:rPr sz="1400" b="1">
                    <a:solidFill>
                      <a:srgbClr val="FFC000"/>
                    </a:solidFill>
                    <a:latin typeface="微软雅黑" panose="020B0503020204020204" charset="-122"/>
                    <a:ea typeface="微软雅黑" panose="020B0503020204020204" charset="-122"/>
                    <a:cs typeface="微软雅黑" panose="020B0503020204020204" charset="-122"/>
                    <a:sym typeface="+mn-ea"/>
                  </a:rPr>
                  <a:t>投给奢品户外与时尚机能人群</a:t>
                </a:r>
                <a:endParaRPr sz="1400" b="1" i="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47472"/>
            <a:ext cx="11094415" cy="196850"/>
          </a:xfrm>
          <a:prstGeom prst="rect">
            <a:avLst/>
          </a:prstGeom>
          <a:noFill/>
        </p:spPr>
        <p:txBody>
          <a:bodyPr wrap="square" lIns="0" tIns="0" rIns="0" bIns="0" anchor="t">
            <a:spAutoFit/>
          </a:bodyPr>
          <a:lstStyle/>
          <a:p>
            <a:pPr algn="l">
              <a:lnSpc>
                <a:spcPct val="122000"/>
              </a:lnSpc>
              <a:spcBef>
                <a:spcPts val="0"/>
              </a:spcBef>
              <a:spcAft>
                <a:spcPts val="300"/>
              </a:spcAft>
            </a:pPr>
            <a:r>
              <a:rPr sz="1050" b="1" i="0">
                <a:solidFill>
                  <a:srgbClr val="E8B04B"/>
                </a:solidFill>
                <a:latin typeface="微软雅黑" panose="020B0503020204020204" charset="-122"/>
                <a:ea typeface="微软雅黑" panose="020B0503020204020204" charset="-122"/>
                <a:cs typeface="微软雅黑" panose="020B0503020204020204" charset="-122"/>
              </a:rPr>
              <a:t>PART 06 ｜ P2</a:t>
            </a:r>
            <a:r>
              <a:rPr lang="en-US" altLang="zh-CN" sz="1050" b="1" i="0">
                <a:solidFill>
                  <a:srgbClr val="E8B04B"/>
                </a:solidFill>
                <a:latin typeface="微软雅黑" panose="020B0503020204020204" charset="-122"/>
                <a:ea typeface="微软雅黑" panose="020B0503020204020204" charset="-122"/>
                <a:cs typeface="微软雅黑" panose="020B0503020204020204" charset="-122"/>
              </a:rPr>
              <a:t>1</a:t>
            </a:r>
            <a:endParaRPr sz="1050" b="1" i="0">
              <a:solidFill>
                <a:srgbClr val="E8B04B"/>
              </a:solidFill>
              <a:latin typeface="微软雅黑" panose="020B0503020204020204" charset="-122"/>
              <a:ea typeface="微软雅黑" panose="020B0503020204020204" charset="-122"/>
              <a:cs typeface="微软雅黑" panose="020B0503020204020204" charset="-122"/>
            </a:endParaRPr>
          </a:p>
        </p:txBody>
      </p:sp>
      <p:sp>
        <p:nvSpPr>
          <p:cNvPr id="3" name="TextBox 2"/>
          <p:cNvSpPr txBox="1"/>
          <p:nvPr/>
        </p:nvSpPr>
        <p:spPr>
          <a:xfrm>
            <a:off x="548640" y="603250"/>
            <a:ext cx="2642235" cy="431165"/>
          </a:xfrm>
          <a:prstGeom prst="rect">
            <a:avLst/>
          </a:prstGeom>
          <a:noFill/>
        </p:spPr>
        <p:txBody>
          <a:bodyPr wrap="square" lIns="0" tIns="0" rIns="0" bIns="0" anchor="t">
            <a:spAutoFit/>
          </a:bodyPr>
          <a:lstStyle/>
          <a:p>
            <a:pPr algn="l">
              <a:lnSpc>
                <a:spcPct val="122000"/>
              </a:lnSpc>
              <a:spcBef>
                <a:spcPts val="0"/>
              </a:spcBef>
              <a:spcAft>
                <a:spcPts val="300"/>
              </a:spcAft>
            </a:pPr>
            <a:r>
              <a:rPr sz="2300" b="1" i="0">
                <a:solidFill>
                  <a:srgbClr val="FFFFFF"/>
                </a:solidFill>
                <a:latin typeface="微软雅黑" panose="020B0503020204020204" charset="-122"/>
                <a:ea typeface="微软雅黑" panose="020B0503020204020204" charset="-122"/>
                <a:cs typeface="微软雅黑" panose="020B0503020204020204" charset="-122"/>
              </a:rPr>
              <a:t>可落地</a:t>
            </a:r>
            <a:r>
              <a:rPr lang="zh-CN" sz="2300" b="1" i="0">
                <a:solidFill>
                  <a:srgbClr val="FFFFFF"/>
                </a:solidFill>
                <a:latin typeface="微软雅黑" panose="020B0503020204020204" charset="-122"/>
                <a:ea typeface="微软雅黑" panose="020B0503020204020204" charset="-122"/>
                <a:cs typeface="微软雅黑" panose="020B0503020204020204" charset="-122"/>
              </a:rPr>
              <a:t>内容方向</a:t>
            </a:r>
            <a:r>
              <a:rPr sz="2300" b="1" i="0">
                <a:solidFill>
                  <a:srgbClr val="FFFFFF"/>
                </a:solidFill>
                <a:latin typeface="微软雅黑" panose="020B0503020204020204" charset="-122"/>
                <a:ea typeface="微软雅黑" panose="020B0503020204020204" charset="-122"/>
                <a:cs typeface="微软雅黑" panose="020B0503020204020204" charset="-122"/>
              </a:rPr>
              <a:t> </a:t>
            </a:r>
            <a:endParaRPr sz="2300" b="1" i="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54" name="组合 53"/>
          <p:cNvGrpSpPr/>
          <p:nvPr/>
        </p:nvGrpSpPr>
        <p:grpSpPr>
          <a:xfrm>
            <a:off x="480060" y="1225550"/>
            <a:ext cx="11177905" cy="5267960"/>
            <a:chOff x="756" y="2275"/>
            <a:chExt cx="17603" cy="8296"/>
          </a:xfrm>
        </p:grpSpPr>
        <p:sp>
          <p:nvSpPr>
            <p:cNvPr id="5" name="Rectangle 4"/>
            <p:cNvSpPr/>
            <p:nvPr/>
          </p:nvSpPr>
          <p:spPr>
            <a:xfrm>
              <a:off x="864" y="2275"/>
              <a:ext cx="4109" cy="440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6" name="Rectangle 5"/>
            <p:cNvSpPr/>
            <p:nvPr/>
          </p:nvSpPr>
          <p:spPr>
            <a:xfrm>
              <a:off x="864" y="2275"/>
              <a:ext cx="4109" cy="72"/>
            </a:xfrm>
            <a:prstGeom prst="rect">
              <a:avLst/>
            </a:prstGeom>
            <a:solidFill>
              <a:srgbClr val="E8B04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7" name="TextBox 6"/>
            <p:cNvSpPr txBox="1"/>
            <p:nvPr/>
          </p:nvSpPr>
          <p:spPr>
            <a:xfrm>
              <a:off x="1123" y="2448"/>
              <a:ext cx="3590" cy="403"/>
            </a:xfrm>
            <a:prstGeom prst="rect">
              <a:avLst/>
            </a:prstGeom>
            <a:noFill/>
          </p:spPr>
          <p:txBody>
            <a:bodyPr wrap="square" lIns="0" tIns="0" rIns="0" bIns="0" anchor="t">
              <a:spAutoFit/>
            </a:bodyPr>
            <a:lstStyle/>
            <a:p>
              <a:pPr algn="l">
                <a:lnSpc>
                  <a:spcPct val="122000"/>
                </a:lnSpc>
                <a:spcBef>
                  <a:spcPts val="0"/>
                </a:spcBef>
                <a:spcAft>
                  <a:spcPts val="300"/>
                </a:spcAft>
              </a:pPr>
              <a:r>
                <a:rPr sz="960" b="1" i="0">
                  <a:solidFill>
                    <a:srgbClr val="FFFFFF"/>
                  </a:solidFill>
                  <a:latin typeface="微软雅黑" panose="020B0503020204020204" charset="-122"/>
                  <a:ea typeface="微软雅黑" panose="020B0503020204020204" charset="-122"/>
                  <a:cs typeface="微软雅黑" panose="020B0503020204020204" charset="-122"/>
                </a:rPr>
                <a:t>① 趋势借势 · 蹭秋冬审美的势</a:t>
              </a:r>
              <a:endParaRPr sz="96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TextBox 7"/>
            <p:cNvSpPr txBox="1"/>
            <p:nvPr/>
          </p:nvSpPr>
          <p:spPr>
            <a:xfrm>
              <a:off x="1123" y="2938"/>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「灰调取代美拉德」—— 秋冬低饱和衣橱里的一双全黑</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9" name="TextBox 8"/>
            <p:cNvSpPr txBox="1"/>
            <p:nvPr/>
          </p:nvSpPr>
          <p:spPr>
            <a:xfrm>
              <a:off x="1123" y="354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结构感廓形专场：松而不垮的秋冬外套 × 机能下装</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0" name="TextBox 9"/>
            <p:cNvSpPr txBox="1"/>
            <p:nvPr/>
          </p:nvSpPr>
          <p:spPr>
            <a:xfrm>
              <a:off x="1123" y="414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隐形防护面料：防水透湿不再是户外玩家的暗语</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1" name="TextBox 10"/>
            <p:cNvSpPr txBox="1"/>
            <p:nvPr/>
          </p:nvSpPr>
          <p:spPr>
            <a:xfrm>
              <a:off x="1123" y="475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巴恩风 / 城市户外：一份不露 logo 的高级感公式</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2" name="TextBox 11"/>
            <p:cNvSpPr txBox="1"/>
            <p:nvPr/>
          </p:nvSpPr>
          <p:spPr>
            <a:xfrm>
              <a:off x="1123" y="535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「一双鞋切换通勤和出游」的一件多穿方案</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3" name="TextBox 12"/>
            <p:cNvSpPr txBox="1"/>
            <p:nvPr/>
          </p:nvSpPr>
          <p:spPr>
            <a:xfrm>
              <a:off x="1123" y="596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秋冬citywalk：把两万步走得像拍杂志封面</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4" name="Rectangle 13"/>
            <p:cNvSpPr/>
            <p:nvPr/>
          </p:nvSpPr>
          <p:spPr>
            <a:xfrm>
              <a:off x="5318" y="2275"/>
              <a:ext cx="4109" cy="440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5" name="Rectangle 14"/>
            <p:cNvSpPr/>
            <p:nvPr/>
          </p:nvSpPr>
          <p:spPr>
            <a:xfrm>
              <a:off x="5318" y="2275"/>
              <a:ext cx="4109" cy="72"/>
            </a:xfrm>
            <a:prstGeom prst="rect">
              <a:avLst/>
            </a:prstGeom>
            <a:solidFill>
              <a:srgbClr val="4DBF8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16" name="TextBox 15"/>
            <p:cNvSpPr txBox="1"/>
            <p:nvPr/>
          </p:nvSpPr>
          <p:spPr>
            <a:xfrm>
              <a:off x="5577" y="2448"/>
              <a:ext cx="3590" cy="403"/>
            </a:xfrm>
            <a:prstGeom prst="rect">
              <a:avLst/>
            </a:prstGeom>
            <a:noFill/>
          </p:spPr>
          <p:txBody>
            <a:bodyPr wrap="square" lIns="0" tIns="0" rIns="0" bIns="0" anchor="t">
              <a:spAutoFit/>
            </a:bodyPr>
            <a:lstStyle/>
            <a:p>
              <a:pPr algn="l">
                <a:lnSpc>
                  <a:spcPct val="122000"/>
                </a:lnSpc>
                <a:spcBef>
                  <a:spcPts val="0"/>
                </a:spcBef>
                <a:spcAft>
                  <a:spcPts val="300"/>
                </a:spcAft>
              </a:pPr>
              <a:r>
                <a:rPr sz="960" b="1" i="0">
                  <a:solidFill>
                    <a:srgbClr val="FFFFFF"/>
                  </a:solidFill>
                  <a:latin typeface="微软雅黑" panose="020B0503020204020204" charset="-122"/>
                  <a:ea typeface="微软雅黑" panose="020B0503020204020204" charset="-122"/>
                  <a:cs typeface="微软雅黑" panose="020B0503020204020204" charset="-122"/>
                </a:rPr>
                <a:t>② 节点借势 · 蹭日历的势</a:t>
              </a:r>
              <a:endParaRPr sz="96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 name="TextBox 16"/>
            <p:cNvSpPr txBox="1"/>
            <p:nvPr/>
          </p:nvSpPr>
          <p:spPr>
            <a:xfrm>
              <a:off x="5577" y="2938"/>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「秋天第一双户外鞋」—— 换季第一笔鞋类预算</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8" name="TextBox 17"/>
            <p:cNvSpPr txBox="1"/>
            <p:nvPr/>
          </p:nvSpPr>
          <p:spPr>
            <a:xfrm>
              <a:off x="5577" y="354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比万圣夜更黑的是黑山 —— 全黑造型的暗黑美学夜</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19" name="TextBox 18"/>
            <p:cNvSpPr txBox="1"/>
            <p:nvPr/>
          </p:nvSpPr>
          <p:spPr>
            <a:xfrm>
              <a:off x="5577" y="4147"/>
              <a:ext cx="3590" cy="238"/>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「双 11 我只加购了这一双」的私藏清单</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0" name="TextBox 19"/>
            <p:cNvSpPr txBox="1"/>
            <p:nvPr/>
          </p:nvSpPr>
          <p:spPr>
            <a:xfrm>
              <a:off x="5577" y="475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立冬初雪：「初雪那天穿什么」的雪地上脚实拍</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1" name="TextBox 20"/>
            <p:cNvSpPr txBox="1"/>
            <p:nvPr/>
          </p:nvSpPr>
          <p:spPr>
            <a:xfrm>
              <a:off x="5577" y="535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圣诞市集：欧洲小镇石板路与热红酒步行线路</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2" name="TextBox 21"/>
            <p:cNvSpPr txBox="1"/>
            <p:nvPr/>
          </p:nvSpPr>
          <p:spPr>
            <a:xfrm>
              <a:off x="5577" y="596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跨年：「2027 第一双」的礼物与自我犒赏</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3" name="Rectangle 22"/>
            <p:cNvSpPr/>
            <p:nvPr/>
          </p:nvSpPr>
          <p:spPr>
            <a:xfrm>
              <a:off x="9773" y="2275"/>
              <a:ext cx="4109" cy="440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4" name="Rectangle 23"/>
            <p:cNvSpPr/>
            <p:nvPr/>
          </p:nvSpPr>
          <p:spPr>
            <a:xfrm>
              <a:off x="9773" y="2275"/>
              <a:ext cx="4109" cy="72"/>
            </a:xfrm>
            <a:prstGeom prst="rect">
              <a:avLst/>
            </a:prstGeom>
            <a:solidFill>
              <a:srgbClr val="5FA8D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25" name="TextBox 24"/>
            <p:cNvSpPr txBox="1"/>
            <p:nvPr/>
          </p:nvSpPr>
          <p:spPr>
            <a:xfrm>
              <a:off x="10032" y="2448"/>
              <a:ext cx="3590" cy="403"/>
            </a:xfrm>
            <a:prstGeom prst="rect">
              <a:avLst/>
            </a:prstGeom>
            <a:noFill/>
          </p:spPr>
          <p:txBody>
            <a:bodyPr wrap="square" lIns="0" tIns="0" rIns="0" bIns="0" anchor="t">
              <a:spAutoFit/>
            </a:bodyPr>
            <a:lstStyle/>
            <a:p>
              <a:pPr algn="l">
                <a:lnSpc>
                  <a:spcPct val="122000"/>
                </a:lnSpc>
                <a:spcBef>
                  <a:spcPts val="0"/>
                </a:spcBef>
                <a:spcAft>
                  <a:spcPts val="300"/>
                </a:spcAft>
              </a:pPr>
              <a:r>
                <a:rPr sz="960" b="1" i="0">
                  <a:solidFill>
                    <a:srgbClr val="FFFFFF"/>
                  </a:solidFill>
                  <a:latin typeface="微软雅黑" panose="020B0503020204020204" charset="-122"/>
                  <a:ea typeface="微软雅黑" panose="020B0503020204020204" charset="-122"/>
                  <a:cs typeface="微软雅黑" panose="020B0503020204020204" charset="-122"/>
                </a:rPr>
                <a:t>③ 场景植入 · 把 GTX 说清楚</a:t>
              </a:r>
              <a:endParaRPr sz="96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 name="TextBox 25"/>
            <p:cNvSpPr txBox="1"/>
            <p:nvPr/>
          </p:nvSpPr>
          <p:spPr>
            <a:xfrm>
              <a:off x="10032" y="2938"/>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雨天也要出门晃荡：一场没被天气预报劝退的散步</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7" name="TextBox 26"/>
            <p:cNvSpPr txBox="1"/>
            <p:nvPr/>
          </p:nvSpPr>
          <p:spPr>
            <a:xfrm>
              <a:off x="10032" y="354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泼水实测：30 秒看清水倒下去之后发生了什么</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8" name="TextBox 27"/>
            <p:cNvSpPr txBox="1"/>
            <p:nvPr/>
          </p:nvSpPr>
          <p:spPr>
            <a:xfrm>
              <a:off x="10032" y="414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湿滑石板路 / 碎石台阶：下坡那一步稳不稳</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29" name="TextBox 28"/>
            <p:cNvSpPr txBox="1"/>
            <p:nvPr/>
          </p:nvSpPr>
          <p:spPr>
            <a:xfrm>
              <a:off x="10032" y="475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行李精简术：一次长途旅行只带这一双鞋</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0" name="TextBox 29"/>
            <p:cNvSpPr txBox="1"/>
            <p:nvPr/>
          </p:nvSpPr>
          <p:spPr>
            <a:xfrm>
              <a:off x="10032" y="535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雪地里没有被浪费的一天：目的地 vlog 暴走两万步</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1" name="TextBox 30"/>
            <p:cNvSpPr txBox="1"/>
            <p:nvPr/>
          </p:nvSpPr>
          <p:spPr>
            <a:xfrm>
              <a:off x="10032" y="596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温泉旅馆到雪街：同一双脚一整天的场景切换</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2" name="Rectangle 31"/>
            <p:cNvSpPr/>
            <p:nvPr/>
          </p:nvSpPr>
          <p:spPr>
            <a:xfrm>
              <a:off x="14227" y="2275"/>
              <a:ext cx="4109" cy="4406"/>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3" name="Rectangle 32"/>
            <p:cNvSpPr/>
            <p:nvPr/>
          </p:nvSpPr>
          <p:spPr>
            <a:xfrm>
              <a:off x="14227" y="2275"/>
              <a:ext cx="4109" cy="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p>
          </p:txBody>
        </p:sp>
        <p:sp>
          <p:nvSpPr>
            <p:cNvPr id="34" name="TextBox 33"/>
            <p:cNvSpPr txBox="1"/>
            <p:nvPr/>
          </p:nvSpPr>
          <p:spPr>
            <a:xfrm>
              <a:off x="14486" y="2448"/>
              <a:ext cx="3590" cy="403"/>
            </a:xfrm>
            <a:prstGeom prst="rect">
              <a:avLst/>
            </a:prstGeom>
            <a:noFill/>
          </p:spPr>
          <p:txBody>
            <a:bodyPr wrap="square" lIns="0" tIns="0" rIns="0" bIns="0" anchor="t">
              <a:spAutoFit/>
            </a:bodyPr>
            <a:lstStyle/>
            <a:p>
              <a:pPr algn="l">
                <a:lnSpc>
                  <a:spcPct val="122000"/>
                </a:lnSpc>
                <a:spcBef>
                  <a:spcPts val="0"/>
                </a:spcBef>
                <a:spcAft>
                  <a:spcPts val="300"/>
                </a:spcAft>
              </a:pPr>
              <a:r>
                <a:rPr sz="960" b="1" i="0">
                  <a:solidFill>
                    <a:srgbClr val="FFFFFF"/>
                  </a:solidFill>
                  <a:latin typeface="微软雅黑" panose="020B0503020204020204" charset="-122"/>
                  <a:ea typeface="微软雅黑" panose="020B0503020204020204" charset="-122"/>
                  <a:cs typeface="微软雅黑" panose="020B0503020204020204" charset="-122"/>
                </a:rPr>
                <a:t>④ 决策收口 · 把选择说清楚</a:t>
              </a:r>
              <a:endParaRPr sz="960"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5" name="TextBox 34"/>
            <p:cNvSpPr txBox="1"/>
            <p:nvPr/>
          </p:nvSpPr>
          <p:spPr>
            <a:xfrm>
              <a:off x="14486" y="2938"/>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黑山怎么选｜常规版 VS GTX 一张表说清</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6" name="TextBox 35"/>
            <p:cNvSpPr txBox="1"/>
            <p:nvPr/>
          </p:nvSpPr>
          <p:spPr>
            <a:xfrm>
              <a:off x="14486" y="354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不同天气怎么选 / 不同目的地怎么选 / 不同季节怎么选</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7" name="TextBox 36"/>
            <p:cNvSpPr txBox="1"/>
            <p:nvPr/>
          </p:nvSpPr>
          <p:spPr>
            <a:xfrm>
              <a:off x="14486" y="414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脚感、耐磨、旋钮三个高频疑问一次答完</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8" name="TextBox 37"/>
            <p:cNvSpPr txBox="1"/>
            <p:nvPr/>
          </p:nvSpPr>
          <p:spPr>
            <a:xfrm>
              <a:off x="14486" y="475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宽脚 / 高脚背友好吗？一次把尺码讲透</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39" name="TextBox 38"/>
            <p:cNvSpPr txBox="1"/>
            <p:nvPr/>
          </p:nvSpPr>
          <p:spPr>
            <a:xfrm>
              <a:off x="14486" y="5357"/>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双 11 之后：后悔清单里最不该买的那双，和值的</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sp>
          <p:nvSpPr>
            <p:cNvPr id="40" name="TextBox 39"/>
            <p:cNvSpPr txBox="1"/>
            <p:nvPr/>
          </p:nvSpPr>
          <p:spPr>
            <a:xfrm>
              <a:off x="14486" y="5962"/>
              <a:ext cx="3590" cy="576"/>
            </a:xfrm>
            <a:prstGeom prst="rect">
              <a:avLst/>
            </a:prstGeom>
            <a:noFill/>
          </p:spPr>
          <p:txBody>
            <a:bodyPr wrap="square" lIns="0" tIns="0" rIns="0" bIns="0" anchor="t">
              <a:spAutoFit/>
            </a:bodyPr>
            <a:lstStyle/>
            <a:p>
              <a:pPr algn="l">
                <a:lnSpc>
                  <a:spcPct val="120000"/>
                </a:lnSpc>
                <a:spcBef>
                  <a:spcPts val="0"/>
                </a:spcBef>
                <a:spcAft>
                  <a:spcPts val="300"/>
                </a:spcAft>
              </a:pPr>
              <a:r>
                <a:rPr sz="820" b="0" i="0">
                  <a:solidFill>
                    <a:srgbClr val="D8D8D8"/>
                  </a:solidFill>
                  <a:latin typeface="微软雅黑" panose="020B0503020204020204" charset="-122"/>
                  <a:ea typeface="微软雅黑" panose="020B0503020204020204" charset="-122"/>
                  <a:cs typeface="微软雅黑" panose="020B0503020204020204" charset="-122"/>
                </a:rPr>
                <a:t>· 年度盘点：2026 我穿得最狠的一双鞋</a:t>
              </a:r>
              <a:endParaRPr sz="820" b="0" i="0">
                <a:solidFill>
                  <a:srgbClr val="D8D8D8"/>
                </a:solidFill>
                <a:latin typeface="微软雅黑" panose="020B0503020204020204" charset="-122"/>
                <a:ea typeface="微软雅黑" panose="020B0503020204020204" charset="-122"/>
                <a:cs typeface="微软雅黑" panose="020B0503020204020204" charset="-122"/>
              </a:endParaRPr>
            </a:p>
          </p:txBody>
        </p:sp>
        <p:grpSp>
          <p:nvGrpSpPr>
            <p:cNvPr id="4" name="组合 3"/>
            <p:cNvGrpSpPr/>
            <p:nvPr/>
          </p:nvGrpSpPr>
          <p:grpSpPr>
            <a:xfrm>
              <a:off x="9785" y="6746"/>
              <a:ext cx="4132" cy="3793"/>
              <a:chOff x="1828" y="6746"/>
              <a:chExt cx="4132" cy="3793"/>
            </a:xfrm>
          </p:grpSpPr>
          <p:pic>
            <p:nvPicPr>
              <p:cNvPr id="41" name="图片 40"/>
              <p:cNvPicPr>
                <a:picLocks noChangeAspect="1"/>
              </p:cNvPicPr>
              <p:nvPr/>
            </p:nvPicPr>
            <p:blipFill>
              <a:blip r:embed="rId1"/>
              <a:stretch>
                <a:fillRect/>
              </a:stretch>
            </p:blipFill>
            <p:spPr>
              <a:xfrm>
                <a:off x="4076" y="6747"/>
                <a:ext cx="1786" cy="3793"/>
              </a:xfrm>
              <a:prstGeom prst="rect">
                <a:avLst/>
              </a:prstGeom>
              <a:effectLst>
                <a:outerShdw blurRad="63500" sx="102000" sy="102000" algn="ctr" rotWithShape="0">
                  <a:prstClr val="black">
                    <a:alpha val="19000"/>
                  </a:prstClr>
                </a:outerShdw>
              </a:effectLst>
            </p:spPr>
          </p:pic>
          <p:pic>
            <p:nvPicPr>
              <p:cNvPr id="42" name="图片 41"/>
              <p:cNvPicPr>
                <a:picLocks noChangeAspect="1"/>
              </p:cNvPicPr>
              <p:nvPr/>
            </p:nvPicPr>
            <p:blipFill>
              <a:blip r:embed="rId2"/>
              <a:stretch>
                <a:fillRect/>
              </a:stretch>
            </p:blipFill>
            <p:spPr>
              <a:xfrm>
                <a:off x="1926" y="6746"/>
                <a:ext cx="1786" cy="3793"/>
              </a:xfrm>
              <a:prstGeom prst="rect">
                <a:avLst/>
              </a:prstGeom>
              <a:effectLst>
                <a:outerShdw blurRad="63500" sx="102000" sy="102000" algn="ctr" rotWithShape="0">
                  <a:prstClr val="black">
                    <a:alpha val="19000"/>
                  </a:prstClr>
                </a:outerShdw>
              </a:effectLst>
            </p:spPr>
          </p:pic>
          <p:sp>
            <p:nvSpPr>
              <p:cNvPr id="43" name="文字方塊 15"/>
              <p:cNvSpPr txBox="1"/>
              <p:nvPr/>
            </p:nvSpPr>
            <p:spPr>
              <a:xfrm>
                <a:off x="1828" y="8091"/>
                <a:ext cx="4132" cy="1104"/>
              </a:xfrm>
              <a:prstGeom prst="rect">
                <a:avLst/>
              </a:prstGeom>
              <a:solidFill>
                <a:schemeClr val="tx1">
                  <a:alpha val="5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45716" rIns="0" bIns="45716" numCol="1" spcCol="38100" rtlCol="0" anchor="ctr" anchorCtr="0">
                <a:noAutofit/>
              </a:bodyPr>
              <a:lstStyle/>
              <a:p>
                <a:pPr algn="ctr">
                  <a:lnSpc>
                    <a:spcPct val="120000"/>
                  </a:lnSpc>
                  <a:spcBef>
                    <a:spcPts val="0"/>
                  </a:spcBef>
                  <a:spcAft>
                    <a:spcPts val="300"/>
                  </a:spcAft>
                </a:pPr>
                <a:r>
                  <a:rPr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rPr>
                  <a:t>· 雨天也要出门晃荡</a:t>
                </a:r>
                <a:endParaRPr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endParaRPr>
              </a:p>
              <a:p>
                <a:pPr algn="ctr">
                  <a:lnSpc>
                    <a:spcPct val="120000"/>
                  </a:lnSpc>
                  <a:spcBef>
                    <a:spcPts val="0"/>
                  </a:spcBef>
                  <a:spcAft>
                    <a:spcPts val="300"/>
                  </a:spcAft>
                </a:pPr>
                <a:r>
                  <a:rPr lang="zh-CN"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rPr>
                  <a:t>秋冬实训日记</a:t>
                </a:r>
                <a:endParaRPr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endParaRPr>
              </a:p>
              <a:p>
                <a:pPr algn="ctr">
                  <a:lnSpc>
                    <a:spcPct val="120000"/>
                  </a:lnSpc>
                  <a:spcBef>
                    <a:spcPts val="0"/>
                  </a:spcBef>
                  <a:spcAft>
                    <a:spcPts val="300"/>
                  </a:spcAft>
                </a:pPr>
                <a:r>
                  <a:rPr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rPr>
                  <a:t>一场没被天气预报劝退</a:t>
                </a:r>
                <a:r>
                  <a:rPr lang="zh-CN"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rPr>
                  <a:t>路跑</a:t>
                </a:r>
                <a:r>
                  <a:rPr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rPr>
                  <a:t>的散步</a:t>
                </a:r>
                <a:endParaRPr kumimoji="0" lang="zh-CN" altLang="en-US" sz="1200" b="0" i="0" u="none" strike="noStrike" kern="1200" cap="none" spc="0" normalizeH="0" baseline="0" noProof="0" dirty="0">
                  <a:ln>
                    <a:noFill/>
                  </a:ln>
                  <a:solidFill>
                    <a:schemeClr val="bg1">
                      <a:lumMod val="90000"/>
                      <a:lumOff val="1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53" name="组合 52"/>
            <p:cNvGrpSpPr/>
            <p:nvPr/>
          </p:nvGrpSpPr>
          <p:grpSpPr>
            <a:xfrm>
              <a:off x="14227" y="6779"/>
              <a:ext cx="4132" cy="3792"/>
              <a:chOff x="5036" y="6748"/>
              <a:chExt cx="4132" cy="3792"/>
            </a:xfrm>
          </p:grpSpPr>
          <p:pic>
            <p:nvPicPr>
              <p:cNvPr id="57" name="图片 56"/>
              <p:cNvPicPr>
                <a:picLocks noChangeAspect="1"/>
              </p:cNvPicPr>
              <p:nvPr/>
            </p:nvPicPr>
            <p:blipFill>
              <a:blip r:embed="rId3"/>
              <a:stretch>
                <a:fillRect/>
              </a:stretch>
            </p:blipFill>
            <p:spPr>
              <a:xfrm>
                <a:off x="5374" y="6748"/>
                <a:ext cx="1749" cy="3793"/>
              </a:xfrm>
              <a:prstGeom prst="rect">
                <a:avLst/>
              </a:prstGeom>
            </p:spPr>
          </p:pic>
          <p:pic>
            <p:nvPicPr>
              <p:cNvPr id="58" name="图片 57"/>
              <p:cNvPicPr>
                <a:picLocks noChangeAspect="1"/>
              </p:cNvPicPr>
              <p:nvPr/>
            </p:nvPicPr>
            <p:blipFill>
              <a:blip r:embed="rId4"/>
              <a:stretch>
                <a:fillRect/>
              </a:stretch>
            </p:blipFill>
            <p:spPr>
              <a:xfrm>
                <a:off x="7243" y="6748"/>
                <a:ext cx="1745" cy="3784"/>
              </a:xfrm>
              <a:prstGeom prst="rect">
                <a:avLst/>
              </a:prstGeom>
            </p:spPr>
          </p:pic>
          <p:sp>
            <p:nvSpPr>
              <p:cNvPr id="44" name="文字方塊 15"/>
              <p:cNvSpPr txBox="1"/>
              <p:nvPr/>
            </p:nvSpPr>
            <p:spPr>
              <a:xfrm>
                <a:off x="5036" y="8122"/>
                <a:ext cx="4132" cy="1104"/>
              </a:xfrm>
              <a:prstGeom prst="rect">
                <a:avLst/>
              </a:prstGeom>
              <a:solidFill>
                <a:schemeClr val="tx1">
                  <a:alpha val="5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45716" rIns="0" bIns="45716" numCol="1" spcCol="38100" rtlCol="0" fromWordArt="0" anchor="ctr" anchorCtr="0" forceAA="0" compatLnSpc="1">
                <a:noAutofit/>
              </a:bodyPr>
              <a:lstStyle/>
              <a:p>
                <a:pPr algn="ctr">
                  <a:lnSpc>
                    <a:spcPct val="120000"/>
                  </a:lnSpc>
                  <a:spcBef>
                    <a:spcPts val="0"/>
                  </a:spcBef>
                  <a:spcAft>
                    <a:spcPts val="300"/>
                  </a:spcAft>
                </a:pPr>
                <a:r>
                  <a:rPr sz="1200">
                    <a:solidFill>
                      <a:schemeClr val="bg1">
                        <a:lumMod val="90000"/>
                        <a:lumOff val="10000"/>
                      </a:schemeClr>
                    </a:solidFill>
                    <a:latin typeface="微软雅黑" panose="020B0503020204020204" charset="-122"/>
                    <a:ea typeface="微软雅黑" panose="020B0503020204020204" charset="-122"/>
                    <a:cs typeface="微软雅黑" panose="020B0503020204020204" charset="-122"/>
                    <a:sym typeface="+mn-ea"/>
                  </a:rPr>
                  <a:t>· 不同天气怎么选 / 不同目的地怎么选 / 不同季节怎么选</a:t>
                </a:r>
                <a:endParaRPr lang="zh-CN" altLang="en-US" sz="1200" noProof="0" dirty="0">
                  <a:ln>
                    <a:noFill/>
                  </a:ln>
                  <a:solidFill>
                    <a:schemeClr val="bg1">
                      <a:lumMod val="90000"/>
                      <a:lumOff val="1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45" name="组合 44"/>
            <p:cNvGrpSpPr/>
            <p:nvPr/>
          </p:nvGrpSpPr>
          <p:grpSpPr>
            <a:xfrm>
              <a:off x="756" y="6777"/>
              <a:ext cx="4132" cy="3792"/>
              <a:chOff x="10427" y="6746"/>
              <a:chExt cx="4132" cy="3792"/>
            </a:xfrm>
          </p:grpSpPr>
          <p:pic>
            <p:nvPicPr>
              <p:cNvPr id="46" name="图片 45"/>
              <p:cNvPicPr>
                <a:picLocks noChangeAspect="1"/>
              </p:cNvPicPr>
              <p:nvPr/>
            </p:nvPicPr>
            <p:blipFill>
              <a:blip r:embed="rId5"/>
              <a:stretch>
                <a:fillRect/>
              </a:stretch>
            </p:blipFill>
            <p:spPr>
              <a:xfrm>
                <a:off x="10733" y="6746"/>
                <a:ext cx="1678" cy="3793"/>
              </a:xfrm>
              <a:prstGeom prst="rect">
                <a:avLst/>
              </a:prstGeom>
              <a:effectLst>
                <a:outerShdw blurRad="63500" sx="102000" sy="102000" algn="ctr" rotWithShape="0">
                  <a:prstClr val="black">
                    <a:alpha val="19000"/>
                  </a:prstClr>
                </a:outerShdw>
              </a:effectLst>
            </p:spPr>
          </p:pic>
          <p:pic>
            <p:nvPicPr>
              <p:cNvPr id="47" name="图片 46"/>
              <p:cNvPicPr>
                <a:picLocks noChangeAspect="1"/>
              </p:cNvPicPr>
              <p:nvPr/>
            </p:nvPicPr>
            <p:blipFill>
              <a:blip r:embed="rId6"/>
              <a:stretch>
                <a:fillRect/>
              </a:stretch>
            </p:blipFill>
            <p:spPr>
              <a:xfrm>
                <a:off x="12707" y="6746"/>
                <a:ext cx="1677" cy="3793"/>
              </a:xfrm>
              <a:prstGeom prst="rect">
                <a:avLst/>
              </a:prstGeom>
              <a:effectLst>
                <a:outerShdw blurRad="63500" sx="102000" sy="102000" algn="ctr" rotWithShape="0">
                  <a:prstClr val="black">
                    <a:alpha val="19000"/>
                  </a:prstClr>
                </a:outerShdw>
              </a:effectLst>
            </p:spPr>
          </p:pic>
          <p:sp>
            <p:nvSpPr>
              <p:cNvPr id="48" name="文字方塊 15"/>
              <p:cNvSpPr txBox="1"/>
              <p:nvPr/>
            </p:nvSpPr>
            <p:spPr>
              <a:xfrm>
                <a:off x="10427" y="8091"/>
                <a:ext cx="4132" cy="1104"/>
              </a:xfrm>
              <a:prstGeom prst="rect">
                <a:avLst/>
              </a:prstGeom>
              <a:solidFill>
                <a:schemeClr val="tx1">
                  <a:alpha val="5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45716" rIns="0" bIns="45716" numCol="1" spcCol="38100" rtlCol="0" anchor="ctr" anchorCtr="0">
                <a:noAutofit/>
              </a:bodyPr>
              <a:lstStyle/>
              <a:p>
                <a:pPr marL="171450" marR="0" lvl="0" indent="-171450" algn="ctr" defTabSz="914400" rtl="0" eaLnBrk="1" fontAlgn="auto" latinLnBrk="0" hangingPunct="0">
                  <a:lnSpc>
                    <a:spcPct val="100000"/>
                  </a:lnSpc>
                  <a:spcBef>
                    <a:spcPts val="0"/>
                  </a:spcBef>
                  <a:spcAft>
                    <a:spcPts val="0"/>
                  </a:spcAft>
                  <a:buClrTx/>
                  <a:buSzTx/>
                  <a:buFont typeface="Arial" panose="020B0604020202020204" pitchFamily="34" charset="0"/>
                  <a:buChar char="•"/>
                </a:pPr>
                <a:r>
                  <a:rPr lang="zh-CN" altLang="en-US" sz="1200" noProof="0" dirty="0">
                    <a:ln>
                      <a:noFill/>
                    </a:ln>
                    <a:solidFill>
                      <a:schemeClr val="bg1"/>
                    </a:solidFill>
                    <a:effectLst/>
                    <a:uLnTx/>
                    <a:uFillTx/>
                    <a:latin typeface="微软雅黑" panose="020B0503020204020204" charset="-122"/>
                    <a:ea typeface="微软雅黑" panose="020B0503020204020204" charset="-122"/>
                    <a:sym typeface="等线" panose="02010600030101010101" charset="-122"/>
                  </a:rPr>
                  <a:t>去北海道看雪，黑山承托这个冬天</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等线" panose="02010600030101010101" charset="-122"/>
                </a:endParaRPr>
              </a:p>
              <a:p>
                <a:pPr marL="171450" marR="0" lvl="0" indent="-171450" algn="ctr" defTabSz="914400" rtl="0" eaLnBrk="1" fontAlgn="auto" latinLnBrk="0" hangingPunct="0">
                  <a:lnSpc>
                    <a:spcPct val="100000"/>
                  </a:lnSpc>
                  <a:spcBef>
                    <a:spcPts val="0"/>
                  </a:spcBef>
                  <a:spcAft>
                    <a:spcPts val="0"/>
                  </a:spcAft>
                  <a:buClrTx/>
                  <a:buSzTx/>
                  <a:buFont typeface="Arial" panose="020B0604020202020204" pitchFamily="34" charset="0"/>
                  <a:buChar char="•"/>
                </a:pPr>
                <a:r>
                  <a:rPr lang="zh-CN" altLang="en-US" sz="1200" noProof="0" dirty="0">
                    <a:ln>
                      <a:noFill/>
                    </a:ln>
                    <a:solidFill>
                      <a:schemeClr val="bg1"/>
                    </a:solidFill>
                    <a:effectLst/>
                    <a:uLnTx/>
                    <a:uFillTx/>
                    <a:latin typeface="微软雅黑" panose="020B0503020204020204" charset="-122"/>
                    <a:ea typeface="微软雅黑" panose="020B0503020204020204" charset="-122"/>
                    <a:sym typeface="等线" panose="02010600030101010101" charset="-122"/>
                  </a:rPr>
                  <a:t>一周三国，舒适百搭用这双</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等线" panose="02010600030101010101" charset="-122"/>
                </a:endParaRPr>
              </a:p>
            </p:txBody>
          </p:sp>
        </p:grpSp>
        <p:grpSp>
          <p:nvGrpSpPr>
            <p:cNvPr id="49" name="组合 48"/>
            <p:cNvGrpSpPr/>
            <p:nvPr/>
          </p:nvGrpSpPr>
          <p:grpSpPr>
            <a:xfrm>
              <a:off x="5198" y="6778"/>
              <a:ext cx="4132" cy="3792"/>
              <a:chOff x="14728" y="6747"/>
              <a:chExt cx="4132" cy="3792"/>
            </a:xfrm>
          </p:grpSpPr>
          <p:pic>
            <p:nvPicPr>
              <p:cNvPr id="50" name="图片 49"/>
              <p:cNvPicPr>
                <a:picLocks noChangeAspect="1"/>
              </p:cNvPicPr>
              <p:nvPr/>
            </p:nvPicPr>
            <p:blipFill>
              <a:blip r:embed="rId7"/>
              <a:stretch>
                <a:fillRect/>
              </a:stretch>
            </p:blipFill>
            <p:spPr>
              <a:xfrm>
                <a:off x="14908" y="6747"/>
                <a:ext cx="1748" cy="3793"/>
              </a:xfrm>
              <a:prstGeom prst="rect">
                <a:avLst/>
              </a:prstGeom>
              <a:effectLst>
                <a:outerShdw blurRad="63500" sx="102000" sy="102000" algn="ctr" rotWithShape="0">
                  <a:prstClr val="black">
                    <a:alpha val="19000"/>
                  </a:prstClr>
                </a:outerShdw>
              </a:effectLst>
            </p:spPr>
          </p:pic>
          <p:pic>
            <p:nvPicPr>
              <p:cNvPr id="51" name="图片 50"/>
              <p:cNvPicPr>
                <a:picLocks noChangeAspect="1"/>
              </p:cNvPicPr>
              <p:nvPr/>
            </p:nvPicPr>
            <p:blipFill>
              <a:blip r:embed="rId8"/>
              <a:stretch>
                <a:fillRect/>
              </a:stretch>
            </p:blipFill>
            <p:spPr>
              <a:xfrm>
                <a:off x="16857" y="6747"/>
                <a:ext cx="1746" cy="3793"/>
              </a:xfrm>
              <a:prstGeom prst="rect">
                <a:avLst/>
              </a:prstGeom>
              <a:effectLst>
                <a:outerShdw blurRad="63500" sx="102000" sy="102000" algn="ctr" rotWithShape="0">
                  <a:prstClr val="black">
                    <a:alpha val="19000"/>
                  </a:prstClr>
                </a:outerShdw>
              </a:effectLst>
            </p:spPr>
          </p:pic>
          <p:sp>
            <p:nvSpPr>
              <p:cNvPr id="52" name="文字方塊 15"/>
              <p:cNvSpPr txBox="1"/>
              <p:nvPr/>
            </p:nvSpPr>
            <p:spPr>
              <a:xfrm>
                <a:off x="14728" y="8091"/>
                <a:ext cx="4132" cy="1104"/>
              </a:xfrm>
              <a:prstGeom prst="rect">
                <a:avLst/>
              </a:prstGeom>
              <a:solidFill>
                <a:schemeClr val="tx1">
                  <a:alpha val="59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45719" rIns="0" bIns="45719" numCol="1" spcCol="38100" rtlCol="0" anchor="ctr" anchorCtr="0">
                <a:noAutofit/>
              </a:bodyPr>
              <a:lstStyle/>
              <a:p>
                <a:pPr marL="171450" marR="0" lvl="0" indent="-171450" algn="ctr" defTabSz="914400" rtl="0" eaLnBrk="1" fontAlgn="auto" latinLnBrk="0" hangingPunct="0">
                  <a:lnSpc>
                    <a:spcPct val="100000"/>
                  </a:lnSpc>
                  <a:spcBef>
                    <a:spcPts val="0"/>
                  </a:spcBef>
                  <a:spcAft>
                    <a:spcPts val="0"/>
                  </a:spcAft>
                  <a:buClrTx/>
                  <a:buSzTx/>
                  <a:buFont typeface="Arial" panose="020B0604020202020204" pitchFamily="34" charset="0"/>
                  <a:buChar char="•"/>
                </a:pPr>
                <a:r>
                  <a:rPr lang="zh-CN" altLang="en-US" sz="1200" noProof="0" dirty="0">
                    <a:ln>
                      <a:noFill/>
                    </a:ln>
                    <a:solidFill>
                      <a:schemeClr val="bg1"/>
                    </a:solidFill>
                    <a:effectLst/>
                    <a:uLnTx/>
                    <a:uFillTx/>
                    <a:latin typeface="微软雅黑" panose="020B0503020204020204" charset="-122"/>
                    <a:ea typeface="微软雅黑" panose="020B0503020204020204" charset="-122"/>
                    <a:sym typeface="等线" panose="02010600030101010101" charset="-122"/>
                  </a:rPr>
                  <a:t>户外人的圣诞礼物</a:t>
                </a:r>
                <a:endParaRPr lang="zh-CN" altLang="en-US" sz="1200" noProof="0" dirty="0">
                  <a:ln>
                    <a:noFill/>
                  </a:ln>
                  <a:solidFill>
                    <a:schemeClr val="bg1"/>
                  </a:solidFill>
                  <a:effectLst/>
                  <a:uLnTx/>
                  <a:uFillTx/>
                  <a:latin typeface="微软雅黑" panose="020B0503020204020204" charset="-122"/>
                  <a:ea typeface="微软雅黑" panose="020B0503020204020204" charset="-122"/>
                  <a:sym typeface="等线" panose="02010600030101010101" charset="-122"/>
                </a:endParaRPr>
              </a:p>
              <a:p>
                <a:pPr marL="171450" marR="0" lvl="0" indent="-171450" algn="ctr" defTabSz="914400" rtl="0" eaLnBrk="1" fontAlgn="auto" latinLnBrk="0" hangingPunct="0">
                  <a:lnSpc>
                    <a:spcPct val="100000"/>
                  </a:lnSpc>
                  <a:spcBef>
                    <a:spcPts val="0"/>
                  </a:spcBef>
                  <a:spcAft>
                    <a:spcPts val="0"/>
                  </a:spcAft>
                  <a:buClrTx/>
                  <a:buSzTx/>
                  <a:buFont typeface="Arial" panose="020B0604020202020204" pitchFamily="34" charset="0"/>
                  <a:buChar char="•"/>
                </a:pPr>
                <a:r>
                  <a:rPr lang="zh-CN" altLang="en-US" sz="1200" noProof="0" dirty="0">
                    <a:ln>
                      <a:noFill/>
                    </a:ln>
                    <a:solidFill>
                      <a:schemeClr val="bg1"/>
                    </a:solidFill>
                    <a:effectLst/>
                    <a:uLnTx/>
                    <a:uFillTx/>
                    <a:latin typeface="微软雅黑" panose="020B0503020204020204" charset="-122"/>
                    <a:ea typeface="微软雅黑" panose="020B0503020204020204" charset="-122"/>
                    <a:sym typeface="等线" panose="02010600030101010101" charset="-122"/>
                  </a:rPr>
                  <a:t>秋冬质感好物分享</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等线" panose="02010600030101010101" charset="-122"/>
                </a:endParaRPr>
              </a:p>
              <a:p>
                <a:pPr marL="171450" marR="0" lvl="0" indent="-171450" algn="ctr" defTabSz="914400" rtl="0" eaLnBrk="1" fontAlgn="auto" latinLnBrk="0" hangingPunct="0">
                  <a:lnSpc>
                    <a:spcPct val="100000"/>
                  </a:lnSpc>
                  <a:spcBef>
                    <a:spcPts val="0"/>
                  </a:spcBef>
                  <a:spcAft>
                    <a:spcPts val="0"/>
                  </a:spcAft>
                  <a:buClrTx/>
                  <a:buSzTx/>
                  <a:buFont typeface="Arial" panose="020B0604020202020204" pitchFamily="34" charset="0"/>
                  <a:buChar char="•"/>
                </a:pPr>
                <a:r>
                  <a:rPr lang="zh-CN" altLang="en-US" sz="1200" noProof="0" dirty="0">
                    <a:ln>
                      <a:noFill/>
                    </a:ln>
                    <a:solidFill>
                      <a:schemeClr val="bg1"/>
                    </a:solidFill>
                    <a:effectLst/>
                    <a:uLnTx/>
                    <a:uFillTx/>
                    <a:latin typeface="微软雅黑" panose="020B0503020204020204" charset="-122"/>
                    <a:ea typeface="微软雅黑" panose="020B0503020204020204" charset="-122"/>
                    <a:sym typeface="等线" panose="02010600030101010101" charset="-122"/>
                  </a:rPr>
                  <a:t>年度爱用跑鞋</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等线" panose="02010600030101010101" charset="-122"/>
                </a:endParaRPr>
              </a:p>
            </p:txBody>
          </p:sp>
        </p:grpSp>
      </p:grpSp>
    </p:spTree>
  </p:cSld>
  <p:clrMapOvr>
    <a:masterClrMapping/>
  </p:clrMapOvr>
</p:sld>
</file>

<file path=ppt/tags/tag1.xml><?xml version="1.0" encoding="utf-8"?>
<p:tagLst xmlns:p="http://schemas.openxmlformats.org/presentationml/2006/main">
  <p:tag name="TABLE_ENDDRAG_ORIGIN_RECT" val="873*107"/>
  <p:tag name="TABLE_ENDDRAG_RECT" val="43*181*873*107"/>
</p:tagLst>
</file>

<file path=ppt/tags/tag2.xml><?xml version="1.0" encoding="utf-8"?>
<p:tagLst xmlns:p="http://schemas.openxmlformats.org/presentationml/2006/main">
  <p:tag name="KSO_WM_DIAGRAM_VIRTUALLY_FRAME" val="{&quot;height&quot;:123.84,&quot;left&quot;:43.2,&quot;top&quot;:408.96,&quot;width&quot;:873.5759842519685}"/>
</p:tagLst>
</file>

<file path=ppt/tags/tag3.xml><?xml version="1.0" encoding="utf-8"?>
<p:tagLst xmlns:p="http://schemas.openxmlformats.org/presentationml/2006/main">
  <p:tag name="KSO_WM_DIAGRAM_VIRTUALLY_FRAME" val="{&quot;height&quot;:123.84,&quot;left&quot;:43.2,&quot;top&quot;:408.96,&quot;width&quot;:873.5759842519685}"/>
</p:tagLst>
</file>

<file path=ppt/tags/tag4.xml><?xml version="1.0" encoding="utf-8"?>
<p:tagLst xmlns:p="http://schemas.openxmlformats.org/presentationml/2006/main">
  <p:tag name="KSO_WM_DIAGRAM_VIRTUALLY_FRAME" val="{&quot;height&quot;:123.84,&quot;left&quot;:43.2,&quot;top&quot;:408.96,&quot;width&quot;:873.5759842519685}"/>
</p:tagLst>
</file>

<file path=ppt/tags/tag5.xml><?xml version="1.0" encoding="utf-8"?>
<p:tagLst xmlns:p="http://schemas.openxmlformats.org/presentationml/2006/main">
  <p:tag name="KSO_WM_DIAGRAM_VIRTUALLY_FRAME" val="{&quot;height&quot;:123.84,&quot;left&quot;:43.2,&quot;top&quot;:408.96,&quot;width&quot;:873.5759842519685}"/>
</p:tagLst>
</file>

<file path=ppt/tags/tag6.xml><?xml version="1.0" encoding="utf-8"?>
<p:tagLst xmlns:p="http://schemas.openxmlformats.org/presentationml/2006/main">
  <p:tag name="KSO_WM_DIAGRAM_VIRTUALLY_FRAME" val="{&quot;height&quot;:123.84,&quot;left&quot;:43.2,&quot;top&quot;:408.96,&quot;width&quot;:873.5759842519685}"/>
</p:tagLst>
</file>

<file path=ppt/tags/tag7.xml><?xml version="1.0" encoding="utf-8"?>
<p:tagLst xmlns:p="http://schemas.openxmlformats.org/presentationml/2006/main">
  <p:tag name="KSO_WM_DIAGRAM_VIRTUALLY_FRAME" val="{&quot;height&quot;:123.84,&quot;left&quot;:43.2,&quot;top&quot;:408.96,&quot;width&quot;:873.5759842519685}"/>
</p:tagLst>
</file>

<file path=ppt/tags/tag8.xml><?xml version="1.0" encoding="utf-8"?>
<p:tagLst xmlns:p="http://schemas.openxmlformats.org/presentationml/2006/main">
  <p:tag name="KSO_WM_DIAGRAM_VIRTUALLY_FRAME" val="{&quot;height&quot;:123.84,&quot;left&quot;:43.2,&quot;top&quot;:408.96,&quot;width&quot;:873.5759842519685}"/>
</p:tagLst>
</file>

<file path=ppt/tags/tag9.xml><?xml version="1.0" encoding="utf-8"?>
<p:tagLst xmlns:p="http://schemas.openxmlformats.org/presentationml/2006/main">
  <p:tag name="TABLE_ENDDRAG_ORIGIN_RECT" val="438*165"/>
  <p:tag name="TABLE_ENDDRAG_RECT" val="494*160*438*165"/>
</p:tagLst>
</file>

<file path=ppt/tags/tag10.xml><?xml version="1.0" encoding="utf-8"?>
<p:tagLst xmlns:p="http://schemas.openxmlformats.org/presentationml/2006/main">
  <p:tag name="TABLE_ENDDRAG_ORIGIN_RECT" val="897*76"/>
  <p:tag name="TABLE_ENDDRAG_RECT" val="26*359*897*76"/>
</p:tagLst>
</file>

<file path=ppt/tags/tag11.xml><?xml version="1.0" encoding="utf-8"?>
<p:tagLst xmlns:p="http://schemas.openxmlformats.org/presentationml/2006/main">
  <p:tag name="TABLE_ENDDRAG_ORIGIN_RECT" val="429*162"/>
  <p:tag name="TABLE_ENDDRAG_RECT" val="17*164*429*162"/>
</p:tagLst>
</file>

<file path=ppt/tags/tag12.xml><?xml version="1.0" encoding="utf-8"?>
<p:tagLst xmlns:p="http://schemas.openxmlformats.org/presentationml/2006/main">
  <p:tag name="KSO_WM_DIAGRAM_VIRTUALLY_FRAME" val="{&quot;height&quot;:298.80000000000007,&quot;left&quot;:43.2,&quot;top&quot;:113.75999999999999,&quot;width&quot;:873.5759055118111}"/>
</p:tagLst>
</file>

<file path=ppt/tags/tag13.xml><?xml version="1.0" encoding="utf-8"?>
<p:tagLst xmlns:p="http://schemas.openxmlformats.org/presentationml/2006/main">
  <p:tag name="KSO_WM_DIAGRAM_VIRTUALLY_FRAME" val="{&quot;height&quot;:298.80000000000007,&quot;left&quot;:43.2,&quot;top&quot;:113.75999999999999,&quot;width&quot;:873.5759055118111}"/>
</p:tagLst>
</file>

<file path=ppt/tags/tag14.xml><?xml version="1.0" encoding="utf-8"?>
<p:tagLst xmlns:p="http://schemas.openxmlformats.org/presentationml/2006/main">
  <p:tag name="KSO_WM_DIAGRAM_VIRTUALLY_FRAME" val="{&quot;height&quot;:298.80000000000007,&quot;left&quot;:43.2,&quot;top&quot;:113.75999999999999,&quot;width&quot;:873.5759055118111}"/>
</p:tagLst>
</file>

<file path=ppt/tags/tag15.xml><?xml version="1.0" encoding="utf-8"?>
<p:tagLst xmlns:p="http://schemas.openxmlformats.org/presentationml/2006/main">
  <p:tag name="KSO_WM_DIAGRAM_VIRTUALLY_FRAME" val="{&quot;height&quot;:298.80000000000007,&quot;left&quot;:43.2,&quot;top&quot;:113.75999999999999,&quot;width&quot;:873.5759055118111}"/>
</p:tagLst>
</file>

<file path=ppt/tags/tag16.xml><?xml version="1.0" encoding="utf-8"?>
<p:tagLst xmlns:p="http://schemas.openxmlformats.org/presentationml/2006/main">
  <p:tag name="KSO_WM_DIAGRAM_VIRTUALLY_FRAME" val="{&quot;height&quot;:298.80000000000007,&quot;left&quot;:43.2,&quot;top&quot;:113.75999999999999,&quot;width&quot;:873.5759055118111}"/>
</p:tagLst>
</file>

<file path=ppt/tags/tag17.xml><?xml version="1.0" encoding="utf-8"?>
<p:tagLst xmlns:p="http://schemas.openxmlformats.org/presentationml/2006/main">
  <p:tag name="KSO_WM_DIAGRAM_VIRTUALLY_FRAME" val="{&quot;height&quot;:298.80000000000007,&quot;left&quot;:43.2,&quot;top&quot;:113.75999999999999,&quot;width&quot;:873.5759055118111}"/>
</p:tagLst>
</file>

<file path=ppt/tags/tag18.xml><?xml version="1.0" encoding="utf-8"?>
<p:tagLst xmlns:p="http://schemas.openxmlformats.org/presentationml/2006/main">
  <p:tag name="KSO_WM_DIAGRAM_VIRTUALLY_FRAME" val="{&quot;height&quot;:298.80000000000007,&quot;left&quot;:43.2,&quot;top&quot;:113.75999999999999,&quot;width&quot;:873.5759055118111}"/>
</p:tagLst>
</file>

<file path=ppt/tags/tag19.xml><?xml version="1.0" encoding="utf-8"?>
<p:tagLst xmlns:p="http://schemas.openxmlformats.org/presentationml/2006/main">
  <p:tag name="KSO_WM_DIAGRAM_VIRTUALLY_FRAME" val="{&quot;height&quot;:298.80000000000007,&quot;left&quot;:43.2,&quot;top&quot;:113.75999999999999,&quot;width&quot;:873.5759055118111}"/>
</p:tagLst>
</file>

<file path=ppt/tags/tag20.xml><?xml version="1.0" encoding="utf-8"?>
<p:tagLst xmlns:p="http://schemas.openxmlformats.org/presentationml/2006/main">
  <p:tag name="KSO_WM_DIAGRAM_VIRTUALLY_FRAME" val="{&quot;height&quot;:298.80000000000007,&quot;left&quot;:43.2,&quot;top&quot;:113.75999999999999,&quot;width&quot;:873.5759055118111}"/>
</p:tagLst>
</file>

<file path=ppt/tags/tag21.xml><?xml version="1.0" encoding="utf-8"?>
<p:tagLst xmlns:p="http://schemas.openxmlformats.org/presentationml/2006/main">
  <p:tag name="KSO_WM_DIAGRAM_VIRTUALLY_FRAME" val="{&quot;height&quot;:298.80000000000007,&quot;left&quot;:43.2,&quot;top&quot;:113.75999999999999,&quot;width&quot;:873.5759055118111}"/>
</p:tagLst>
</file>

<file path=ppt/tags/tag22.xml><?xml version="1.0" encoding="utf-8"?>
<p:tagLst xmlns:p="http://schemas.openxmlformats.org/presentationml/2006/main">
  <p:tag name="KSO_WM_DIAGRAM_VIRTUALLY_FRAME" val="{&quot;height&quot;:298.80000000000007,&quot;left&quot;:43.2,&quot;top&quot;:113.75999999999999,&quot;width&quot;:873.5759055118111}"/>
</p:tagLst>
</file>

<file path=ppt/tags/tag23.xml><?xml version="1.0" encoding="utf-8"?>
<p:tagLst xmlns:p="http://schemas.openxmlformats.org/presentationml/2006/main">
  <p:tag name="KSO_WM_DIAGRAM_VIRTUALLY_FRAME" val="{&quot;height&quot;:298.80000000000007,&quot;left&quot;:43.2,&quot;top&quot;:113.75999999999999,&quot;width&quot;:873.5759055118111}"/>
</p:tagLst>
</file>

<file path=ppt/tags/tag24.xml><?xml version="1.0" encoding="utf-8"?>
<p:tagLst xmlns:p="http://schemas.openxmlformats.org/presentationml/2006/main">
  <p:tag name="KSO_WM_DIAGRAM_VIRTUALLY_FRAME" val="{&quot;height&quot;:298.80000000000007,&quot;left&quot;:43.2,&quot;top&quot;:113.75999999999999,&quot;width&quot;:873.5759055118111}"/>
</p:tagLst>
</file>

<file path=ppt/tags/tag25.xml><?xml version="1.0" encoding="utf-8"?>
<p:tagLst xmlns:p="http://schemas.openxmlformats.org/presentationml/2006/main">
  <p:tag name="KSO_WM_DIAGRAM_VIRTUALLY_FRAME" val="{&quot;height&quot;:298.80000000000007,&quot;left&quot;:43.2,&quot;top&quot;:113.75999999999999,&quot;width&quot;:873.5759055118111}"/>
</p:tagLst>
</file>

<file path=ppt/tags/tag26.xml><?xml version="1.0" encoding="utf-8"?>
<p:tagLst xmlns:p="http://schemas.openxmlformats.org/presentationml/2006/main">
  <p:tag name="KSO_WM_DIAGRAM_VIRTUALLY_FRAME" val="{&quot;height&quot;:298.80000000000007,&quot;left&quot;:43.2,&quot;top&quot;:113.75999999999999,&quot;width&quot;:873.5759055118111}"/>
</p:tagLst>
</file>

<file path=ppt/tags/tag27.xml><?xml version="1.0" encoding="utf-8"?>
<p:tagLst xmlns:p="http://schemas.openxmlformats.org/presentationml/2006/main">
  <p:tag name="KSO_WM_DIAGRAM_VIRTUALLY_FRAME" val="{&quot;height&quot;:180,&quot;left&quot;:319.03196850393704,&quot;top&quot;:178.56,&quot;width&quot;:597.7439370078739}"/>
</p:tagLst>
</file>

<file path=ppt/tags/tag28.xml><?xml version="1.0" encoding="utf-8"?>
<p:tagLst xmlns:p="http://schemas.openxmlformats.org/presentationml/2006/main">
  <p:tag name="KSO_WM_DIAGRAM_VIRTUALLY_FRAME" val="{&quot;height&quot;:180,&quot;left&quot;:319.03196850393704,&quot;top&quot;:178.56,&quot;width&quot;:597.7439370078739}"/>
</p:tagLst>
</file>

<file path=ppt/tags/tag29.xml><?xml version="1.0" encoding="utf-8"?>
<p:tagLst xmlns:p="http://schemas.openxmlformats.org/presentationml/2006/main">
  <p:tag name="KSO_WM_DIAGRAM_VIRTUALLY_FRAME" val="{&quot;height&quot;:180,&quot;left&quot;:319.03196850393704,&quot;top&quot;:178.56,&quot;width&quot;:597.7439370078739}"/>
</p:tagLst>
</file>

<file path=ppt/tags/tag30.xml><?xml version="1.0" encoding="utf-8"?>
<p:tagLst xmlns:p="http://schemas.openxmlformats.org/presentationml/2006/main">
  <p:tag name="KSO_WM_DIAGRAM_VIRTUALLY_FRAME" val="{&quot;height&quot;:180,&quot;left&quot;:319.03196850393704,&quot;top&quot;:178.56,&quot;width&quot;:597.7439370078739}"/>
</p:tagLst>
</file>

<file path=ppt/tags/tag31.xml><?xml version="1.0" encoding="utf-8"?>
<p:tagLst xmlns:p="http://schemas.openxmlformats.org/presentationml/2006/main">
  <p:tag name="KSO_WM_DIAGRAM_VIRTUALLY_FRAME" val="{&quot;height&quot;:180,&quot;left&quot;:319.03196850393704,&quot;top&quot;:178.56,&quot;width&quot;:597.7439370078739}"/>
</p:tagLst>
</file>

<file path=ppt/tags/tag32.xml><?xml version="1.0" encoding="utf-8"?>
<p:tagLst xmlns:p="http://schemas.openxmlformats.org/presentationml/2006/main">
  <p:tag name="KSO_WM_DIAGRAM_VIRTUALLY_FRAME" val="{&quot;height&quot;:180,&quot;left&quot;:319.03196850393704,&quot;top&quot;:178.56,&quot;width&quot;:597.7439370078739}"/>
</p:tagLst>
</file>

<file path=ppt/tags/tag33.xml><?xml version="1.0" encoding="utf-8"?>
<p:tagLst xmlns:p="http://schemas.openxmlformats.org/presentationml/2006/main">
  <p:tag name="KSO_WM_DIAGRAM_VIRTUALLY_FRAME" val="{&quot;height&quot;:180,&quot;left&quot;:319.03196850393704,&quot;top&quot;:178.56,&quot;width&quot;:597.7439370078739}"/>
</p:tagLst>
</file>

<file path=ppt/tags/tag34.xml><?xml version="1.0" encoding="utf-8"?>
<p:tagLst xmlns:p="http://schemas.openxmlformats.org/presentationml/2006/main">
  <p:tag name="KSO_WM_DIAGRAM_VIRTUALLY_FRAME" val="{&quot;height&quot;:180,&quot;left&quot;:319.03196850393704,&quot;top&quot;:178.56,&quot;width&quot;:597.7439370078739}"/>
</p:tagLst>
</file>

<file path=ppt/tags/tag35.xml><?xml version="1.0" encoding="utf-8"?>
<p:tagLst xmlns:p="http://schemas.openxmlformats.org/presentationml/2006/main">
  <p:tag name="KSO_WM_DIAGRAM_VIRTUALLY_FRAME" val="{&quot;height&quot;:180,&quot;left&quot;:319.03196850393704,&quot;top&quot;:178.56,&quot;width&quot;:597.7439370078739}"/>
</p:tagLst>
</file>

<file path=ppt/tags/tag36.xml><?xml version="1.0" encoding="utf-8"?>
<p:tagLst xmlns:p="http://schemas.openxmlformats.org/presentationml/2006/main">
  <p:tag name="KSO_WM_DIAGRAM_VIRTUALLY_FRAME" val="{&quot;height&quot;:180,&quot;left&quot;:319.03196850393704,&quot;top&quot;:178.56,&quot;width&quot;:597.7439370078739}"/>
</p:tagLst>
</file>

<file path=ppt/tags/tag37.xml><?xml version="1.0" encoding="utf-8"?>
<p:tagLst xmlns:p="http://schemas.openxmlformats.org/presentationml/2006/main">
  <p:tag name="KSO_WM_DIAGRAM_VIRTUALLY_FRAME" val="{&quot;height&quot;:241.2000000000001,&quot;left&quot;:43.2,&quot;top&quot;:169.92000000000002,&quot;width&quot;:873.5759055118109}"/>
</p:tagLst>
</file>

<file path=ppt/tags/tag38.xml><?xml version="1.0" encoding="utf-8"?>
<p:tagLst xmlns:p="http://schemas.openxmlformats.org/presentationml/2006/main">
  <p:tag name="KSO_WM_DIAGRAM_VIRTUALLY_FRAME" val="{&quot;height&quot;:241.2000000000001,&quot;left&quot;:43.2,&quot;top&quot;:169.92000000000002,&quot;width&quot;:873.5759055118109}"/>
</p:tagLst>
</file>

<file path=ppt/tags/tag39.xml><?xml version="1.0" encoding="utf-8"?>
<p:tagLst xmlns:p="http://schemas.openxmlformats.org/presentationml/2006/main">
  <p:tag name="KSO_WM_DIAGRAM_VIRTUALLY_FRAME" val="{&quot;height&quot;:241.2000000000001,&quot;left&quot;:43.2,&quot;top&quot;:169.92000000000002,&quot;width&quot;:873.5759055118109}"/>
</p:tagLst>
</file>

<file path=ppt/tags/tag40.xml><?xml version="1.0" encoding="utf-8"?>
<p:tagLst xmlns:p="http://schemas.openxmlformats.org/presentationml/2006/main">
  <p:tag name="KSO_WM_DIAGRAM_VIRTUALLY_FRAME" val="{&quot;height&quot;:241.2000000000001,&quot;left&quot;:43.2,&quot;top&quot;:169.92000000000002,&quot;width&quot;:873.5759055118109}"/>
</p:tagLst>
</file>

<file path=ppt/tags/tag41.xml><?xml version="1.0" encoding="utf-8"?>
<p:tagLst xmlns:p="http://schemas.openxmlformats.org/presentationml/2006/main">
  <p:tag name="KSO_WM_DIAGRAM_VIRTUALLY_FRAME" val="{&quot;height&quot;:241.2000000000001,&quot;left&quot;:43.2,&quot;top&quot;:169.92000000000002,&quot;width&quot;:873.5759055118109}"/>
</p:tagLst>
</file>

<file path=ppt/tags/tag42.xml><?xml version="1.0" encoding="utf-8"?>
<p:tagLst xmlns:p="http://schemas.openxmlformats.org/presentationml/2006/main">
  <p:tag name="KSO_WM_DIAGRAM_VIRTUALLY_FRAME" val="{&quot;height&quot;:241.2000000000001,&quot;left&quot;:43.2,&quot;top&quot;:169.92000000000002,&quot;width&quot;:873.5759055118109}"/>
</p:tagLst>
</file>

<file path=ppt/tags/tag43.xml><?xml version="1.0" encoding="utf-8"?>
<p:tagLst xmlns:p="http://schemas.openxmlformats.org/presentationml/2006/main">
  <p:tag name="TABLE_ENDDRAG_ORIGIN_RECT" val="873*282"/>
  <p:tag name="TABLE_ENDDRAG_RECT" val="43*83*873*282"/>
</p:tagLst>
</file>

<file path=ppt/theme/theme1.xml><?xml version="1.0" encoding="utf-8"?>
<a:theme xmlns:a="http://schemas.openxmlformats.org/drawingml/2006/main" name="Office Theme">
  <a:themeElements>
    <a:clrScheme name="Office">
      <a:dk1>
        <a:srgbClr val="FFFFFF"/>
      </a:dk1>
      <a:lt1>
        <a:srgbClr val="0E0E0E"/>
      </a:lt1>
      <a:dk2>
        <a:srgbClr val="8FAADC"/>
      </a:dk2>
      <a:lt2>
        <a:srgbClr val="242424"/>
      </a:lt2>
      <a:accent1>
        <a:srgbClr val="6FA8DC"/>
      </a:accent1>
      <a:accent2>
        <a:srgbClr val="E8B04B"/>
      </a:accent2>
      <a:accent3>
        <a:srgbClr val="A9D18E"/>
      </a:accent3>
      <a:accent4>
        <a:srgbClr val="B4A7D6"/>
      </a:accent4>
      <a:accent5>
        <a:srgbClr val="6FD3E0"/>
      </a:accent5>
      <a:accent6>
        <a:srgbClr val="E8B04B"/>
      </a:accent6>
      <a:hlink>
        <a:srgbClr val="6FA8DC"/>
      </a:hlink>
      <a:folHlink>
        <a:srgbClr val="B4A7D6"/>
      </a:folHlink>
    </a:clrScheme>
    <a:fontScheme name="Office">
      <a:majorFont>
        <a:latin typeface="微软雅黑"/>
        <a:ea typeface="微软雅黑"/>
        <a:cs typeface=""/>
        <a:font script="Jpan" typeface="ＭＳ Ｐゴシック"/>
        <a:font script="Hang" typeface="맑은 고딕"/>
        <a:font script="Hans" typeface="微软雅黑"/>
        <a:font script="Hant" typeface="微软雅黑"/>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微软雅黑"/>
        <a:cs typeface=""/>
        <a:font script="Jpan" typeface="ＭＳ Ｐゴシック"/>
        <a:font script="Hang" typeface="맑은 고딕"/>
        <a:font script="Hans" typeface="微软雅黑"/>
        <a:font script="Hant" typeface="微软雅黑"/>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FFFFFF"/>
      </a:dk1>
      <a:lt1>
        <a:srgbClr val="0E0E0E"/>
      </a:lt1>
      <a:dk2>
        <a:srgbClr val="8FAADC"/>
      </a:dk2>
      <a:lt2>
        <a:srgbClr val="242424"/>
      </a:lt2>
      <a:accent1>
        <a:srgbClr val="6FA8DC"/>
      </a:accent1>
      <a:accent2>
        <a:srgbClr val="E8B04B"/>
      </a:accent2>
      <a:accent3>
        <a:srgbClr val="A9D18E"/>
      </a:accent3>
      <a:accent4>
        <a:srgbClr val="B4A7D6"/>
      </a:accent4>
      <a:accent5>
        <a:srgbClr val="6FD3E0"/>
      </a:accent5>
      <a:accent6>
        <a:srgbClr val="E8B04B"/>
      </a:accent6>
      <a:hlink>
        <a:srgbClr val="6FA8DC"/>
      </a:hlink>
      <a:folHlink>
        <a:srgbClr val="B4A7D6"/>
      </a:folHlink>
    </a:clrScheme>
    <a:fontScheme name="Office">
      <a:majorFont>
        <a:latin typeface="微软雅黑"/>
        <a:ea typeface="微软雅黑"/>
        <a:cs typeface=""/>
        <a:font script="Jpan" typeface="ＭＳ Ｐゴシック"/>
        <a:font script="Hang" typeface="맑은 고딕"/>
        <a:font script="Hans" typeface="微软雅黑"/>
        <a:font script="Hant" typeface="微软雅黑"/>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微软雅黑"/>
        <a:cs typeface=""/>
        <a:font script="Jpan" typeface="ＭＳ Ｐゴシック"/>
        <a:font script="Hang" typeface="맑은 고딕"/>
        <a:font script="Hans" typeface="微软雅黑"/>
        <a:font script="Hant" typeface="微软雅黑"/>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9836</Words>
  <Application>WPS Office WWO_wpscloud_20260916174450-7bfc4fa662</Application>
  <PresentationFormat>On-screen Show (4:3)</PresentationFormat>
  <Paragraphs>1422</Paragraphs>
  <Slides>21</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21</vt:i4>
      </vt:variant>
    </vt:vector>
  </HeadingPairs>
  <TitlesOfParts>
    <vt:vector size="40" baseType="lpstr">
      <vt:lpstr>Arial</vt:lpstr>
      <vt:lpstr>宋体</vt:lpstr>
      <vt:lpstr>Wingdings</vt:lpstr>
      <vt:lpstr>微软雅黑</vt:lpstr>
      <vt:lpstr>汉仪旗黑KW 55S</vt:lpstr>
      <vt:lpstr>Arial</vt:lpstr>
      <vt:lpstr>汉仪书宋二KW</vt:lpstr>
      <vt:lpstr>Kingsoft Confetti</vt:lpstr>
      <vt:lpstr>Noto Emoji</vt:lpstr>
      <vt:lpstr>MS PGothic</vt:lpstr>
      <vt:lpstr>Noto Sans Mono CJK JP</vt:lpstr>
      <vt:lpstr>微软雅黑</vt:lpstr>
      <vt:lpstr>微软雅黑</vt:lpstr>
      <vt:lpstr>HarmonyOS Sans SC Medium</vt:lpstr>
      <vt:lpstr>等线</vt:lpstr>
      <vt:lpstr>MiSans Medium</vt:lpstr>
      <vt:lpstr>汉仪中等线KW</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JessieQ</cp:lastModifiedBy>
  <dcterms:created xsi:type="dcterms:W3CDTF">2026-10-10T08:25:54Z</dcterms:created>
  <dcterms:modified xsi:type="dcterms:W3CDTF">2026-10-10T08:25:54Z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2052-12.9.0.29121</vt:lpwstr>
  </property>
  <property fmtid="{D5CDD505-2E9C-101B-9397-08002B2CF9AE}" pid="3" name="ICV">
    <vt:lpwstr>AAC4EC86188349EBB3D1A2BB832EE2C2_13</vt:lpwstr>
  </property>
</Properties>
</file>